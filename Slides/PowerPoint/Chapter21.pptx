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91" r:id="rId4"/>
    <p:sldId id="257" r:id="rId5"/>
    <p:sldId id="288" r:id="rId6"/>
    <p:sldId id="289" r:id="rId7"/>
    <p:sldId id="290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21:</a:t>
            </a:r>
            <a:br>
              <a:rPr lang="en-US" dirty="0"/>
            </a:br>
            <a:r>
              <a:rPr lang="en-US" dirty="0"/>
              <a:t>Operations, Maintenance, and Evolution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Operations, Maintenance and Evolution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Chapter 21</a:t>
            </a:r>
          </a:p>
          <a:p>
            <a:r>
              <a:rPr lang="en-GB" b="1" dirty="0"/>
              <a:t>Focus</a:t>
            </a:r>
            <a:r>
              <a:rPr lang="en-GB" dirty="0"/>
              <a:t>: from Dev to Ops, the Maintenance act,</a:t>
            </a:r>
          </a:p>
          <a:p>
            <a:pPr marL="0" indent="0">
              <a:buNone/>
            </a:pPr>
            <a:r>
              <a:rPr lang="en-GB" dirty="0"/>
              <a:t>Evolving software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1898-0299-8F69-C94A-AE87E9FE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03749-4841-86EE-3719-6943AF720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Understand what operations mean and what activities it comprises</a:t>
            </a:r>
          </a:p>
          <a:p>
            <a:r>
              <a:rPr lang="en-GB" dirty="0"/>
              <a:t>U</a:t>
            </a:r>
            <a:r>
              <a:rPr lang="en-IT" dirty="0"/>
              <a:t>nderstanding different types of maintenance as well as how it leads to evolution</a:t>
            </a:r>
          </a:p>
          <a:p>
            <a:r>
              <a:rPr lang="en-GB" dirty="0"/>
              <a:t>U</a:t>
            </a:r>
            <a:r>
              <a:rPr lang="en-IT" dirty="0"/>
              <a:t>nderstanding and figuring out how evolution of software systems works and what theories and support exist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218A9-0A82-2EBA-2C41-AC54C43FD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DBE69-4363-AB75-6BCF-A1BAE0FF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7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Instrumenting software operations means automating deployment and runtime areas of software in their live environments;</a:t>
            </a:r>
          </a:p>
          <a:p>
            <a:endParaRPr lang="en-US" dirty="0"/>
          </a:p>
          <a:p>
            <a:r>
              <a:rPr lang="en-US" dirty="0"/>
              <a:t>Proper operations reflect:</a:t>
            </a:r>
          </a:p>
          <a:p>
            <a:pPr lvl="1"/>
            <a:r>
              <a:rPr lang="en-US" dirty="0"/>
              <a:t>Deployment automation and connection to CI/CD;</a:t>
            </a:r>
          </a:p>
          <a:p>
            <a:pPr lvl="1"/>
            <a:r>
              <a:rPr lang="en-US" dirty="0"/>
              <a:t>Safe deployment strategies for server environments; </a:t>
            </a:r>
          </a:p>
          <a:p>
            <a:pPr lvl="1"/>
            <a:r>
              <a:rPr lang="en-US" dirty="0"/>
              <a:t>Quality Assurance and Monitoring in Production (e.g., via observability tactics);</a:t>
            </a:r>
          </a:p>
          <a:p>
            <a:pPr lvl="1"/>
            <a:r>
              <a:rPr lang="en-US" dirty="0"/>
              <a:t>Infrastructure Management;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B501C-8019-8FE3-4A06-DC841380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703D-2F25-8402-D53F-7A03DF23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021BF-B6FA-9D35-D6D1-55E30A5B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types of activities aimed at improving the software </a:t>
            </a:r>
            <a:r>
              <a:rPr lang="en-US" i="1" dirty="0"/>
              <a:t>status quo </a:t>
            </a:r>
            <a:r>
              <a:rPr lang="en-US" dirty="0"/>
              <a:t>(e.g., increasing understandability, </a:t>
            </a:r>
            <a:r>
              <a:rPr lang="en-US" dirty="0" err="1"/>
              <a:t>modifyability</a:t>
            </a:r>
            <a:r>
              <a:rPr lang="en-US" dirty="0"/>
              <a:t>, etc.);</a:t>
            </a:r>
          </a:p>
          <a:p>
            <a:pPr lvl="1"/>
            <a:r>
              <a:rPr lang="en-US" i="1" dirty="0"/>
              <a:t>Corrective, preventive, adaptive, etc. </a:t>
            </a:r>
            <a:r>
              <a:rPr lang="en-US" i="1" dirty="0">
                <a:sym typeface="Wingdings" pitchFamily="2" charset="2"/>
              </a:rPr>
              <a:t> </a:t>
            </a:r>
            <a:r>
              <a:rPr lang="en-US" dirty="0">
                <a:sym typeface="Wingdings" pitchFamily="2" charset="2"/>
              </a:rPr>
              <a:t>all  aimed at improving different aspects;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Technical debt is a metaphor to reflect the need for maintenance and the planning of evolution;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47ADE-5711-3F85-4427-C882488A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E0FE9-0B9E-E8CB-E9C8-0F51D9EBD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9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583E6-A9B8-0068-7EF7-05EE2667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ABFE-E9E1-002C-3A60-4E7D6552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88DD9-89C6-137F-87E0-86C27AF3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 pitchFamily="2" charset="2"/>
              </a:rPr>
              <a:t>Follow the spectrum of evolutionary change only for software!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r>
              <a:rPr lang="en-GB" dirty="0"/>
              <a:t>Key Challenges in Software Evolution: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Understanding the existing system; 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Managing technical debt;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Change impact analysis;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Tools exist to improve/automate most of the above;</a:t>
            </a:r>
          </a:p>
          <a:p>
            <a:pPr lvl="1"/>
            <a:endParaRPr lang="en-GB" dirty="0"/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13C1D-9226-F565-1652-07925FAC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4ED5F-97A2-ACFE-401F-2A2F9F76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11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864E-C74B-6507-8B29-3A9F8941C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Evolution: Lehman’s laws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5D388-FBD4-1A1B-14E4-0DD21EE7F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4EC8F-32F2-D027-19D7-FB6F0A1A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17F7B-46BE-8E29-C3E4-A1C6D2A2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  <p:pic>
        <p:nvPicPr>
          <p:cNvPr id="5122" name="Picture 2" descr="Ancient lore: Lehman's laws of software evolution">
            <a:extLst>
              <a:ext uri="{FF2B5EF4-FFF2-40B4-BE49-F238E27FC236}">
                <a16:creationId xmlns:a16="http://schemas.microsoft.com/office/drawing/2014/main" id="{F926D138-9F82-B86C-AC5D-6482813E80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6"/>
          <a:stretch>
            <a:fillRect/>
          </a:stretch>
        </p:blipFill>
        <p:spPr bwMode="auto">
          <a:xfrm>
            <a:off x="1328518" y="1418491"/>
            <a:ext cx="8495452" cy="493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70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EC6-0C40-0354-F9E8-6879A8FC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11C-1D4C-BD13-BCBB-41A01B7A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3D28F1-6F72-DE01-DBA8-BE484553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Operations </a:t>
            </a:r>
            <a:r>
              <a:rPr lang="en-US" dirty="0">
                <a:sym typeface="Wingdings" pitchFamily="2" charset="2"/>
              </a:rPr>
              <a:t> software operations, the set of practices that put software “in motion”;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Maintenance and evolution reflect technical debt, and its management across all artefacts and phases of software inception and operation;</a:t>
            </a:r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685FD-40EB-1C8B-0BAB-C3D01A1D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/>
          <a:lstStyle/>
          <a:p>
            <a:r>
              <a:rPr lang="it-IT"/>
              <a:t>Chapter 21 -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B82C-5867-96A9-5D54-326A9A4B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/>
          <a:lstStyle/>
          <a:p>
            <a:fld id="{D204BADD-F420-F54C-BEF5-604E8EEED02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646</Words>
  <Application>Microsoft Macintosh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Chapter 21: Operations, Maintenance, and Evolution</vt:lpstr>
      <vt:lpstr>Operations, Maintenance and Evolution</vt:lpstr>
      <vt:lpstr>Learning Objectives</vt:lpstr>
      <vt:lpstr>Operations</vt:lpstr>
      <vt:lpstr>Maintenance</vt:lpstr>
      <vt:lpstr>Evolution</vt:lpstr>
      <vt:lpstr>Evolution: Lehman’s laws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Damian Andrew Tamburri</cp:lastModifiedBy>
  <cp:revision>167</cp:revision>
  <dcterms:created xsi:type="dcterms:W3CDTF">2025-05-15T11:20:47Z</dcterms:created>
  <dcterms:modified xsi:type="dcterms:W3CDTF">2026-01-27T13:17:51Z</dcterms:modified>
</cp:coreProperties>
</file>