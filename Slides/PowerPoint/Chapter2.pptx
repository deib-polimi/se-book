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14"/>
  </p:normalViewPr>
  <p:slideViewPr>
    <p:cSldViewPr snapToGrid="0">
      <p:cViewPr varScale="1">
        <p:scale>
          <a:sx n="102" d="100"/>
          <a:sy n="102" d="100"/>
        </p:scale>
        <p:origin x="216" y="2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Chapter 2: </a:t>
            </a:r>
            <a:br>
              <a:rPr lang="en-GB" dirty="0"/>
            </a:br>
            <a:r>
              <a:rPr lang="en-GB" dirty="0"/>
              <a:t>The Software </a:t>
            </a:r>
            <a:br>
              <a:rPr lang="en-GB" dirty="0"/>
            </a:br>
            <a:r>
              <a:rPr lang="en-GB" dirty="0"/>
              <a:t>Development Process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Software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development involves multiple coordinated activities</a:t>
            </a:r>
          </a:p>
          <a:p>
            <a:r>
              <a:rPr lang="en-US" dirty="0"/>
              <a:t>Activities span the entire life of a software product</a:t>
            </a:r>
          </a:p>
          <a:p>
            <a:r>
              <a:rPr lang="en-US" dirty="0"/>
              <a:t>Their organization defines the software life cycle</a:t>
            </a:r>
          </a:p>
          <a:p>
            <a:endParaRPr lang="en-US" dirty="0"/>
          </a:p>
          <a:p>
            <a:r>
              <a:rPr lang="en-US" dirty="0"/>
              <a:t>Key Questions:</a:t>
            </a:r>
          </a:p>
          <a:p>
            <a:pPr lvl="1"/>
            <a:r>
              <a:rPr lang="en-US" dirty="0"/>
              <a:t>What is a software life cycle?</a:t>
            </a:r>
          </a:p>
          <a:p>
            <a:pPr lvl="1"/>
            <a:r>
              <a:rPr lang="en-US" dirty="0"/>
              <a:t>Which activities does it include?</a:t>
            </a:r>
          </a:p>
          <a:p>
            <a:pPr lvl="1"/>
            <a:r>
              <a:rPr lang="en-US" dirty="0"/>
              <a:t>How do we choose the right 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BFEA-B520-852D-51D8-B6128AF5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3C1-075C-EB3B-8D27-D5A1980E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Notion of Software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D1A85-5789-8477-C695-2FF49D8C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software life cycle defines:</a:t>
            </a:r>
          </a:p>
          <a:p>
            <a:pPr lvl="1"/>
            <a:r>
              <a:rPr lang="en-US" dirty="0"/>
              <a:t>the activities to be performed</a:t>
            </a:r>
          </a:p>
          <a:p>
            <a:pPr lvl="1"/>
            <a:r>
              <a:rPr lang="en-US" dirty="0"/>
              <a:t>their order and interactions</a:t>
            </a:r>
          </a:p>
          <a:p>
            <a:endParaRPr lang="en-US" dirty="0"/>
          </a:p>
          <a:p>
            <a:r>
              <a:rPr lang="en-US" dirty="0"/>
              <a:t>It represents both:</a:t>
            </a:r>
          </a:p>
          <a:p>
            <a:pPr lvl="1"/>
            <a:r>
              <a:rPr lang="en-US" dirty="0"/>
              <a:t>a technical organization of work</a:t>
            </a:r>
          </a:p>
          <a:p>
            <a:pPr lvl="1"/>
            <a:r>
              <a:rPr lang="en-US" dirty="0"/>
              <a:t>a development philosophy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A969E-C27D-D403-A4C7-D9E91EF5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68EFB-36A6-F8C6-3FDD-AF66D547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7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6D03-5C6D-0608-F05F-011C3F7B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7A6E-53D6-A551-2466-DFFD496C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Foundational Life Cycle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8FB9-4414-FC26-0E68-B55830285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foundational models:</a:t>
            </a:r>
          </a:p>
          <a:p>
            <a:pPr lvl="1"/>
            <a:r>
              <a:rPr lang="en-US" dirty="0"/>
              <a:t>Waterfall</a:t>
            </a:r>
          </a:p>
          <a:p>
            <a:pPr lvl="1"/>
            <a:r>
              <a:rPr lang="en-US" dirty="0"/>
              <a:t>Spiral</a:t>
            </a:r>
          </a:p>
          <a:p>
            <a:endParaRPr lang="en-US" dirty="0"/>
          </a:p>
          <a:p>
            <a:r>
              <a:rPr lang="en-US" dirty="0"/>
              <a:t>They shaped most modern software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F340-D31E-A5BE-028A-746D05AD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C0473-1943-6301-9006-91430627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8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F4D7-C54E-599F-DBBA-F37AC987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790F-6AA8-F0D8-5594-2765587C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5086-A507-22F8-8A1C-BCF0971478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Introduced around 1970 (Royce)</a:t>
            </a:r>
          </a:p>
          <a:p>
            <a:r>
              <a:rPr lang="en-US" dirty="0"/>
              <a:t>Development as a linear sequence of activities</a:t>
            </a:r>
          </a:p>
          <a:p>
            <a:r>
              <a:rPr lang="en-US" dirty="0"/>
              <a:t>Each phase produces input for the next 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contribution:</a:t>
            </a:r>
          </a:p>
          <a:p>
            <a:r>
              <a:rPr lang="en-US" dirty="0"/>
              <a:t>Explicit identification of core development activities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1EDE84-8C66-6F1E-E4C2-9B483ECFD7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797035"/>
            <a:ext cx="5181600" cy="240851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BECB7-A2C8-E99F-A908-EE8DBF91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1BFF-98FB-7E90-5927-6B7EB600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4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92B0-307A-265C-E42C-45D2118D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B9F3-7799-F0CF-F6F7-659A903B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a Purely Linear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E092-02C0-B0F2-0D3D-F179F7F2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Requirements cannot be fully known upfront</a:t>
            </a:r>
          </a:p>
          <a:p>
            <a:r>
              <a:rPr lang="en-US" dirty="0"/>
              <a:t>Late user involvement is ineffective</a:t>
            </a:r>
          </a:p>
          <a:p>
            <a:r>
              <a:rPr lang="en-US" dirty="0"/>
              <a:t>Change is unavoidable in real projects</a:t>
            </a:r>
          </a:p>
          <a:p>
            <a:r>
              <a:rPr lang="en-US" dirty="0"/>
              <a:t>Strict linearity is unrealistic for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34E6D-1F17-A99F-1804-870BADB8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D474-1737-0F5B-D9FD-8615F33C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1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126C-77DA-8A8F-F638-A388509D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CA96-9948-5D20-12DC-5CECF826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Life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2043-2280-3D6C-6AF0-B2C997DBE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Activities are revisited multiple times</a:t>
            </a:r>
          </a:p>
          <a:p>
            <a:r>
              <a:rPr lang="en-US" dirty="0"/>
              <a:t>Continuous feedback and refinement</a:t>
            </a:r>
          </a:p>
          <a:p>
            <a:r>
              <a:rPr lang="en-US" dirty="0"/>
              <a:t>Users are involved throughout development</a:t>
            </a:r>
          </a:p>
          <a:p>
            <a:r>
              <a:rPr lang="en-US" dirty="0"/>
              <a:t>Iteration improves alignment with expectations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759C4-754B-5366-217C-E4A31BE2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B92C1-8C27-3C73-E8C3-1A445759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5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A00F-39AB-8E44-2EEC-0C59C6E3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0B2D-A836-BA55-C854-CC1AFCE7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Spiral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5D79-1515-7A37-2F06-979A942256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Introduced by Barry Boehm (1986)</a:t>
            </a:r>
          </a:p>
          <a:p>
            <a:r>
              <a:rPr lang="en-US" dirty="0"/>
              <a:t>Development as repeated cycles of activities</a:t>
            </a:r>
          </a:p>
          <a:p>
            <a:endParaRPr lang="en-US" dirty="0"/>
          </a:p>
          <a:p>
            <a:r>
              <a:rPr lang="en-US" dirty="0"/>
              <a:t>Each iteration:</a:t>
            </a:r>
          </a:p>
          <a:p>
            <a:pPr lvl="1"/>
            <a:r>
              <a:rPr lang="en-US" dirty="0"/>
              <a:t>delivers usable results</a:t>
            </a:r>
          </a:p>
          <a:p>
            <a:pPr lvl="1"/>
            <a:r>
              <a:rPr lang="en-US" dirty="0"/>
              <a:t>assesses risks</a:t>
            </a:r>
          </a:p>
          <a:p>
            <a:pPr lvl="1"/>
            <a:r>
              <a:rPr lang="en-US" dirty="0"/>
              <a:t>expands system scope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04AA8A-7A4E-3FFE-2822-9D87ADF79D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172200" y="1690688"/>
            <a:ext cx="5181600" cy="408381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5F5F7-7ADF-9F8B-FA8E-C3F72A56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FDF2D-2420-AA81-B5E9-7E71B31D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0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1C8E-B1F9-6092-B98F-C7167935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11A3-F00E-AEF6-5F48-7110D0C0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Spiral to Modern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4D7B-AA35-35B2-711B-12801E787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Waterfall = spiral with a single iteration</a:t>
            </a:r>
          </a:p>
          <a:p>
            <a:endParaRPr lang="en-US" dirty="0"/>
          </a:p>
          <a:p>
            <a:r>
              <a:rPr lang="en-US" dirty="0"/>
              <a:t>Spiral model inspired:</a:t>
            </a:r>
          </a:p>
          <a:p>
            <a:pPr lvl="1"/>
            <a:r>
              <a:rPr lang="en-US" dirty="0"/>
              <a:t>iterative</a:t>
            </a:r>
          </a:p>
          <a:p>
            <a:pPr lvl="1"/>
            <a:r>
              <a:rPr lang="en-US" dirty="0"/>
              <a:t>incremental</a:t>
            </a:r>
          </a:p>
          <a:p>
            <a:pPr lvl="1"/>
            <a:r>
              <a:rPr lang="en-US" dirty="0"/>
              <a:t>agile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BF0D-9D2C-F9EE-716D-A36164BA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58BAF-4C7C-3DD7-011A-3B10D00E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4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F5FC-4204-599A-6B3C-99B1FE902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42ED-12B1-7196-FCD0-92B28B76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Life Cycle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AFD9F-FD49-5217-FBF5-86E4B64C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Feasibility Study</a:t>
            </a:r>
          </a:p>
          <a:p>
            <a:r>
              <a:rPr lang="en-US" dirty="0"/>
              <a:t>Requirements Analysis and Specification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Coding and Unit-Level Quality Assurance</a:t>
            </a:r>
          </a:p>
          <a:p>
            <a:r>
              <a:rPr lang="en-US" dirty="0"/>
              <a:t>Integration and System Testing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Maintenance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85732-7D86-C93D-D976-101AF71E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8023E-9CFE-4B5D-83C0-7FA7299A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31B8-41EF-E85E-27FB-0A49E6FF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B890-B6EC-85F5-1AA0-712C3AEB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3D28-5AE2-F30A-FE4B-1D1A7282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Assesses whether the project should proceed</a:t>
            </a:r>
          </a:p>
          <a:p>
            <a:r>
              <a:rPr lang="en-US" dirty="0"/>
              <a:t>Evaluates:</a:t>
            </a:r>
          </a:p>
          <a:p>
            <a:pPr lvl="1"/>
            <a:r>
              <a:rPr lang="en-US" dirty="0"/>
              <a:t>technical feasibility</a:t>
            </a:r>
          </a:p>
          <a:p>
            <a:pPr lvl="1"/>
            <a:r>
              <a:rPr lang="en-US" dirty="0"/>
              <a:t>organizational and economic aspects</a:t>
            </a:r>
          </a:p>
          <a:p>
            <a:r>
              <a:rPr lang="en-US" dirty="0"/>
              <a:t>Includes make-or-buy decisions</a:t>
            </a:r>
          </a:p>
          <a:p>
            <a:endParaRPr lang="en-US" dirty="0"/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Feasibility Study Document</a:t>
            </a:r>
          </a:p>
          <a:p>
            <a:pPr lvl="1"/>
            <a:r>
              <a:rPr lang="en-US" dirty="0"/>
              <a:t>Go / No-go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B97F4-5C80-9455-E2F2-05E07F84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115DD-F2F3-04F4-57AB-BD200E0A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2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2D4F-C589-014D-F582-01C0B821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B65D-1FF3-F9E0-958D-059B392A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Analysis and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7471-5D53-8178-973B-0C2D3D1A4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the problem space</a:t>
            </a:r>
          </a:p>
          <a:p>
            <a:r>
              <a:rPr lang="en-US" dirty="0"/>
              <a:t>Defines what the software must do</a:t>
            </a:r>
          </a:p>
          <a:p>
            <a:r>
              <a:rPr lang="en-US" dirty="0"/>
              <a:t>Intensive interaction with:</a:t>
            </a:r>
          </a:p>
          <a:p>
            <a:pPr lvl="1"/>
            <a:r>
              <a:rPr lang="en-US" dirty="0"/>
              <a:t>customers</a:t>
            </a:r>
          </a:p>
          <a:p>
            <a:pPr lvl="1"/>
            <a:r>
              <a:rPr lang="en-US" dirty="0"/>
              <a:t>end users</a:t>
            </a:r>
          </a:p>
          <a:p>
            <a:pPr lvl="1"/>
            <a:r>
              <a:rPr lang="en-US" dirty="0"/>
              <a:t>domain sources</a:t>
            </a:r>
          </a:p>
          <a:p>
            <a:endParaRPr lang="en-US" dirty="0"/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Requirements Analysis and Specification Document (RASD)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2D511-AAB5-4372-4C9A-55653828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A55A0-5B84-EA74-C1D5-A912EFC1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94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E23E-4BA1-8614-B895-9E5D2A2A2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EE23-A2B3-3598-D7D2-4AC626F5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48274-008E-FB85-A927-6FF3A958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the solution space</a:t>
            </a:r>
          </a:p>
          <a:p>
            <a:r>
              <a:rPr lang="en-US" dirty="0"/>
              <a:t>Defines the software architecture</a:t>
            </a:r>
          </a:p>
          <a:p>
            <a:r>
              <a:rPr lang="en-US" dirty="0"/>
              <a:t>Maps requirements to architectural components</a:t>
            </a:r>
          </a:p>
          <a:p>
            <a:r>
              <a:rPr lang="en-US" dirty="0"/>
              <a:t>Guides development and integration</a:t>
            </a:r>
          </a:p>
          <a:p>
            <a:endParaRPr lang="en-US" dirty="0"/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Design Document (DD)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3D3DB-4D91-0F3E-BA39-04E6FF3F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479D2-EF46-8B54-6E20-3DEEBFF4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05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C570-8E63-F1E7-4C70-51775117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9AE0-9865-60DC-2B73-BE0C94E3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and Unit-Level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D9A6-7491-190F-43A8-4F5419C0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of individual modules</a:t>
            </a:r>
          </a:p>
          <a:p>
            <a:r>
              <a:rPr lang="en-US" dirty="0"/>
              <a:t>Developers ensure:</a:t>
            </a:r>
          </a:p>
          <a:p>
            <a:pPr lvl="1"/>
            <a:r>
              <a:rPr lang="en-US" dirty="0"/>
              <a:t>architectural compliance</a:t>
            </a:r>
          </a:p>
          <a:p>
            <a:pPr lvl="1"/>
            <a:r>
              <a:rPr lang="en-US" dirty="0"/>
              <a:t>requirement fulfillment</a:t>
            </a:r>
          </a:p>
          <a:p>
            <a:r>
              <a:rPr lang="en-US" dirty="0"/>
              <a:t>Quality gates at unit level are mandatory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6A3F5-38E3-6082-7CF4-91774E0A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A6FDD-9EC9-8FE8-752F-5D6C4465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0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CECC-8D92-6C2C-D028-C9E46A6D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F8E8-B39C-3978-F29B-C16AB8F6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and 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1835-937F-A638-46A7-9AACA9F80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Incremental integration of modules</a:t>
            </a:r>
          </a:p>
          <a:p>
            <a:r>
              <a:rPr lang="en-US" dirty="0"/>
              <a:t>Verification of component interactions</a:t>
            </a:r>
          </a:p>
          <a:p>
            <a:r>
              <a:rPr lang="en-US" dirty="0"/>
              <a:t>System-level validation:</a:t>
            </a:r>
          </a:p>
          <a:p>
            <a:pPr lvl="1"/>
            <a:r>
              <a:rPr lang="en-US" dirty="0"/>
              <a:t>functional requirements</a:t>
            </a:r>
          </a:p>
          <a:p>
            <a:pPr lvl="1"/>
            <a:r>
              <a:rPr lang="en-US" dirty="0"/>
              <a:t>non-functional qualities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A8F8A-C74D-D2F3-BBF7-AE85ED59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B6C13-7EC3-779F-75EE-814FF9BA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66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6D62-5E53-3AFE-961C-4C2E9AEC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0BE4-F706-217E-B11C-394A53F0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13C87-BCEC-CB8E-39FE-FEEDE4C28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of software artifacts on target environments</a:t>
            </a:r>
          </a:p>
          <a:p>
            <a:r>
              <a:rPr lang="en-US" dirty="0"/>
              <a:t>Increasing complexity due to:</a:t>
            </a:r>
          </a:p>
          <a:p>
            <a:pPr lvl="1"/>
            <a:r>
              <a:rPr lang="en-US" dirty="0"/>
              <a:t>external services</a:t>
            </a:r>
          </a:p>
          <a:p>
            <a:pPr lvl="1"/>
            <a:r>
              <a:rPr lang="en-US" dirty="0"/>
              <a:t>multiple dependencies</a:t>
            </a:r>
          </a:p>
          <a:p>
            <a:r>
              <a:rPr lang="en-US" dirty="0"/>
              <a:t>Automation is crucial</a:t>
            </a:r>
          </a:p>
          <a:p>
            <a:pPr lvl="1"/>
            <a:r>
              <a:rPr lang="en-US" dirty="0"/>
              <a:t>Infrastructure as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96807-5ECC-2971-145F-BA3B3B4C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6A3F6-AA82-BF1A-4317-18EFA141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54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9867-BA2B-D41C-7127-9008CDA7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EE78-2C7F-54B2-7CD8-B0E77473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63377-3878-C9CF-A92F-B70DF400F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Activities after software release</a:t>
            </a:r>
          </a:p>
          <a:p>
            <a:r>
              <a:rPr lang="en-US" dirty="0"/>
              <a:t>Includes software evolution over time</a:t>
            </a:r>
          </a:p>
          <a:p>
            <a:r>
              <a:rPr lang="en-US" dirty="0"/>
              <a:t>Two main categories:</a:t>
            </a:r>
          </a:p>
          <a:p>
            <a:pPr lvl="1"/>
            <a:r>
              <a:rPr lang="en-US" dirty="0"/>
              <a:t>corrective</a:t>
            </a:r>
          </a:p>
          <a:p>
            <a:pPr lvl="1"/>
            <a:r>
              <a:rPr lang="en-US" dirty="0"/>
              <a:t>evolutionary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8FC7-33FD-4203-536C-315B7193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6F1C1-D6DC-B75C-D1C8-CC72AE1D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41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530B-05F2-FC50-6849-8BEAD3CC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A670-41DC-A377-7256-57D10660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A6145-3CAB-8E70-C8D5-B8A93494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Corrective: fixing defects</a:t>
            </a:r>
          </a:p>
          <a:p>
            <a:r>
              <a:rPr lang="en-US" dirty="0"/>
              <a:t>Evolutionary:</a:t>
            </a:r>
          </a:p>
          <a:p>
            <a:pPr lvl="1"/>
            <a:r>
              <a:rPr lang="en-US" dirty="0"/>
              <a:t>Adaptive (environment changes)</a:t>
            </a:r>
          </a:p>
          <a:p>
            <a:pPr lvl="1"/>
            <a:r>
              <a:rPr lang="en-US" dirty="0"/>
              <a:t>Perfective (new requirements)</a:t>
            </a:r>
          </a:p>
          <a:p>
            <a:pPr lvl="1"/>
            <a:r>
              <a:rPr lang="en-US" dirty="0"/>
              <a:t>Preventive (improving maintainability)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567D-0666-263A-2113-4FF5DE9F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AA3FF-564E-41EF-A8A7-C492CF6A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24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87-B0EE-6AEF-9D13-5681E8BE3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28A5-2786-94CF-6856-09B59CC68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One-Size-Fits-All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FABD-6D3B-E565-9274-BECA2286C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right life cycle depends on:</a:t>
            </a:r>
          </a:p>
          <a:p>
            <a:pPr lvl="1"/>
            <a:r>
              <a:rPr lang="en-US" dirty="0"/>
              <a:t>product type</a:t>
            </a:r>
          </a:p>
          <a:p>
            <a:pPr lvl="1"/>
            <a:r>
              <a:rPr lang="en-US" dirty="0"/>
              <a:t>domain constraints</a:t>
            </a:r>
          </a:p>
          <a:p>
            <a:pPr lvl="1"/>
            <a:r>
              <a:rPr lang="en-US" dirty="0"/>
              <a:t>team organization</a:t>
            </a:r>
          </a:p>
          <a:p>
            <a:pPr lvl="1"/>
            <a:r>
              <a:rPr lang="en-US" dirty="0"/>
              <a:t>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2546A-4E76-3B4B-C077-43E9DF77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D5944-A83E-EFFB-A230-73CC240A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94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DFC9-BFFA-66B8-570A-D660647D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823A-D1C2-2807-95C6-641BD623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Highly Critical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1789A-C89D-EDB1-F9AE-BF77F629A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aerospace</a:t>
            </a:r>
          </a:p>
          <a:p>
            <a:pPr lvl="1"/>
            <a:r>
              <a:rPr lang="en-US" dirty="0"/>
              <a:t>medical devices</a:t>
            </a:r>
          </a:p>
          <a:p>
            <a:pPr lvl="1"/>
            <a:r>
              <a:rPr lang="en-US" dirty="0"/>
              <a:t>industrial control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stable requirements</a:t>
            </a:r>
          </a:p>
          <a:p>
            <a:pPr lvl="1"/>
            <a:r>
              <a:rPr lang="en-US" dirty="0"/>
              <a:t>high reliability needs</a:t>
            </a:r>
          </a:p>
          <a:p>
            <a:r>
              <a:rPr lang="en-US" dirty="0"/>
              <a:t>Favor:</a:t>
            </a:r>
          </a:p>
          <a:p>
            <a:pPr lvl="1"/>
            <a:r>
              <a:rPr lang="en-US" dirty="0"/>
              <a:t>structured</a:t>
            </a:r>
          </a:p>
          <a:p>
            <a:pPr lvl="1"/>
            <a:r>
              <a:rPr lang="en-US" dirty="0"/>
              <a:t>near-linear processes</a:t>
            </a:r>
          </a:p>
          <a:p>
            <a:pPr lvl="1"/>
            <a:r>
              <a:rPr lang="en-US" dirty="0"/>
              <a:t>rigorous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17387-DF70-1837-5FAB-833C713D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809B0-53D9-5A93-0E73-69C88AC4A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612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4BA2-A64A-FAD0-E3B4-9D1A22CE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6498-313F-3725-58E9-A885EF2E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Rapidly Evolving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D821-D0BB-53E9-9EEE-E55BD181B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web-based platforms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changing requirements</a:t>
            </a:r>
          </a:p>
          <a:p>
            <a:pPr lvl="1"/>
            <a:r>
              <a:rPr lang="en-US" dirty="0"/>
              <a:t>fast innovation cycles</a:t>
            </a:r>
          </a:p>
          <a:p>
            <a:r>
              <a:rPr lang="en-US" dirty="0"/>
              <a:t>Favor:</a:t>
            </a:r>
          </a:p>
          <a:p>
            <a:pPr lvl="1"/>
            <a:r>
              <a:rPr lang="en-US" dirty="0"/>
              <a:t>iterative life cycles</a:t>
            </a:r>
          </a:p>
          <a:p>
            <a:pPr lvl="1"/>
            <a:r>
              <a:rPr lang="en-US" dirty="0"/>
              <a:t>frequent releases</a:t>
            </a:r>
          </a:p>
          <a:p>
            <a:pPr lvl="1"/>
            <a:r>
              <a:rPr lang="en-US" dirty="0"/>
              <a:t>continuous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372FF-0DC5-9C9C-CEDC-5BF334D3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8B473-4D9A-5656-8524-DDF318C2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96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3E81-FBF9-3E50-5ECE-62990D5F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6453-C0D1-B371-9021-FF7B09EA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Cycles, Tools, and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C437-87FA-FE98-15B0-56B10414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life cycles require:</a:t>
            </a:r>
          </a:p>
          <a:p>
            <a:pPr lvl="1"/>
            <a:r>
              <a:rPr lang="en-US" dirty="0"/>
              <a:t>traceability tools</a:t>
            </a:r>
          </a:p>
          <a:p>
            <a:pPr lvl="1"/>
            <a:r>
              <a:rPr lang="en-US" dirty="0"/>
              <a:t>formal verification</a:t>
            </a:r>
          </a:p>
          <a:p>
            <a:r>
              <a:rPr lang="en-US" dirty="0"/>
              <a:t>Iterative life cycles require: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CI/CD</a:t>
            </a:r>
          </a:p>
          <a:p>
            <a:pPr lvl="1"/>
            <a:r>
              <a:rPr lang="en-US" dirty="0"/>
              <a:t>deployment orchestration</a:t>
            </a:r>
          </a:p>
          <a:p>
            <a:r>
              <a:rPr lang="en-US" dirty="0"/>
              <a:t>Team structure adapts to the chosen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C6FDC-514B-B1EF-BCF0-677B9E2A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9423C-7B1C-6D20-C00E-C2106BE7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7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8C29-929E-302D-26C4-6ED15E69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4E99-1B0C-8BE9-4B2B-9E98BC57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C0EB9-3124-FAE0-8584-1A91C3E6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software life cycle structures development activities</a:t>
            </a:r>
          </a:p>
          <a:p>
            <a:r>
              <a:rPr lang="en-US" dirty="0"/>
              <a:t>Different products require different processes</a:t>
            </a:r>
          </a:p>
          <a:p>
            <a:r>
              <a:rPr lang="en-US" dirty="0"/>
              <a:t>No fixed ordering of activities is assumed</a:t>
            </a:r>
          </a:p>
          <a:p>
            <a:r>
              <a:rPr lang="en-US"/>
              <a:t>Modern approaches emphasize adaptability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759A-7667-7311-B4BB-FB78D08F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E1D48-B08C-47CF-B684-CDC38792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2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1662</Words>
  <Application>Microsoft Macintosh PowerPoint</Application>
  <PresentationFormat>Widescreen</PresentationFormat>
  <Paragraphs>210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Chapter 2:  The Software  Development Process</vt:lpstr>
      <vt:lpstr>Introduction to the Software Development Process</vt:lpstr>
      <vt:lpstr>The Notion of Software Life Cycle</vt:lpstr>
      <vt:lpstr>Foundational Life Cycle Models</vt:lpstr>
      <vt:lpstr>The Waterfall Model</vt:lpstr>
      <vt:lpstr>Limits of a Purely Linear Process</vt:lpstr>
      <vt:lpstr>Iterative Life Cycles</vt:lpstr>
      <vt:lpstr>The Spiral Model</vt:lpstr>
      <vt:lpstr>From Spiral to Modern Processes</vt:lpstr>
      <vt:lpstr>Software Life Cycle Activities</vt:lpstr>
      <vt:lpstr>Feasibility Study</vt:lpstr>
      <vt:lpstr>Requirements Analysis and Specification</vt:lpstr>
      <vt:lpstr>Design</vt:lpstr>
      <vt:lpstr>Coding and Unit-Level Quality Assurance</vt:lpstr>
      <vt:lpstr>Integration and System Testing</vt:lpstr>
      <vt:lpstr>Deployment</vt:lpstr>
      <vt:lpstr>Maintenance</vt:lpstr>
      <vt:lpstr>Types of Maintenance</vt:lpstr>
      <vt:lpstr>No One-Size-Fits-All Life Cycle</vt:lpstr>
      <vt:lpstr>Highly Critical Systems</vt:lpstr>
      <vt:lpstr>Rapidly Evolving Systems</vt:lpstr>
      <vt:lpstr>Life Cycles, Tools, and Teams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Alessandro Margara</cp:lastModifiedBy>
  <cp:revision>23</cp:revision>
  <dcterms:created xsi:type="dcterms:W3CDTF">2025-05-15T11:20:47Z</dcterms:created>
  <dcterms:modified xsi:type="dcterms:W3CDTF">2025-12-17T10:10:05Z</dcterms:modified>
</cp:coreProperties>
</file>