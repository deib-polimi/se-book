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1CC26-0DDC-F74C-9610-A5AFC3939A25}" v="107" dt="2025-10-14T21:31:43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0"/>
    <p:restoredTop sz="94626"/>
  </p:normalViewPr>
  <p:slideViewPr>
    <p:cSldViewPr snapToGrid="0">
      <p:cViewPr varScale="1">
        <p:scale>
          <a:sx n="104" d="100"/>
          <a:sy n="104" d="100"/>
        </p:scale>
        <p:origin x="21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5E4A305-5980-51C4-00CE-A1E53A478C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708C23-44BA-83EE-805A-FA7D5AC43C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74D2014-878F-FF20-787E-1D8B6C11D5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2EB2575-90E9-434C-12F2-9D91826682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5503364-8263-0069-3E15-E53AA0FF60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E864F53-95E2-27F6-7EA4-B017856047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8B43AA4-1E44-6DFE-BF73-0153DA219E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46854FA-170D-685D-1287-0C3212C8DC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E73371F-ED2D-3D2D-E868-196FF8A3C5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88B0B06-D280-3222-7446-AB54F002D4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207AFF0-B925-74CB-DFC0-13BDE847C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Chapter 15: </a:t>
            </a:r>
            <a:br>
              <a:rPr lang="en-GB" dirty="0"/>
            </a:br>
            <a:r>
              <a:rPr lang="en-GB" dirty="0"/>
              <a:t>Verification and Validation Process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and Validation Process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Chapter 15</a:t>
            </a:r>
          </a:p>
          <a:p>
            <a:r>
              <a:rPr lang="en-GB" b="1" dirty="0"/>
              <a:t>Focus</a:t>
            </a:r>
            <a:r>
              <a:rPr lang="en-GB" dirty="0"/>
              <a:t>: Quality Assurance foundations, </a:t>
            </a:r>
            <a:br>
              <a:rPr lang="en-GB" dirty="0"/>
            </a:br>
            <a:r>
              <a:rPr lang="en-GB" dirty="0"/>
              <a:t>challenges, V-Model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A63C-1FBB-4436-9082-3A2E9D51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46A0E-47BD-D559-F37B-1AAC951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663F6-D297-735B-CDC9-1594449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17" y="1803177"/>
            <a:ext cx="2997872" cy="426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8EDCD-2B6F-2A32-8B43-6B5F97AA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9B23-A429-0E9F-1868-283F2D2FF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89E92-4550-381F-29AE-D48C85DC0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Distinguish verification from validation</a:t>
            </a:r>
          </a:p>
          <a:p>
            <a:r>
              <a:rPr lang="en-GB" dirty="0"/>
              <a:t>Understand software Quality Assurance (QA) as a process</a:t>
            </a:r>
          </a:p>
          <a:p>
            <a:r>
              <a:rPr lang="en-GB" dirty="0"/>
              <a:t>Explain key challenges of QA</a:t>
            </a:r>
          </a:p>
          <a:p>
            <a:r>
              <a:rPr lang="en-GB" dirty="0"/>
              <a:t>Describe and reason about the V-Model</a:t>
            </a:r>
          </a:p>
          <a:p>
            <a:r>
              <a:rPr lang="en-GB" dirty="0"/>
              <a:t>Classify types of verification activities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00241-99B9-0F2C-E412-1ADCB9A95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6B19E-55DD-1267-D0BB-EDF0F8D6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0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62B56-305A-0F39-2961-113F2A8D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D29D-F5D0-6E2A-5703-D7826516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Verification &amp; Validation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D03D9-1ACF-72D8-3514-E381168D7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failures have high economic and societal impact</a:t>
            </a:r>
          </a:p>
          <a:p>
            <a:r>
              <a:rPr lang="en-GB" dirty="0"/>
              <a:t>Defects propagate and become more expensive over time</a:t>
            </a:r>
          </a:p>
          <a:p>
            <a:r>
              <a:rPr lang="en-GB" dirty="0"/>
              <a:t>V&amp;V provides:</a:t>
            </a:r>
          </a:p>
          <a:p>
            <a:pPr lvl="1"/>
            <a:r>
              <a:rPr lang="en-GB" dirty="0"/>
              <a:t>Risk reduction</a:t>
            </a:r>
          </a:p>
          <a:p>
            <a:pPr lvl="1"/>
            <a:r>
              <a:rPr lang="en-GB" dirty="0"/>
              <a:t>Confidence in correctness</a:t>
            </a:r>
          </a:p>
          <a:p>
            <a:pPr lvl="1"/>
            <a:r>
              <a:rPr lang="en-GB" dirty="0"/>
              <a:t>Evidence-based quality assessment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4BD35-8D61-4DEC-C0DB-3EC6D1E1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C3DC3-DCEC-F143-B7BC-DB52308C9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2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4CCDA-E8F8-872A-C37E-6608F9502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F2F1-93F0-BC78-1B3D-9C35B53D2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Foundations of Software Quality Assurance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7CD19-1433-6978-C44A-C6D2D5A0E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Software Quality Assurance (QA):</a:t>
            </a:r>
          </a:p>
          <a:p>
            <a:pPr lvl="1"/>
            <a:r>
              <a:rPr lang="en-GB" dirty="0"/>
              <a:t>A </a:t>
            </a:r>
            <a:r>
              <a:rPr lang="en-GB" b="1" dirty="0"/>
              <a:t>systematic</a:t>
            </a:r>
            <a:r>
              <a:rPr lang="en-GB" dirty="0"/>
              <a:t>, </a:t>
            </a:r>
            <a:r>
              <a:rPr lang="en-GB" b="1" dirty="0"/>
              <a:t>planned</a:t>
            </a:r>
            <a:r>
              <a:rPr lang="en-GB" dirty="0"/>
              <a:t> set of </a:t>
            </a:r>
            <a:r>
              <a:rPr lang="en-GB" b="1" dirty="0"/>
              <a:t>activities</a:t>
            </a:r>
          </a:p>
          <a:p>
            <a:pPr lvl="1"/>
            <a:r>
              <a:rPr lang="en-GB" b="1" dirty="0"/>
              <a:t>Goal</a:t>
            </a:r>
            <a:r>
              <a:rPr lang="en-GB" dirty="0"/>
              <a:t>: ensure software processes and products meet </a:t>
            </a:r>
            <a:r>
              <a:rPr lang="en-GB" b="1" dirty="0"/>
              <a:t>defined quality standards</a:t>
            </a:r>
          </a:p>
          <a:p>
            <a:r>
              <a:rPr lang="en-GB" dirty="0"/>
              <a:t>Key characteristics:</a:t>
            </a:r>
          </a:p>
          <a:p>
            <a:pPr lvl="1"/>
            <a:r>
              <a:rPr lang="en-GB" dirty="0"/>
              <a:t>Process-oriented (not just product-oriented)</a:t>
            </a:r>
          </a:p>
          <a:p>
            <a:pPr lvl="1"/>
            <a:r>
              <a:rPr lang="en-GB" dirty="0"/>
              <a:t>Continuous throughout the lifecycle</a:t>
            </a:r>
          </a:p>
          <a:p>
            <a:pPr lvl="1"/>
            <a:r>
              <a:rPr lang="en-GB" dirty="0"/>
              <a:t>Includes both preventive and detective actions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815E9-E82E-B8A7-A833-2F7C8DAD9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C035E-C079-CFD1-3E38-6863DF24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0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5317D-3C5D-1348-5977-51C1C8C8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9217-7338-94F4-4130-1CB0AD89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V&amp;V: Core Definitions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E2818-B542-6D2D-B44F-CE97FA8AC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3790" cy="4351338"/>
          </a:xfrm>
        </p:spPr>
        <p:txBody>
          <a:bodyPr>
            <a:normAutofit/>
          </a:bodyPr>
          <a:lstStyle/>
          <a:p>
            <a:r>
              <a:rPr lang="en-GB" b="1" dirty="0"/>
              <a:t>Verification</a:t>
            </a:r>
          </a:p>
          <a:p>
            <a:pPr lvl="1"/>
            <a:r>
              <a:rPr lang="en-GB" dirty="0"/>
              <a:t>“Are we building the product right?”</a:t>
            </a:r>
          </a:p>
          <a:p>
            <a:pPr lvl="1"/>
            <a:r>
              <a:rPr lang="en-GB" dirty="0"/>
              <a:t>Conformance to specifications and models</a:t>
            </a:r>
          </a:p>
          <a:p>
            <a:r>
              <a:rPr lang="en-GB" b="1" dirty="0"/>
              <a:t>Validation</a:t>
            </a:r>
          </a:p>
          <a:p>
            <a:pPr lvl="1"/>
            <a:r>
              <a:rPr lang="en-GB" dirty="0"/>
              <a:t>“Are we building the right product?”</a:t>
            </a:r>
          </a:p>
          <a:p>
            <a:pPr lvl="1"/>
            <a:r>
              <a:rPr lang="en-GB" dirty="0"/>
              <a:t>Fitness for intended use and stakeholder needs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F7B1D-4427-8CDE-97A9-4A9F51A3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25095-E980-352E-F24D-9D3006F78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CB1B76-8418-457E-4685-8CE0E05B0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768" y="1253331"/>
            <a:ext cx="53990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17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1EB73-C6B9-E0B1-CB05-D76D39E1F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885D-7F64-746B-96F4-4F44EB09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V&amp;V: Complementary Activities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51712-24BA-0AB3-6E42-D89306907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Verification ≠ Validation</a:t>
            </a:r>
          </a:p>
          <a:p>
            <a:r>
              <a:rPr lang="en-GB" dirty="0"/>
              <a:t>A system can be:</a:t>
            </a:r>
          </a:p>
          <a:p>
            <a:pPr lvl="1"/>
            <a:r>
              <a:rPr lang="en-GB" dirty="0"/>
              <a:t>Verified but not validated</a:t>
            </a:r>
          </a:p>
          <a:p>
            <a:pPr lvl="1"/>
            <a:r>
              <a:rPr lang="en-GB" dirty="0"/>
              <a:t>Validated but poorly verified (rare, but possible)</a:t>
            </a:r>
          </a:p>
          <a:p>
            <a:r>
              <a:rPr lang="en-GB" dirty="0"/>
              <a:t>High-quality software requires </a:t>
            </a:r>
            <a:r>
              <a:rPr lang="en-GB" b="1" dirty="0"/>
              <a:t>both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13FD3-0231-2FBB-FE4D-4FF21885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634686-6CE9-171A-F9AB-8718ED44F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07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EFE4B-9CB2-D9F6-07E6-B1C1949D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04D4-2496-7D82-6986-44DC626A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Quality Assurance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F12E3-8FDD-CE6C-1F0F-8094FC14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Quality assurance is non-trivial due to:</a:t>
            </a:r>
          </a:p>
          <a:p>
            <a:pPr lvl="1"/>
            <a:r>
              <a:rPr lang="en-GB" dirty="0"/>
              <a:t>Human judgment</a:t>
            </a:r>
          </a:p>
          <a:p>
            <a:pPr lvl="1"/>
            <a:r>
              <a:rPr lang="en-GB" dirty="0"/>
              <a:t>System complexity</a:t>
            </a:r>
          </a:p>
          <a:p>
            <a:pPr lvl="1"/>
            <a:r>
              <a:rPr lang="en-GB" dirty="0"/>
              <a:t>Incomplete specifications</a:t>
            </a:r>
          </a:p>
          <a:p>
            <a:pPr lvl="1"/>
            <a:r>
              <a:rPr lang="en-GB" dirty="0"/>
              <a:t>Emergent </a:t>
            </a:r>
            <a:r>
              <a:rPr lang="en-GB" dirty="0" err="1"/>
              <a:t>behavior</a:t>
            </a:r>
            <a:endParaRPr lang="en-GB" dirty="0"/>
          </a:p>
          <a:p>
            <a:r>
              <a:rPr lang="en-GB" dirty="0"/>
              <a:t>We </a:t>
            </a:r>
            <a:r>
              <a:rPr lang="en-GB" dirty="0" err="1"/>
              <a:t>analyze</a:t>
            </a:r>
            <a:r>
              <a:rPr lang="en-GB" dirty="0"/>
              <a:t> four major challenges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F0EDE-1882-27E9-D55A-CED2A230B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A3247-0753-C7CB-67E5-D3B0A420F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93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C7562-73E4-1297-31D4-92783B7AA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3D1-9A4E-E2B6-B2FC-ADC5E10A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1: Objective vs Subjective QA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4A748-15F1-5CE5-23D7-E1FED9D41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Objective QA</a:t>
            </a:r>
          </a:p>
          <a:p>
            <a:pPr lvl="1"/>
            <a:r>
              <a:rPr lang="en-GB" dirty="0"/>
              <a:t>Formal properties</a:t>
            </a:r>
          </a:p>
          <a:p>
            <a:pPr lvl="1"/>
            <a:r>
              <a:rPr lang="en-GB" dirty="0"/>
              <a:t>Automated checks</a:t>
            </a:r>
          </a:p>
          <a:p>
            <a:pPr lvl="1"/>
            <a:r>
              <a:rPr lang="en-GB" dirty="0"/>
              <a:t>Repeatable results</a:t>
            </a:r>
          </a:p>
          <a:p>
            <a:r>
              <a:rPr lang="en-GB" dirty="0"/>
              <a:t>Subjective QA</a:t>
            </a:r>
          </a:p>
          <a:p>
            <a:pPr lvl="1"/>
            <a:r>
              <a:rPr lang="en-GB" dirty="0"/>
              <a:t>Usability</a:t>
            </a:r>
          </a:p>
          <a:p>
            <a:pPr lvl="1"/>
            <a:r>
              <a:rPr lang="en-GB" dirty="0"/>
              <a:t>User satisfaction</a:t>
            </a:r>
          </a:p>
          <a:p>
            <a:pPr lvl="1"/>
            <a:r>
              <a:rPr lang="en-GB" dirty="0"/>
              <a:t>Perceived quality</a:t>
            </a:r>
          </a:p>
          <a:p>
            <a:endParaRPr lang="en-GB" dirty="0"/>
          </a:p>
          <a:p>
            <a:r>
              <a:rPr lang="en-GB" dirty="0"/>
              <a:t>⚠️  Many quality attributes lie on a spectrum, not a binary scale.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01998-4724-A887-63F6-6A5C7E94E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890C2-4CB6-A87C-8115-59D688F5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381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4DAE-7FE9-0190-8DE4-FE542A811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BB1C9-E3F4-393E-74A1-41581C892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2: Non-binary QA Outcomes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02071-BA98-14B8-ACB9-6A3985C01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QA results are rarely “pass/fail”</a:t>
            </a:r>
          </a:p>
          <a:p>
            <a:r>
              <a:rPr lang="en-GB" dirty="0"/>
              <a:t>Common examples:</a:t>
            </a:r>
          </a:p>
          <a:p>
            <a:pPr lvl="1"/>
            <a:r>
              <a:rPr lang="en-GB" dirty="0"/>
              <a:t>Performance: acceptable, good, excellent</a:t>
            </a:r>
          </a:p>
          <a:p>
            <a:pPr lvl="1"/>
            <a:r>
              <a:rPr lang="en-GB" dirty="0"/>
              <a:t>Reliability: probability-based</a:t>
            </a:r>
          </a:p>
          <a:p>
            <a:r>
              <a:rPr lang="en-GB" dirty="0"/>
              <a:t>Leads to </a:t>
            </a:r>
            <a:r>
              <a:rPr lang="en-GB" b="1" dirty="0"/>
              <a:t>trade-off</a:t>
            </a:r>
            <a:r>
              <a:rPr lang="en-GB" dirty="0"/>
              <a:t>s and thresholds, not absolutes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26376-6DBA-A17A-9679-0E4058592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62E5B-3CA3-2605-E98C-ADCCDBAA1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7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6D354-3F35-3722-48BB-F115E946D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177F-D3B4-5383-567E-FE087764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3: Non-continuous Behavioral Patterns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57E3E-10A2-EB9B-D5D2-A1F000353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Small input changes → large </a:t>
            </a:r>
            <a:r>
              <a:rPr lang="en-GB" dirty="0" err="1"/>
              <a:t>behavioral</a:t>
            </a:r>
            <a:r>
              <a:rPr lang="en-GB" dirty="0"/>
              <a:t> changes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Race conditions</a:t>
            </a:r>
          </a:p>
          <a:p>
            <a:pPr lvl="1"/>
            <a:r>
              <a:rPr lang="en-GB" dirty="0"/>
              <a:t>Boundary errors</a:t>
            </a:r>
          </a:p>
          <a:p>
            <a:pPr lvl="1"/>
            <a:r>
              <a:rPr lang="en-GB" dirty="0"/>
              <a:t>Mode-switching systems</a:t>
            </a:r>
          </a:p>
          <a:p>
            <a:r>
              <a:rPr lang="en-GB" dirty="0"/>
              <a:t>Implication:</a:t>
            </a:r>
          </a:p>
          <a:p>
            <a:pPr lvl="1"/>
            <a:r>
              <a:rPr lang="en-GB" dirty="0"/>
              <a:t>Exhaustive testing is </a:t>
            </a:r>
            <a:r>
              <a:rPr lang="en-GB" b="1" dirty="0"/>
              <a:t>impossible</a:t>
            </a:r>
          </a:p>
          <a:p>
            <a:pPr lvl="1"/>
            <a:r>
              <a:rPr lang="en-GB" dirty="0"/>
              <a:t>Strategic selection of V&amp;V techniques is required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4CA2A-A8CC-0FE9-145F-4146626EA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BCEDD-8535-7264-6849-4C943AFF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38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BF5C1-524E-27CD-971D-2632A40F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454E-BF70-FAF6-1089-3E0836397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4: Verification shall be verified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348E6-9F41-E4A5-1372-F5160F74E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Verification activities can be:</a:t>
            </a:r>
          </a:p>
          <a:p>
            <a:pPr lvl="1"/>
            <a:r>
              <a:rPr lang="en-GB" dirty="0"/>
              <a:t>Incomplete</a:t>
            </a:r>
          </a:p>
          <a:p>
            <a:pPr lvl="1"/>
            <a:r>
              <a:rPr lang="en-GB" dirty="0"/>
              <a:t>Incorrect</a:t>
            </a:r>
          </a:p>
          <a:p>
            <a:pPr lvl="1"/>
            <a:r>
              <a:rPr lang="en-GB" dirty="0"/>
              <a:t>Misapplied</a:t>
            </a:r>
          </a:p>
          <a:p>
            <a:r>
              <a:rPr lang="en-GB" dirty="0"/>
              <a:t>Therefore:</a:t>
            </a:r>
          </a:p>
          <a:p>
            <a:pPr lvl="1"/>
            <a:r>
              <a:rPr lang="en-GB" dirty="0"/>
              <a:t>Verification processes themselves must be </a:t>
            </a:r>
            <a:r>
              <a:rPr lang="en-GB" b="1" dirty="0"/>
              <a:t>reviewed</a:t>
            </a:r>
            <a:r>
              <a:rPr lang="en-GB" dirty="0"/>
              <a:t> and </a:t>
            </a:r>
            <a:r>
              <a:rPr lang="en-GB" b="1" dirty="0"/>
              <a:t>validated</a:t>
            </a:r>
          </a:p>
          <a:p>
            <a:pPr lvl="1"/>
            <a:r>
              <a:rPr lang="en-GB" dirty="0"/>
              <a:t>Meta-quality assurance is required</a:t>
            </a:r>
          </a:p>
          <a:p>
            <a:pPr lvl="1"/>
            <a:r>
              <a:rPr lang="en-GB" dirty="0"/>
              <a:t>At some point we should stop. When?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BAB4C-6A2F-82B9-21FC-0EB69F2D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201E2-4B60-EDD1-6ED5-37DEF1C4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66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C6EAB-36A5-83BC-E4A0-F4AC7C82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EDED-3802-C1E5-C32C-08C3CF412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V-Model 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9D25D-068C-DAC6-B80C-0D3C3997B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67432" cy="4351338"/>
          </a:xfrm>
        </p:spPr>
        <p:txBody>
          <a:bodyPr>
            <a:normAutofit/>
          </a:bodyPr>
          <a:lstStyle/>
          <a:p>
            <a:r>
              <a:rPr lang="en-GB" dirty="0"/>
              <a:t>The V-Model links:</a:t>
            </a:r>
          </a:p>
          <a:p>
            <a:pPr lvl="1"/>
            <a:r>
              <a:rPr lang="en-GB" dirty="0"/>
              <a:t>Development phases (left branch)</a:t>
            </a:r>
          </a:p>
          <a:p>
            <a:pPr lvl="1"/>
            <a:r>
              <a:rPr lang="en-GB" dirty="0"/>
              <a:t>V&amp;V activities (right branch)</a:t>
            </a:r>
          </a:p>
          <a:p>
            <a:r>
              <a:rPr lang="en-GB" dirty="0"/>
              <a:t>Key idea:</a:t>
            </a:r>
          </a:p>
          <a:p>
            <a:pPr lvl="1"/>
            <a:r>
              <a:rPr lang="en-GB" dirty="0"/>
              <a:t>Each development artifact has a corresponding verification activity.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06373-339F-CB91-0ABC-7D37D22D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649F05-F297-C869-E542-5F320782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115238-1D3E-CFBB-5251-EEFBB8A7A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689" y="1870075"/>
            <a:ext cx="7258592" cy="404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65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D9ED-16C0-6F92-DF65-5B1312CB2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E09F-9356-4721-6200-BBDEACFB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V-Model: Left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3E441-4693-DBB8-1DCF-752CC2B63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04774" cy="4351338"/>
          </a:xfrm>
        </p:spPr>
        <p:txBody>
          <a:bodyPr>
            <a:normAutofit/>
          </a:bodyPr>
          <a:lstStyle/>
          <a:p>
            <a:r>
              <a:rPr lang="en-GB" dirty="0"/>
              <a:t>Descending phase:</a:t>
            </a:r>
          </a:p>
          <a:p>
            <a:pPr lvl="1"/>
            <a:r>
              <a:rPr lang="en-GB" dirty="0"/>
              <a:t>Requirements analysis</a:t>
            </a:r>
          </a:p>
          <a:p>
            <a:pPr lvl="1"/>
            <a:r>
              <a:rPr lang="en-GB" dirty="0"/>
              <a:t>System design</a:t>
            </a:r>
          </a:p>
          <a:p>
            <a:pPr lvl="1"/>
            <a:r>
              <a:rPr lang="en-GB" dirty="0"/>
              <a:t>Detailed design</a:t>
            </a:r>
          </a:p>
          <a:p>
            <a:r>
              <a:rPr lang="en-GB" dirty="0"/>
              <a:t>Artifacts become more:</a:t>
            </a:r>
          </a:p>
          <a:p>
            <a:pPr lvl="1"/>
            <a:r>
              <a:rPr lang="en-GB" dirty="0"/>
              <a:t>Detailed</a:t>
            </a:r>
          </a:p>
          <a:p>
            <a:pPr lvl="1"/>
            <a:r>
              <a:rPr lang="en-GB" dirty="0"/>
              <a:t>Concrete</a:t>
            </a:r>
          </a:p>
          <a:p>
            <a:pPr lvl="1"/>
            <a:r>
              <a:rPr lang="en-GB" dirty="0"/>
              <a:t>Implementation-oriented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8E0C2-5A35-20C2-349D-0D6057EA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47526-D741-0DB6-27E2-51B79AB76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13CA42-2378-0EFA-DFC7-DC08CD861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206" y="1690688"/>
            <a:ext cx="4777594" cy="442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37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0182B-EA4D-F1DB-F203-E6D97443B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911CE-7D9F-3EB0-8380-E2FBDC26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V-Model: Right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D4F82-B7DC-8782-E9FC-5EFB69251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7950" cy="4351338"/>
          </a:xfrm>
        </p:spPr>
        <p:txBody>
          <a:bodyPr>
            <a:normAutofit/>
          </a:bodyPr>
          <a:lstStyle/>
          <a:p>
            <a:r>
              <a:rPr lang="en-GB" dirty="0"/>
              <a:t>Ascending phase:</a:t>
            </a:r>
          </a:p>
          <a:p>
            <a:pPr lvl="1"/>
            <a:r>
              <a:rPr lang="en-GB" dirty="0"/>
              <a:t>Unit testing</a:t>
            </a:r>
          </a:p>
          <a:p>
            <a:pPr lvl="1"/>
            <a:r>
              <a:rPr lang="en-GB" dirty="0"/>
              <a:t>Integration testing</a:t>
            </a:r>
          </a:p>
          <a:p>
            <a:pPr lvl="1"/>
            <a:r>
              <a:rPr lang="en-GB" dirty="0"/>
              <a:t>System testing</a:t>
            </a:r>
          </a:p>
          <a:p>
            <a:pPr lvl="1"/>
            <a:r>
              <a:rPr lang="en-GB" dirty="0"/>
              <a:t>Acceptance testing</a:t>
            </a:r>
          </a:p>
          <a:p>
            <a:r>
              <a:rPr lang="en-GB" dirty="0"/>
              <a:t>Each test level:</a:t>
            </a:r>
          </a:p>
          <a:p>
            <a:pPr lvl="1"/>
            <a:r>
              <a:rPr lang="en-GB" dirty="0"/>
              <a:t>Targets a specific artifact</a:t>
            </a:r>
          </a:p>
          <a:p>
            <a:pPr lvl="1"/>
            <a:r>
              <a:rPr lang="en-GB" dirty="0"/>
              <a:t>Validates assumptions made earlier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2A0C3-2412-D724-7E2C-59AD525A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F42E7-E725-CF8C-38AD-47F733AC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928A27-77FB-D9A3-09F6-9ED11BDD5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150" y="1688008"/>
            <a:ext cx="4569941" cy="448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70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25262-1E88-09D4-911A-AC0B497B6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8CB31-22A5-9DA1-2DDB-9CCAF71D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V-Model: Key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36900-3A47-16F3-FE92-37CD3B5A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Explicit </a:t>
            </a:r>
            <a:r>
              <a:rPr lang="en-GB" b="1" dirty="0"/>
              <a:t>traceability</a:t>
            </a:r>
          </a:p>
          <a:p>
            <a:pPr lvl="1"/>
            <a:r>
              <a:rPr lang="en-GB" dirty="0"/>
              <a:t>Early planning of test activities</a:t>
            </a:r>
          </a:p>
          <a:p>
            <a:r>
              <a:rPr lang="en-GB" dirty="0"/>
              <a:t>Encourages:</a:t>
            </a:r>
          </a:p>
          <a:p>
            <a:pPr lvl="1"/>
            <a:r>
              <a:rPr lang="en-GB" dirty="0"/>
              <a:t>Early defect detection</a:t>
            </a:r>
          </a:p>
          <a:p>
            <a:pPr lvl="1"/>
            <a:r>
              <a:rPr lang="en-GB" dirty="0"/>
              <a:t>Alignment between specs and tests</a:t>
            </a:r>
          </a:p>
          <a:p>
            <a:r>
              <a:rPr lang="en-GB" dirty="0"/>
              <a:t>Limitations:</a:t>
            </a:r>
          </a:p>
          <a:p>
            <a:pPr lvl="1"/>
            <a:r>
              <a:rPr lang="en-GB" dirty="0"/>
              <a:t>Assumes relatively stable requirements</a:t>
            </a:r>
          </a:p>
          <a:p>
            <a:pPr lvl="1"/>
            <a:r>
              <a:rPr lang="en-GB" dirty="0"/>
              <a:t>Less flexible than iterative/agile models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0EE90-6C4B-2701-2AC4-6CE8FA87C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A4BCC-096F-F4B0-675E-E2D6F6BE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54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23F7C-6AB2-9803-8709-7A9A18719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43F0-2D02-8A8C-2640-51A0A9DB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Verification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1635C-6C4E-1F04-3BE2-546A47334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Verification can be classified by:</a:t>
            </a:r>
          </a:p>
          <a:p>
            <a:pPr lvl="1"/>
            <a:r>
              <a:rPr lang="en-GB" dirty="0"/>
              <a:t>Technique</a:t>
            </a:r>
          </a:p>
          <a:p>
            <a:pPr lvl="1"/>
            <a:r>
              <a:rPr lang="en-GB" dirty="0"/>
              <a:t>Automation level</a:t>
            </a:r>
          </a:p>
          <a:p>
            <a:pPr lvl="1"/>
            <a:r>
              <a:rPr lang="en-GB" dirty="0"/>
              <a:t>Artifact under analysis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Reviews and inspections</a:t>
            </a:r>
          </a:p>
          <a:p>
            <a:pPr lvl="1"/>
            <a:r>
              <a:rPr lang="en-GB" dirty="0"/>
              <a:t>Static analysis</a:t>
            </a:r>
          </a:p>
          <a:p>
            <a:pPr lvl="1"/>
            <a:r>
              <a:rPr lang="en-GB" dirty="0"/>
              <a:t>Dynamic testing</a:t>
            </a:r>
          </a:p>
          <a:p>
            <a:pPr lvl="1"/>
            <a:r>
              <a:rPr lang="en-GB" dirty="0"/>
              <a:t>Formal verification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4E8E7-2B57-7DE4-BA33-D44527F4E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1A560-1B39-1C17-B686-229579D3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29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DE5ED-11A2-520E-D969-1EB12069E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7EF21-E2AA-8605-DAED-EC4648CC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 Dynamic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96FBA-1DA9-9A42-B0F5-5335AC9BA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Static Verification</a:t>
            </a:r>
          </a:p>
          <a:p>
            <a:pPr lvl="1"/>
            <a:r>
              <a:rPr lang="en-GB" dirty="0"/>
              <a:t>No execution</a:t>
            </a:r>
          </a:p>
          <a:p>
            <a:pPr lvl="1"/>
            <a:r>
              <a:rPr lang="en-GB" dirty="0"/>
              <a:t>Models, code, documents</a:t>
            </a:r>
          </a:p>
          <a:p>
            <a:pPr lvl="1"/>
            <a:r>
              <a:rPr lang="en-GB" dirty="0"/>
              <a:t>Examples: inspections, static analysis</a:t>
            </a:r>
          </a:p>
          <a:p>
            <a:r>
              <a:rPr lang="en-GB" dirty="0"/>
              <a:t>Dynamic Verification</a:t>
            </a:r>
          </a:p>
          <a:p>
            <a:pPr lvl="1"/>
            <a:r>
              <a:rPr lang="en-GB" dirty="0"/>
              <a:t>Requires execution</a:t>
            </a:r>
          </a:p>
          <a:p>
            <a:pPr lvl="1"/>
            <a:r>
              <a:rPr lang="en-GB" dirty="0"/>
              <a:t>Observes runtime </a:t>
            </a:r>
            <a:r>
              <a:rPr lang="en-GB" dirty="0" err="1"/>
              <a:t>behavior</a:t>
            </a:r>
            <a:endParaRPr lang="en-GB" dirty="0"/>
          </a:p>
          <a:p>
            <a:pPr lvl="1"/>
            <a:r>
              <a:rPr lang="en-GB" dirty="0"/>
              <a:t>Examples: testing, simulation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99BA5-CB06-45A4-C9C5-B5E840414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B7DAB-14EF-91E5-A513-FE50F44C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82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C8D98-0D85-B800-3013-566F94EB2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7057-D072-A65A-6B34-DFCCA7AF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vs Automated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D93EC-6230-9819-DB74-2ACC07A5F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Manual</a:t>
            </a:r>
          </a:p>
          <a:p>
            <a:pPr lvl="1"/>
            <a:r>
              <a:rPr lang="en-GB" dirty="0"/>
              <a:t>Code reviews</a:t>
            </a:r>
          </a:p>
          <a:p>
            <a:pPr lvl="1"/>
            <a:r>
              <a:rPr lang="en-GB" dirty="0"/>
              <a:t>Walkthroughs</a:t>
            </a:r>
          </a:p>
          <a:p>
            <a:pPr lvl="1"/>
            <a:r>
              <a:rPr lang="en-GB" dirty="0"/>
              <a:t>Expert judgment</a:t>
            </a:r>
          </a:p>
          <a:p>
            <a:r>
              <a:rPr lang="en-GB" dirty="0"/>
              <a:t>Automated</a:t>
            </a:r>
          </a:p>
          <a:p>
            <a:pPr lvl="1"/>
            <a:r>
              <a:rPr lang="en-GB" dirty="0"/>
              <a:t>Static </a:t>
            </a:r>
            <a:r>
              <a:rPr lang="en-GB" dirty="0" err="1"/>
              <a:t>analyzers</a:t>
            </a:r>
            <a:endParaRPr lang="en-GB" dirty="0"/>
          </a:p>
          <a:p>
            <a:pPr lvl="1"/>
            <a:r>
              <a:rPr lang="en-GB" dirty="0"/>
              <a:t>Model checkers</a:t>
            </a:r>
          </a:p>
          <a:p>
            <a:pPr lvl="1"/>
            <a:r>
              <a:rPr lang="en-GB" dirty="0"/>
              <a:t>Test execution frameworks</a:t>
            </a:r>
          </a:p>
          <a:p>
            <a:r>
              <a:rPr lang="en-GB" dirty="0"/>
              <a:t>Trade-off:</a:t>
            </a:r>
          </a:p>
          <a:p>
            <a:pPr lvl="1"/>
            <a:r>
              <a:rPr lang="en-GB" dirty="0"/>
              <a:t>Automation → scalability</a:t>
            </a:r>
          </a:p>
          <a:p>
            <a:pPr lvl="1"/>
            <a:r>
              <a:rPr lang="en-GB" dirty="0"/>
              <a:t>Manual → human judgment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09DC2-82F3-E782-9F54-B0DA326B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0900-988E-ADE7-5CA2-42678C7F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65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DA074-3A9E-38F4-7A34-B66913D9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16DC6-89B9-6D10-EB2F-F4F7BC6C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Across the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8D26B-D07F-9DDE-B6BC-AF9036048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Verification is not a single phase:</a:t>
            </a:r>
          </a:p>
          <a:p>
            <a:pPr lvl="1"/>
            <a:r>
              <a:rPr lang="en-GB" dirty="0"/>
              <a:t>Requirements → reviews, acceptance criteria</a:t>
            </a:r>
          </a:p>
          <a:p>
            <a:pPr lvl="1"/>
            <a:r>
              <a:rPr lang="en-GB" dirty="0"/>
              <a:t>Design → model consistency checks</a:t>
            </a:r>
          </a:p>
          <a:p>
            <a:pPr lvl="1"/>
            <a:r>
              <a:rPr lang="en-GB" dirty="0"/>
              <a:t>Code → static analysis, unit tests</a:t>
            </a:r>
          </a:p>
          <a:p>
            <a:pPr lvl="1"/>
            <a:r>
              <a:rPr lang="en-GB" dirty="0"/>
              <a:t>System → integration &amp; system tests</a:t>
            </a:r>
          </a:p>
          <a:p>
            <a:endParaRPr lang="en-GB" dirty="0"/>
          </a:p>
          <a:p>
            <a:r>
              <a:rPr lang="en-GB" dirty="0"/>
              <a:t>QA is </a:t>
            </a:r>
            <a:r>
              <a:rPr lang="en-GB" b="1" dirty="0"/>
              <a:t>continuous</a:t>
            </a:r>
            <a:r>
              <a:rPr lang="en-GB" dirty="0"/>
              <a:t> and </a:t>
            </a:r>
            <a:r>
              <a:rPr lang="en-GB" b="1" dirty="0"/>
              <a:t>incremental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165C6-EF01-4DEC-D271-D81D4555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6BC09-A248-3446-E546-44CE6DBE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64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Wrap-up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Key takeaways:</a:t>
            </a:r>
          </a:p>
          <a:p>
            <a:pPr lvl="1"/>
            <a:r>
              <a:rPr lang="en-US" dirty="0"/>
              <a:t>Verification and validation are </a:t>
            </a:r>
            <a:r>
              <a:rPr lang="en-US" b="1" dirty="0"/>
              <a:t>distinct but complementary</a:t>
            </a:r>
          </a:p>
          <a:p>
            <a:pPr lvl="0"/>
            <a:r>
              <a:rPr lang="en-US" dirty="0"/>
              <a:t>QA is inherently </a:t>
            </a:r>
            <a:r>
              <a:rPr lang="en-US" b="1" dirty="0"/>
              <a:t>challenging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The V-Model provides a </a:t>
            </a:r>
            <a:r>
              <a:rPr lang="en-US" b="1" dirty="0"/>
              <a:t>structured QA perspective</a:t>
            </a:r>
          </a:p>
          <a:p>
            <a:pPr lvl="0"/>
            <a:r>
              <a:rPr lang="en-US" dirty="0"/>
              <a:t>Effective V&amp;V requires:</a:t>
            </a:r>
          </a:p>
          <a:p>
            <a:pPr lvl="1"/>
            <a:r>
              <a:rPr lang="en-US" dirty="0"/>
              <a:t>Multiple techniques</a:t>
            </a:r>
          </a:p>
          <a:p>
            <a:pPr lvl="1"/>
            <a:r>
              <a:rPr lang="en-US" dirty="0"/>
              <a:t>Early planning</a:t>
            </a:r>
          </a:p>
          <a:p>
            <a:pPr lvl="1"/>
            <a:r>
              <a:rPr lang="en-US" dirty="0"/>
              <a:t>Continuous feedback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E4987-08DF-4D87-6ABF-C6328947F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1D207-5537-8DFC-81A0-66948D41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5042</TotalTime>
  <Words>1654</Words>
  <Application>Microsoft Macintosh PowerPoint</Application>
  <PresentationFormat>Widescreen</PresentationFormat>
  <Paragraphs>202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Chapter 15:  Verification and Validation Process</vt:lpstr>
      <vt:lpstr>Verification and Validation Process</vt:lpstr>
      <vt:lpstr>Learning objectives</vt:lpstr>
      <vt:lpstr>Why Verification &amp; Validation</vt:lpstr>
      <vt:lpstr>Foundations of Software Quality Assurance</vt:lpstr>
      <vt:lpstr>V&amp;V: Core Definitions</vt:lpstr>
      <vt:lpstr>V&amp;V: Complementary Activities</vt:lpstr>
      <vt:lpstr>Challenges in Quality Assurance</vt:lpstr>
      <vt:lpstr>Challenge 1: Objective vs Subjective QA</vt:lpstr>
      <vt:lpstr>Challenge 2: Non-binary QA Outcomes</vt:lpstr>
      <vt:lpstr>Challenge 3: Non-continuous Behavioral Patterns</vt:lpstr>
      <vt:lpstr>Challenge 4: Verification shall be verified</vt:lpstr>
      <vt:lpstr>The V-Model Overview</vt:lpstr>
      <vt:lpstr>V-Model: Left Side</vt:lpstr>
      <vt:lpstr>V-Model: Right Side</vt:lpstr>
      <vt:lpstr>V-Model: Key Strength</vt:lpstr>
      <vt:lpstr>Types of Verification Activities</vt:lpstr>
      <vt:lpstr>Static vs Dynamic Verification</vt:lpstr>
      <vt:lpstr>Manual vs Automated Verification</vt:lpstr>
      <vt:lpstr>Verification Across the Lifecycle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Matteo Camilli</cp:lastModifiedBy>
  <cp:revision>97</cp:revision>
  <dcterms:created xsi:type="dcterms:W3CDTF">2025-05-15T11:20:47Z</dcterms:created>
  <dcterms:modified xsi:type="dcterms:W3CDTF">2026-01-07T13:14:24Z</dcterms:modified>
</cp:coreProperties>
</file>