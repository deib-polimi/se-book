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22"/>
  </p:notesMasterIdLst>
  <p:sldIdLst>
    <p:sldId id="256" r:id="rId2"/>
    <p:sldId id="279" r:id="rId3"/>
    <p:sldId id="280" r:id="rId4"/>
    <p:sldId id="293" r:id="rId5"/>
    <p:sldId id="281" r:id="rId6"/>
    <p:sldId id="282" r:id="rId7"/>
    <p:sldId id="261" r:id="rId8"/>
    <p:sldId id="283" r:id="rId9"/>
    <p:sldId id="284" r:id="rId10"/>
    <p:sldId id="285" r:id="rId11"/>
    <p:sldId id="286" r:id="rId12"/>
    <p:sldId id="287" r:id="rId13"/>
    <p:sldId id="288" r:id="rId14"/>
    <p:sldId id="294" r:id="rId15"/>
    <p:sldId id="295" r:id="rId16"/>
    <p:sldId id="290" r:id="rId17"/>
    <p:sldId id="291" r:id="rId18"/>
    <p:sldId id="321" r:id="rId19"/>
    <p:sldId id="322" r:id="rId20"/>
    <p:sldId id="29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11CC26-0DDC-F74C-9610-A5AFC3939A25}" v="107" dt="2025-10-14T21:31:43.6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p:restoredTop sz="94667"/>
  </p:normalViewPr>
  <p:slideViewPr>
    <p:cSldViewPr snapToGrid="0">
      <p:cViewPr varScale="1">
        <p:scale>
          <a:sx n="131" d="100"/>
          <a:sy n="131" d="100"/>
        </p:scale>
        <p:origin x="184"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1A6552-0A6C-D244-A2C8-B478F33B238A}" type="datetimeFigureOut">
              <a:rPr lang="en-US" smtClean="0"/>
              <a:t>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40C50-DB3F-694F-A5EA-834EAC917A9F}" type="slidenum">
              <a:rPr lang="en-US" smtClean="0"/>
              <a:t>‹#›</a:t>
            </a:fld>
            <a:endParaRPr lang="en-US"/>
          </a:p>
        </p:txBody>
      </p:sp>
    </p:spTree>
    <p:extLst>
      <p:ext uri="{BB962C8B-B14F-4D97-AF65-F5344CB8AC3E}">
        <p14:creationId xmlns:p14="http://schemas.microsoft.com/office/powerpoint/2010/main" val="1522306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3BC2B-6CDA-72E2-229B-18DEF391FAD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A6613BC-7CB8-5A38-CD30-2C58A648B3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297053D-FB66-9EF0-41B9-05675F1D829F}"/>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pic>
        <p:nvPicPr>
          <p:cNvPr id="5" name="Picture 2">
            <a:extLst>
              <a:ext uri="{FF2B5EF4-FFF2-40B4-BE49-F238E27FC236}">
                <a16:creationId xmlns:a16="http://schemas.microsoft.com/office/drawing/2014/main" id="{C5E4A305-5980-51C4-00CE-A1E53A478C1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342797"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765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9C6C1-E6BA-4617-CEA1-A46333E5BF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E7A5070-78BD-D7FC-3836-A86EAF52079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E56B37-1922-E8D3-885A-1BEDCB2C3938}"/>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6" name="Slide Number Placeholder 5">
            <a:extLst>
              <a:ext uri="{FF2B5EF4-FFF2-40B4-BE49-F238E27FC236}">
                <a16:creationId xmlns:a16="http://schemas.microsoft.com/office/drawing/2014/main" id="{28FEE563-D749-E1BC-79F7-18DBB9ADCAF4}"/>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5" name="Picture 2">
            <a:extLst>
              <a:ext uri="{FF2B5EF4-FFF2-40B4-BE49-F238E27FC236}">
                <a16:creationId xmlns:a16="http://schemas.microsoft.com/office/drawing/2014/main" id="{9C708C23-44BA-83EE-805A-FA7D5AC43C1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6067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653B9-9588-F242-424C-FCBB884F62C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910FA4E-8AC2-FBC2-6505-59158EC906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40E71F0-A64A-9841-1C40-6F5056C752E2}"/>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6" name="Slide Number Placeholder 5">
            <a:extLst>
              <a:ext uri="{FF2B5EF4-FFF2-40B4-BE49-F238E27FC236}">
                <a16:creationId xmlns:a16="http://schemas.microsoft.com/office/drawing/2014/main" id="{4B43019A-A54C-4805-AC3B-89DFDA94F105}"/>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7" name="Picture 2">
            <a:extLst>
              <a:ext uri="{FF2B5EF4-FFF2-40B4-BE49-F238E27FC236}">
                <a16:creationId xmlns:a16="http://schemas.microsoft.com/office/drawing/2014/main" id="{F74D2014-878F-FF20-787E-1D8B6C11D57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161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4EC80-0B57-11D7-6A08-DA72C26DB99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F099C45-27E0-950B-DC56-2883613570A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CFFEE44-6404-140F-5A0B-666C2995905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8A3AA74-7D0B-6A68-C6F1-58669BD5ECDA}"/>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7" name="Slide Number Placeholder 6">
            <a:extLst>
              <a:ext uri="{FF2B5EF4-FFF2-40B4-BE49-F238E27FC236}">
                <a16:creationId xmlns:a16="http://schemas.microsoft.com/office/drawing/2014/main" id="{33435119-2D05-18ED-1F86-7B52DBC90FB3}"/>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8" name="Picture 2">
            <a:extLst>
              <a:ext uri="{FF2B5EF4-FFF2-40B4-BE49-F238E27FC236}">
                <a16:creationId xmlns:a16="http://schemas.microsoft.com/office/drawing/2014/main" id="{32EB2575-90E9-434C-12F2-9D918266825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792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79FF7-A942-3ABB-E89F-C11FE71A633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41B25CB-87EE-7F13-C2E5-98AEFE3A08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C61A3B3-B0C2-D253-5839-21704BC92F1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AF3FF5C-DC76-BE96-FF09-1D64C4C206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8E43628-B25A-5FA2-726A-C013AEF1F8E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46CB1D8-8615-69BE-A5AC-84686035CE65}"/>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9" name="Slide Number Placeholder 8">
            <a:extLst>
              <a:ext uri="{FF2B5EF4-FFF2-40B4-BE49-F238E27FC236}">
                <a16:creationId xmlns:a16="http://schemas.microsoft.com/office/drawing/2014/main" id="{EB28A28F-B43E-6906-568E-3DE2F621CB89}"/>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10" name="Picture 2">
            <a:extLst>
              <a:ext uri="{FF2B5EF4-FFF2-40B4-BE49-F238E27FC236}">
                <a16:creationId xmlns:a16="http://schemas.microsoft.com/office/drawing/2014/main" id="{25503364-8263-0069-3E15-E53AA0FF608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0937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300EA-D986-DFE9-8606-5412B250443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8319164-4796-E83E-B99E-763DDB92EC7B}"/>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4081A88B-6D57-DFC8-99F7-A2961B377017}"/>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6" name="Picture 2">
            <a:extLst>
              <a:ext uri="{FF2B5EF4-FFF2-40B4-BE49-F238E27FC236}">
                <a16:creationId xmlns:a16="http://schemas.microsoft.com/office/drawing/2014/main" id="{2E864F53-95E2-27F6-7EA4-B017856047C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959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42A436-0A8C-6244-CE2E-050985EC4819}"/>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4" name="Slide Number Placeholder 3">
            <a:extLst>
              <a:ext uri="{FF2B5EF4-FFF2-40B4-BE49-F238E27FC236}">
                <a16:creationId xmlns:a16="http://schemas.microsoft.com/office/drawing/2014/main" id="{E2507374-4A63-ABE6-3E1E-6AAAA27B41B3}"/>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5" name="Picture 2">
            <a:extLst>
              <a:ext uri="{FF2B5EF4-FFF2-40B4-BE49-F238E27FC236}">
                <a16:creationId xmlns:a16="http://schemas.microsoft.com/office/drawing/2014/main" id="{48B43AA4-1E44-6DFE-BF73-0153DA219E6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483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8E67-882E-9559-4DC2-620237B006F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8A7F3FA-6A4E-B9A6-59F4-5716FADEDF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6CB5F38-CD1E-152F-206F-9B75CE0191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6D44107-E234-3C60-AC0C-0944629298CF}"/>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7" name="Slide Number Placeholder 6">
            <a:extLst>
              <a:ext uri="{FF2B5EF4-FFF2-40B4-BE49-F238E27FC236}">
                <a16:creationId xmlns:a16="http://schemas.microsoft.com/office/drawing/2014/main" id="{2106735C-C2AF-213F-7E15-6C8911E07470}"/>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8" name="Picture 2">
            <a:extLst>
              <a:ext uri="{FF2B5EF4-FFF2-40B4-BE49-F238E27FC236}">
                <a16:creationId xmlns:a16="http://schemas.microsoft.com/office/drawing/2014/main" id="{E46854FA-170D-685D-1287-0C3212C8DC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8252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652A8-28B3-1332-FFCA-4F93330C25B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E6512B4-F468-3058-3490-9303023C0F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A5CBC0-DBE9-B3FB-9FD1-DD37BA890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41C05A0-55BA-F897-9634-005771C15C04}"/>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7" name="Slide Number Placeholder 6">
            <a:extLst>
              <a:ext uri="{FF2B5EF4-FFF2-40B4-BE49-F238E27FC236}">
                <a16:creationId xmlns:a16="http://schemas.microsoft.com/office/drawing/2014/main" id="{8EAE172D-4AC8-7CF1-F3B6-457AA86515C3}"/>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8" name="Picture 2">
            <a:extLst>
              <a:ext uri="{FF2B5EF4-FFF2-40B4-BE49-F238E27FC236}">
                <a16:creationId xmlns:a16="http://schemas.microsoft.com/office/drawing/2014/main" id="{EE73371F-ED2D-3D2D-E868-196FF8A3C5F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9423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B8E8-F679-8710-D25A-4D057489651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2589DAA-8279-691A-D5BF-F5C892E671E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4CC9042-AEE3-BD22-0364-B68E58C92B50}"/>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6" name="Slide Number Placeholder 5">
            <a:extLst>
              <a:ext uri="{FF2B5EF4-FFF2-40B4-BE49-F238E27FC236}">
                <a16:creationId xmlns:a16="http://schemas.microsoft.com/office/drawing/2014/main" id="{D9AEF517-351F-E660-6564-F4A1D829F275}"/>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7" name="Picture 2">
            <a:extLst>
              <a:ext uri="{FF2B5EF4-FFF2-40B4-BE49-F238E27FC236}">
                <a16:creationId xmlns:a16="http://schemas.microsoft.com/office/drawing/2014/main" id="{E88B0B06-D280-3222-7446-AB54F002D4F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671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4BD917-C4A5-7822-91C2-F4F96DE15AA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EE0A98C-EF04-BC3B-CF4A-B93A2E36EF0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8B9D545-B6AE-6057-9E2E-C7C2246673AC}"/>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6" name="Slide Number Placeholder 5">
            <a:extLst>
              <a:ext uri="{FF2B5EF4-FFF2-40B4-BE49-F238E27FC236}">
                <a16:creationId xmlns:a16="http://schemas.microsoft.com/office/drawing/2014/main" id="{798A4EF9-342D-74DD-C592-195AD2BADB1C}"/>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7" name="Picture 2">
            <a:extLst>
              <a:ext uri="{FF2B5EF4-FFF2-40B4-BE49-F238E27FC236}">
                <a16:creationId xmlns:a16="http://schemas.microsoft.com/office/drawing/2014/main" id="{D207AFF0-B925-74CB-DFC0-13BDE847CAF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004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F49B1-067C-B555-26D2-ABA3FE3990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6BAAED-978F-CD12-11C3-500EA50021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7F1C8E-C17C-A942-A064-333E0C969508}"/>
              </a:ext>
            </a:extLst>
          </p:cNvPr>
          <p:cNvSpPr>
            <a:spLocks noGrp="1"/>
          </p:cNvSpPr>
          <p:nvPr>
            <p:ph type="dt" sz="half" idx="2"/>
          </p:nvPr>
        </p:nvSpPr>
        <p:spPr>
          <a:xfrm>
            <a:off x="838199" y="6356350"/>
            <a:ext cx="7699625"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it-IT"/>
              <a:t>Chapter 6 - M. Camilli, E. Di Nitto, A. Fuggetta, A. Margara, M.G. Rossi, D.A. Tamburri.  Software Engineering: a Structured Journey from Inception to Delivery. BUP 2025.</a:t>
            </a:r>
            <a:endParaRPr lang="en-US" dirty="0"/>
          </a:p>
        </p:txBody>
      </p:sp>
      <p:sp>
        <p:nvSpPr>
          <p:cNvPr id="6" name="Slide Number Placeholder 5">
            <a:extLst>
              <a:ext uri="{FF2B5EF4-FFF2-40B4-BE49-F238E27FC236}">
                <a16:creationId xmlns:a16="http://schemas.microsoft.com/office/drawing/2014/main" id="{9BDFB1A4-8411-5ABB-AC32-FD865BAB7492}"/>
              </a:ext>
            </a:extLst>
          </p:cNvPr>
          <p:cNvSpPr>
            <a:spLocks noGrp="1"/>
          </p:cNvSpPr>
          <p:nvPr>
            <p:ph type="sldNum" sz="quarter" idx="4"/>
          </p:nvPr>
        </p:nvSpPr>
        <p:spPr>
          <a:xfrm>
            <a:off x="10335802" y="6356350"/>
            <a:ext cx="1017998"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04BADD-F420-F54C-BEF5-604E8EEED029}" type="slidenum">
              <a:rPr lang="en-US" smtClean="0"/>
              <a:t>‹#›</a:t>
            </a:fld>
            <a:endParaRPr lang="en-US"/>
          </a:p>
        </p:txBody>
      </p:sp>
    </p:spTree>
    <p:extLst>
      <p:ext uri="{BB962C8B-B14F-4D97-AF65-F5344CB8AC3E}">
        <p14:creationId xmlns:p14="http://schemas.microsoft.com/office/powerpoint/2010/main" val="3830785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8E8F-6B80-712E-4BC4-802945BDC26F}"/>
              </a:ext>
            </a:extLst>
          </p:cNvPr>
          <p:cNvSpPr>
            <a:spLocks noGrp="1"/>
          </p:cNvSpPr>
          <p:nvPr>
            <p:ph type="ctrTitle"/>
          </p:nvPr>
        </p:nvSpPr>
        <p:spPr/>
        <p:txBody>
          <a:bodyPr>
            <a:normAutofit/>
          </a:bodyPr>
          <a:lstStyle/>
          <a:p>
            <a:r>
              <a:rPr lang="en-GB" dirty="0"/>
              <a:t>Chapter 6: </a:t>
            </a:r>
            <a:br>
              <a:rPr lang="en-GB" dirty="0"/>
            </a:br>
            <a:r>
              <a:rPr lang="en-GB" dirty="0"/>
              <a:t>Requirements Elicitation</a:t>
            </a:r>
            <a:endParaRPr lang="en-US" dirty="0"/>
          </a:p>
        </p:txBody>
      </p:sp>
      <p:sp>
        <p:nvSpPr>
          <p:cNvPr id="3" name="Subtitle 2">
            <a:extLst>
              <a:ext uri="{FF2B5EF4-FFF2-40B4-BE49-F238E27FC236}">
                <a16:creationId xmlns:a16="http://schemas.microsoft.com/office/drawing/2014/main" id="{5BD62A6B-8524-A31B-0489-93460027EC67}"/>
              </a:ext>
            </a:extLst>
          </p:cNvPr>
          <p:cNvSpPr>
            <a:spLocks noGrp="1"/>
          </p:cNvSpPr>
          <p:nvPr>
            <p:ph type="subTitle" idx="1"/>
          </p:nvPr>
        </p:nvSpPr>
        <p:spPr/>
        <p:txBody>
          <a:bodyPr>
            <a:normAutofit/>
          </a:bodyPr>
          <a:lstStyle/>
          <a:p>
            <a:r>
              <a:rPr lang="en-GB" dirty="0"/>
              <a:t>Summary slides from</a:t>
            </a:r>
            <a:br>
              <a:rPr lang="en-GB" dirty="0"/>
            </a:br>
            <a:r>
              <a:rPr lang="en-GB" dirty="0"/>
              <a:t>M. Camilli, E. Di Nitto, A. Fuggetta, </a:t>
            </a:r>
            <a:br>
              <a:rPr lang="en-GB" dirty="0"/>
            </a:br>
            <a:r>
              <a:rPr lang="en-GB" dirty="0"/>
              <a:t>A. Margara, M.G. Rossi, D.A. Tamburri. Software Engineering: a Structured Journey from Inception to Delivery. BUP 2025. </a:t>
            </a:r>
            <a:endParaRPr lang="en-US" dirty="0"/>
          </a:p>
        </p:txBody>
      </p:sp>
    </p:spTree>
    <p:extLst>
      <p:ext uri="{BB962C8B-B14F-4D97-AF65-F5344CB8AC3E}">
        <p14:creationId xmlns:p14="http://schemas.microsoft.com/office/powerpoint/2010/main" val="2220450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Requirements Elicitation</a:t>
            </a:r>
          </a:p>
        </p:txBody>
      </p:sp>
      <p:sp>
        <p:nvSpPr>
          <p:cNvPr id="3" name="Content Placeholder 2"/>
          <p:cNvSpPr>
            <a:spLocks noGrp="1"/>
          </p:cNvSpPr>
          <p:nvPr>
            <p:ph idx="1"/>
          </p:nvPr>
        </p:nvSpPr>
        <p:spPr/>
        <p:txBody>
          <a:bodyPr>
            <a:normAutofit fontScale="92500" lnSpcReduction="20000"/>
          </a:bodyPr>
          <a:lstStyle/>
          <a:p>
            <a:pPr lvl="0"/>
            <a:r>
              <a:rPr b="1" dirty="0"/>
              <a:t>Definition</a:t>
            </a:r>
            <a:r>
              <a:rPr dirty="0"/>
              <a:t>: The process through which engineers </a:t>
            </a:r>
            <a:r>
              <a:rPr b="1" dirty="0"/>
              <a:t>identify the features and properties</a:t>
            </a:r>
            <a:r>
              <a:rPr dirty="0"/>
              <a:t> a software system will use to satisfy users’ needs</a:t>
            </a:r>
          </a:p>
          <a:p>
            <a:pPr lvl="0"/>
            <a:r>
              <a:rPr b="1" dirty="0"/>
              <a:t>Core Purpose</a:t>
            </a:r>
            <a:r>
              <a:rPr dirty="0"/>
              <a:t>: To discover and understand the system’s needs and context</a:t>
            </a:r>
          </a:p>
          <a:p>
            <a:pPr lvl="0"/>
            <a:r>
              <a:rPr b="1" dirty="0"/>
              <a:t>Key Principle</a:t>
            </a:r>
            <a:r>
              <a:rPr dirty="0"/>
              <a:t>: Requirements are </a:t>
            </a:r>
            <a:r>
              <a:rPr b="1" dirty="0"/>
              <a:t>expressed in terms of shared phenomena</a:t>
            </a:r>
            <a:r>
              <a:rPr dirty="0"/>
              <a:t> and are crucial for achieving system goals</a:t>
            </a:r>
          </a:p>
          <a:p>
            <a:pPr lvl="0"/>
            <a:r>
              <a:rPr b="1" dirty="0"/>
              <a:t>Stakeholder Involvement</a:t>
            </a:r>
            <a:r>
              <a:rPr dirty="0"/>
              <a:t>: The process </a:t>
            </a:r>
            <a:r>
              <a:rPr b="1" dirty="0"/>
              <a:t>must involve system stakeholders</a:t>
            </a:r>
            <a:r>
              <a:rPr dirty="0"/>
              <a:t> and consider the operational environment (legacy systems, rules, customs)</a:t>
            </a:r>
          </a:p>
          <a:p>
            <a:pPr lvl="0"/>
            <a:r>
              <a:rPr b="1" dirty="0"/>
              <a:t>Challenges</a:t>
            </a:r>
            <a:r>
              <a:rPr dirty="0"/>
              <a:t>: Gathering good requirements requires a </a:t>
            </a:r>
            <a:r>
              <a:rPr b="1" dirty="0"/>
              <a:t>keen understanding of the context</a:t>
            </a:r>
            <a:r>
              <a:rPr dirty="0"/>
              <a:t> and domain, which engineers may not initially possess</a:t>
            </a:r>
            <a:endParaRPr lang="en-IT" dirty="0"/>
          </a:p>
        </p:txBody>
      </p:sp>
      <p:sp>
        <p:nvSpPr>
          <p:cNvPr id="4" name="Date Placeholder 3">
            <a:extLst>
              <a:ext uri="{FF2B5EF4-FFF2-40B4-BE49-F238E27FC236}">
                <a16:creationId xmlns:a16="http://schemas.microsoft.com/office/drawing/2014/main" id="{80135783-C154-803C-AA66-E996020AE472}"/>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C09287C2-15C3-5BCD-D97B-3927960C6FE2}"/>
              </a:ext>
            </a:extLst>
          </p:cNvPr>
          <p:cNvSpPr>
            <a:spLocks noGrp="1"/>
          </p:cNvSpPr>
          <p:nvPr>
            <p:ph type="sldNum" sz="quarter" idx="12"/>
          </p:nvPr>
        </p:nvSpPr>
        <p:spPr/>
        <p:txBody>
          <a:bodyPr/>
          <a:lstStyle/>
          <a:p>
            <a:fld id="{D204BADD-F420-F54C-BEF5-604E8EEED029}" type="slidenum">
              <a:rPr lang="en-US" smtClean="0"/>
              <a:t>1</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in Requirements Elicitation</a:t>
            </a:r>
          </a:p>
        </p:txBody>
      </p:sp>
      <p:sp>
        <p:nvSpPr>
          <p:cNvPr id="3" name="Content Placeholder 2"/>
          <p:cNvSpPr>
            <a:spLocks noGrp="1"/>
          </p:cNvSpPr>
          <p:nvPr>
            <p:ph idx="1"/>
          </p:nvPr>
        </p:nvSpPr>
        <p:spPr/>
        <p:txBody>
          <a:bodyPr>
            <a:normAutofit fontScale="92500" lnSpcReduction="20000"/>
          </a:bodyPr>
          <a:lstStyle/>
          <a:p>
            <a:pPr lvl="0"/>
            <a:r>
              <a:rPr b="1" dirty="0"/>
              <a:t>Implicit or Incomplete Domain Knowledge</a:t>
            </a:r>
            <a:r>
              <a:rPr dirty="0"/>
              <a:t>: Knowledge is often not codified in documents; it resides with experts or is incomplete</a:t>
            </a:r>
          </a:p>
          <a:p>
            <a:pPr lvl="1"/>
            <a:r>
              <a:rPr i="1" dirty="0"/>
              <a:t>Example</a:t>
            </a:r>
            <a:r>
              <a:rPr dirty="0"/>
              <a:t>: A manual for train assignment rules might not exist or might omit "soft" constraints like preferring stable assignments</a:t>
            </a:r>
          </a:p>
          <a:p>
            <a:pPr lvl="0"/>
            <a:r>
              <a:rPr b="1" dirty="0"/>
              <a:t>Conflicting Stakeholder Information</a:t>
            </a:r>
            <a:r>
              <a:rPr dirty="0"/>
              <a:t>: Different stakeholders (managers, schedulers, personnel) may provide contradictory priorities or needs</a:t>
            </a:r>
          </a:p>
          <a:p>
            <a:pPr lvl="0"/>
            <a:r>
              <a:rPr b="1" dirty="0"/>
              <a:t>Stakeholder Biases</a:t>
            </a:r>
            <a:r>
              <a:rPr dirty="0"/>
              <a:t>: Conscious or unconscious biases can lead to misrepresentation of information, especially if stakeholders feel threatened</a:t>
            </a:r>
          </a:p>
          <a:p>
            <a:pPr lvl="1"/>
            <a:r>
              <a:rPr i="1" dirty="0"/>
              <a:t>Example</a:t>
            </a:r>
            <a:r>
              <a:rPr dirty="0"/>
              <a:t>: A scheduler might exaggerate task difficulty if they perceive automation as job replacement</a:t>
            </a:r>
          </a:p>
          <a:p>
            <a:pPr lvl="0"/>
            <a:r>
              <a:rPr b="1" dirty="0"/>
              <a:t>Probe Effect</a:t>
            </a:r>
            <a:r>
              <a:rPr dirty="0"/>
              <a:t>: Observed parties might alter their normal processes when aware of being watched</a:t>
            </a:r>
          </a:p>
        </p:txBody>
      </p:sp>
      <p:sp>
        <p:nvSpPr>
          <p:cNvPr id="4" name="Date Placeholder 3">
            <a:extLst>
              <a:ext uri="{FF2B5EF4-FFF2-40B4-BE49-F238E27FC236}">
                <a16:creationId xmlns:a16="http://schemas.microsoft.com/office/drawing/2014/main" id="{EFE3CB73-80AA-4C45-11AA-2C95D378B84B}"/>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7F8F02B9-13EC-8720-D913-2EEF8A8C4973}"/>
              </a:ext>
            </a:extLst>
          </p:cNvPr>
          <p:cNvSpPr>
            <a:spLocks noGrp="1"/>
          </p:cNvSpPr>
          <p:nvPr>
            <p:ph type="sldNum" sz="quarter" idx="12"/>
          </p:nvPr>
        </p:nvSpPr>
        <p:spPr/>
        <p:txBody>
          <a:bodyPr/>
          <a:lstStyle/>
          <a:p>
            <a:fld id="{D204BADD-F420-F54C-BEF5-604E8EEED029}" type="slidenum">
              <a:rPr lang="en-US" smtClean="0"/>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47C79-AC36-DA25-A4A0-887C55C38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D5996-7DD5-53AF-BAB8-EF557EC6BB52}"/>
              </a:ext>
            </a:extLst>
          </p:cNvPr>
          <p:cNvSpPr>
            <a:spLocks noGrp="1"/>
          </p:cNvSpPr>
          <p:nvPr>
            <p:ph type="title"/>
          </p:nvPr>
        </p:nvSpPr>
        <p:spPr/>
        <p:txBody>
          <a:bodyPr/>
          <a:lstStyle/>
          <a:p>
            <a:r>
              <a:t>Challenges in Requirements Elicitation</a:t>
            </a:r>
          </a:p>
        </p:txBody>
      </p:sp>
      <p:sp>
        <p:nvSpPr>
          <p:cNvPr id="3" name="Content Placeholder 2">
            <a:extLst>
              <a:ext uri="{FF2B5EF4-FFF2-40B4-BE49-F238E27FC236}">
                <a16:creationId xmlns:a16="http://schemas.microsoft.com/office/drawing/2014/main" id="{0363BD09-FF80-903E-1EB4-8D54E5E5FD70}"/>
              </a:ext>
            </a:extLst>
          </p:cNvPr>
          <p:cNvSpPr>
            <a:spLocks noGrp="1"/>
          </p:cNvSpPr>
          <p:nvPr>
            <p:ph idx="1"/>
          </p:nvPr>
        </p:nvSpPr>
        <p:spPr/>
        <p:txBody>
          <a:bodyPr>
            <a:normAutofit fontScale="92500" lnSpcReduction="20000"/>
          </a:bodyPr>
          <a:lstStyle/>
          <a:p>
            <a:pPr lvl="0"/>
            <a:r>
              <a:rPr b="1" dirty="0"/>
              <a:t>Heterogeneous Concerns &amp; Conflicts</a:t>
            </a:r>
            <a:endParaRPr dirty="0"/>
          </a:p>
          <a:p>
            <a:pPr lvl="1"/>
            <a:r>
              <a:rPr dirty="0"/>
              <a:t>Stakeholders have diverse backgrounds and conflicting interests</a:t>
            </a:r>
            <a:endParaRPr lang="it-IT" dirty="0"/>
          </a:p>
          <a:p>
            <a:pPr lvl="2"/>
            <a:r>
              <a:rPr dirty="0"/>
              <a:t>e.g., schedulers prefer less variability, personnel want flexibility, developers want fewer constraints</a:t>
            </a:r>
          </a:p>
          <a:p>
            <a:pPr lvl="1"/>
            <a:r>
              <a:rPr dirty="0"/>
              <a:t>This leads to conflicts between functional and quality concerns</a:t>
            </a:r>
            <a:endParaRPr lang="it-IT" dirty="0"/>
          </a:p>
          <a:p>
            <a:pPr lvl="2"/>
            <a:r>
              <a:rPr dirty="0"/>
              <a:t>e.g., precise assignments vs. speed</a:t>
            </a:r>
          </a:p>
          <a:p>
            <a:pPr lvl="1"/>
            <a:r>
              <a:rPr dirty="0"/>
              <a:t>Engineers must distinguish between "hard" (must be met) and "soft" (can be violated) requirements</a:t>
            </a:r>
          </a:p>
          <a:p>
            <a:pPr lvl="0"/>
            <a:r>
              <a:rPr b="1" dirty="0"/>
              <a:t>Complex and Evolving Environment</a:t>
            </a:r>
            <a:r>
              <a:rPr dirty="0"/>
              <a:t>: Systems often interact with humans, physical devices, or legacy systems</a:t>
            </a:r>
          </a:p>
          <a:p>
            <a:pPr lvl="1"/>
            <a:r>
              <a:rPr dirty="0"/>
              <a:t>Systems evolve, requiring new functions for new user needs </a:t>
            </a:r>
            <a:endParaRPr lang="it-IT" dirty="0"/>
          </a:p>
          <a:p>
            <a:pPr lvl="2"/>
            <a:r>
              <a:rPr dirty="0"/>
              <a:t>e.g., handling last-minute replacements</a:t>
            </a:r>
          </a:p>
          <a:p>
            <a:pPr lvl="0"/>
            <a:r>
              <a:rPr lang="it-IT" dirty="0" err="1"/>
              <a:t>Requirements</a:t>
            </a:r>
            <a:r>
              <a:rPr lang="it-IT" dirty="0"/>
              <a:t> </a:t>
            </a:r>
            <a:r>
              <a:rPr lang="it-IT" dirty="0" err="1"/>
              <a:t>elicitation</a:t>
            </a:r>
            <a:r>
              <a:rPr lang="it-IT" dirty="0"/>
              <a:t> </a:t>
            </a:r>
            <a:r>
              <a:rPr lang="it-IT" dirty="0" err="1"/>
              <a:t>is</a:t>
            </a:r>
            <a:r>
              <a:rPr lang="it-IT" dirty="0"/>
              <a:t> </a:t>
            </a:r>
            <a:r>
              <a:rPr b="1" dirty="0"/>
              <a:t>hard, if not impossible, to automate</a:t>
            </a:r>
            <a:r>
              <a:rPr dirty="0"/>
              <a:t> and needs to be carried out very carefully</a:t>
            </a:r>
          </a:p>
        </p:txBody>
      </p:sp>
      <p:sp>
        <p:nvSpPr>
          <p:cNvPr id="4" name="Date Placeholder 3">
            <a:extLst>
              <a:ext uri="{FF2B5EF4-FFF2-40B4-BE49-F238E27FC236}">
                <a16:creationId xmlns:a16="http://schemas.microsoft.com/office/drawing/2014/main" id="{D8E286DB-788D-6366-A92A-2156EAFE0C49}"/>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F9C32B55-4093-5787-0F4A-85D497BF46FF}"/>
              </a:ext>
            </a:extLst>
          </p:cNvPr>
          <p:cNvSpPr>
            <a:spLocks noGrp="1"/>
          </p:cNvSpPr>
          <p:nvPr>
            <p:ph type="sldNum" sz="quarter" idx="12"/>
          </p:nvPr>
        </p:nvSpPr>
        <p:spPr/>
        <p:txBody>
          <a:bodyPr/>
          <a:lstStyle/>
          <a:p>
            <a:fld id="{D204BADD-F420-F54C-BEF5-604E8EEED029}" type="slidenum">
              <a:rPr lang="en-US" smtClean="0"/>
              <a:t>3</a:t>
            </a:fld>
            <a:endParaRPr lang="en-US"/>
          </a:p>
        </p:txBody>
      </p:sp>
    </p:spTree>
    <p:extLst>
      <p:ext uri="{BB962C8B-B14F-4D97-AF65-F5344CB8AC3E}">
        <p14:creationId xmlns:p14="http://schemas.microsoft.com/office/powerpoint/2010/main" val="2332194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Requirements Elicitation Approaches</a:t>
            </a:r>
          </a:p>
        </p:txBody>
      </p:sp>
      <p:sp>
        <p:nvSpPr>
          <p:cNvPr id="3" name="Content Placeholder 2"/>
          <p:cNvSpPr>
            <a:spLocks noGrp="1"/>
          </p:cNvSpPr>
          <p:nvPr>
            <p:ph idx="1"/>
          </p:nvPr>
        </p:nvSpPr>
        <p:spPr/>
        <p:txBody>
          <a:bodyPr/>
          <a:lstStyle/>
          <a:p>
            <a:pPr lvl="0"/>
            <a:r>
              <a:rPr lang="en-GB" dirty="0"/>
              <a:t>Two possible approaches</a:t>
            </a:r>
          </a:p>
          <a:p>
            <a:pPr marL="914377" lvl="1" indent="-457189"/>
            <a:r>
              <a:rPr b="1" dirty="0"/>
              <a:t>Scenarios and Use Cases</a:t>
            </a:r>
            <a:endParaRPr dirty="0"/>
          </a:p>
          <a:p>
            <a:pPr lvl="2"/>
            <a:r>
              <a:rPr dirty="0"/>
              <a:t>Often a </a:t>
            </a:r>
            <a:r>
              <a:rPr b="1" dirty="0"/>
              <a:t>bottom-up</a:t>
            </a:r>
            <a:r>
              <a:rPr dirty="0"/>
              <a:t> approach, starting with concrete interactions</a:t>
            </a:r>
          </a:p>
          <a:p>
            <a:pPr marL="914377" lvl="1" indent="-457189"/>
            <a:r>
              <a:rPr b="1" dirty="0"/>
              <a:t>From Goals to Requirements</a:t>
            </a:r>
            <a:endParaRPr dirty="0"/>
          </a:p>
          <a:p>
            <a:pPr lvl="2"/>
            <a:r>
              <a:rPr dirty="0"/>
              <a:t>A more </a:t>
            </a:r>
            <a:r>
              <a:rPr b="1" dirty="0"/>
              <a:t>top-down</a:t>
            </a:r>
            <a:r>
              <a:rPr dirty="0"/>
              <a:t> approach, beginning with system goals</a:t>
            </a:r>
          </a:p>
          <a:p>
            <a:pPr lvl="0"/>
            <a:r>
              <a:rPr b="1" dirty="0"/>
              <a:t>Complementary Nature</a:t>
            </a:r>
            <a:r>
              <a:rPr dirty="0"/>
              <a:t>: These approaches are </a:t>
            </a:r>
            <a:r>
              <a:rPr b="1" dirty="0"/>
              <a:t>not mutually exclusive</a:t>
            </a:r>
            <a:r>
              <a:rPr dirty="0"/>
              <a:t> and can both be applied to improve understanding of the system’s behavior and context</a:t>
            </a:r>
          </a:p>
        </p:txBody>
      </p:sp>
      <p:sp>
        <p:nvSpPr>
          <p:cNvPr id="4" name="Date Placeholder 3">
            <a:extLst>
              <a:ext uri="{FF2B5EF4-FFF2-40B4-BE49-F238E27FC236}">
                <a16:creationId xmlns:a16="http://schemas.microsoft.com/office/drawing/2014/main" id="{AFA25D65-EE04-795F-8EF6-048DB3E0B72C}"/>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00BBA45D-FA05-0D09-DC88-7F8EF2128716}"/>
              </a:ext>
            </a:extLst>
          </p:cNvPr>
          <p:cNvSpPr>
            <a:spLocks noGrp="1"/>
          </p:cNvSpPr>
          <p:nvPr>
            <p:ph type="sldNum" sz="quarter" idx="12"/>
          </p:nvPr>
        </p:nvSpPr>
        <p:spPr/>
        <p:txBody>
          <a:bodyPr/>
          <a:lstStyle/>
          <a:p>
            <a:fld id="{D204BADD-F420-F54C-BEF5-604E8EEED029}" type="slidenum">
              <a:rPr lang="en-US" smtClean="0"/>
              <a:t>4</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Scenarios - Definition and Purpose</a:t>
            </a:r>
          </a:p>
        </p:txBody>
      </p:sp>
      <p:sp>
        <p:nvSpPr>
          <p:cNvPr id="3" name="Content Placeholder 2"/>
          <p:cNvSpPr>
            <a:spLocks noGrp="1"/>
          </p:cNvSpPr>
          <p:nvPr>
            <p:ph idx="1"/>
          </p:nvPr>
        </p:nvSpPr>
        <p:spPr/>
        <p:txBody>
          <a:bodyPr>
            <a:normAutofit fontScale="92500" lnSpcReduction="20000"/>
          </a:bodyPr>
          <a:lstStyle/>
          <a:p>
            <a:pPr lvl="0"/>
            <a:r>
              <a:rPr b="1" dirty="0"/>
              <a:t>Definition</a:t>
            </a:r>
            <a:r>
              <a:rPr dirty="0"/>
              <a:t>: </a:t>
            </a:r>
            <a:endParaRPr lang="en-US" dirty="0"/>
          </a:p>
          <a:p>
            <a:pPr lvl="1"/>
            <a:r>
              <a:rPr dirty="0"/>
              <a:t>"a </a:t>
            </a:r>
            <a:r>
              <a:rPr b="1" dirty="0"/>
              <a:t>narrative description of what people do and experience</a:t>
            </a:r>
            <a:r>
              <a:rPr dirty="0"/>
              <a:t> as they try to make use of computer systems and applications." (Carroll 1995)</a:t>
            </a:r>
          </a:p>
          <a:p>
            <a:pPr lvl="0"/>
            <a:r>
              <a:rPr b="1" dirty="0"/>
              <a:t>Characteristics</a:t>
            </a:r>
            <a:r>
              <a:rPr lang="en-US" b="1" dirty="0"/>
              <a:t> of a scenario:</a:t>
            </a:r>
            <a:endParaRPr dirty="0"/>
          </a:p>
          <a:p>
            <a:pPr lvl="1"/>
            <a:r>
              <a:rPr dirty="0"/>
              <a:t>Illustrates a </a:t>
            </a:r>
            <a:r>
              <a:rPr b="1" dirty="0"/>
              <a:t>specific interaction</a:t>
            </a:r>
            <a:r>
              <a:rPr lang="en-IT" b="1" dirty="0"/>
              <a:t> </a:t>
            </a:r>
            <a:r>
              <a:rPr b="1" dirty="0"/>
              <a:t>or sequence of events</a:t>
            </a:r>
            <a:r>
              <a:rPr dirty="0"/>
              <a:t> involving users and the system in a particular context</a:t>
            </a:r>
          </a:p>
          <a:p>
            <a:pPr lvl="1"/>
            <a:r>
              <a:rPr dirty="0"/>
              <a:t>A </a:t>
            </a:r>
            <a:r>
              <a:rPr b="1" dirty="0"/>
              <a:t>concrete, focused, informal description</a:t>
            </a:r>
            <a:r>
              <a:rPr dirty="0"/>
              <a:t> of a single feature</a:t>
            </a:r>
          </a:p>
          <a:p>
            <a:pPr lvl="0"/>
            <a:r>
              <a:rPr b="1" dirty="0"/>
              <a:t>Benefits for Elicitation</a:t>
            </a:r>
            <a:endParaRPr dirty="0"/>
          </a:p>
          <a:p>
            <a:pPr lvl="1"/>
            <a:r>
              <a:rPr dirty="0"/>
              <a:t>Helps stakeholders </a:t>
            </a:r>
            <a:r>
              <a:rPr b="1" dirty="0"/>
              <a:t>describe and visualize</a:t>
            </a:r>
            <a:r>
              <a:rPr dirty="0"/>
              <a:t> how the system will be used in real-life situations</a:t>
            </a:r>
          </a:p>
          <a:p>
            <a:pPr lvl="1"/>
            <a:r>
              <a:rPr dirty="0"/>
              <a:t>Makes it easier to </a:t>
            </a:r>
            <a:r>
              <a:rPr b="1" dirty="0"/>
              <a:t>identify, clarify, and validate requirements</a:t>
            </a:r>
            <a:r>
              <a:rPr dirty="0"/>
              <a:t> early in the development process</a:t>
            </a:r>
          </a:p>
          <a:p>
            <a:pPr lvl="1"/>
            <a:r>
              <a:rPr dirty="0"/>
              <a:t>Grounds abstract needs in concrete examples, serving as a </a:t>
            </a:r>
            <a:r>
              <a:rPr b="1" dirty="0"/>
              <a:t>practical foundation for eliciting system requirements</a:t>
            </a:r>
            <a:endParaRPr dirty="0"/>
          </a:p>
        </p:txBody>
      </p:sp>
      <p:sp>
        <p:nvSpPr>
          <p:cNvPr id="4" name="Date Placeholder 3">
            <a:extLst>
              <a:ext uri="{FF2B5EF4-FFF2-40B4-BE49-F238E27FC236}">
                <a16:creationId xmlns:a16="http://schemas.microsoft.com/office/drawing/2014/main" id="{4EB205D9-9DAD-67FE-AF08-27EA4DD5BD55}"/>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682A9747-8067-2617-6F51-550A2253CDF4}"/>
              </a:ext>
            </a:extLst>
          </p:cNvPr>
          <p:cNvSpPr>
            <a:spLocks noGrp="1"/>
          </p:cNvSpPr>
          <p:nvPr>
            <p:ph type="sldNum" sz="quarter" idx="12"/>
          </p:nvPr>
        </p:nvSpPr>
        <p:spPr/>
        <p:txBody>
          <a:bodyPr/>
          <a:lstStyle/>
          <a:p>
            <a:fld id="{D204BADD-F420-F54C-BEF5-604E8EEED029}" type="slidenum">
              <a:rPr lang="en-US" smtClean="0"/>
              <a:t>5</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Scenario Example: Ambulance Dispatching System</a:t>
            </a:r>
          </a:p>
        </p:txBody>
      </p:sp>
      <p:sp>
        <p:nvSpPr>
          <p:cNvPr id="3" name="Content Placeholder 2"/>
          <p:cNvSpPr>
            <a:spLocks noGrp="1"/>
          </p:cNvSpPr>
          <p:nvPr>
            <p:ph idx="1"/>
          </p:nvPr>
        </p:nvSpPr>
        <p:spPr/>
        <p:txBody>
          <a:bodyPr>
            <a:normAutofit fontScale="92500" lnSpcReduction="10000"/>
          </a:bodyPr>
          <a:lstStyle/>
          <a:p>
            <a:pPr lvl="0"/>
            <a:r>
              <a:rPr b="1" dirty="0"/>
              <a:t>Scenario</a:t>
            </a:r>
            <a:r>
              <a:rPr dirty="0"/>
              <a:t>:</a:t>
            </a:r>
          </a:p>
          <a:p>
            <a:pPr lvl="1"/>
            <a:r>
              <a:rPr lang="en-GB" dirty="0"/>
              <a:t>Bob, driving down Main Street in his patrol car, notices smoke coming out of a warehouse. His partner, Alice, reports the emergency from the car. Alice enters the address of the building, provides a brief description of its location (i.e., northwest corner), and defines an emergency level. In addition to a fire unit, she requests several paramedic units on the scene given that the area appears to be quite busy. She confirms her input and waits for acknowledgment. John, the dispatcher, is alerted to the emergency by a beep of his workstation. He reviews the information submitted by Alice and acknowledges the report. He assigns a fire unit and two paramedic units to the accident site and sends their estimated time of arrival (ETA) to Alice. Alice receives the acknowledgment and the ETA.</a:t>
            </a:r>
          </a:p>
          <a:p>
            <a:r>
              <a:rPr b="1" dirty="0"/>
              <a:t>Key Observations</a:t>
            </a:r>
            <a:r>
              <a:rPr lang="it-IT" b="1" dirty="0"/>
              <a:t>:</a:t>
            </a:r>
            <a:endParaRPr dirty="0"/>
          </a:p>
          <a:p>
            <a:pPr lvl="1"/>
            <a:r>
              <a:rPr dirty="0"/>
              <a:t>Describes a </a:t>
            </a:r>
            <a:r>
              <a:rPr b="1" dirty="0"/>
              <a:t>single instance</a:t>
            </a:r>
            <a:r>
              <a:rPr dirty="0"/>
              <a:t> of interaction (reporting a fire)</a:t>
            </a:r>
          </a:p>
          <a:p>
            <a:pPr lvl="1"/>
            <a:r>
              <a:rPr dirty="0"/>
              <a:t>Highlights </a:t>
            </a:r>
            <a:r>
              <a:rPr b="1" dirty="0"/>
              <a:t>actors</a:t>
            </a:r>
            <a:r>
              <a:rPr dirty="0"/>
              <a:t> (Bob, Alice, John) and their </a:t>
            </a:r>
            <a:r>
              <a:rPr b="1" dirty="0"/>
              <a:t>roles</a:t>
            </a:r>
            <a:r>
              <a:rPr dirty="0"/>
              <a:t> (reporting, dispatching)</a:t>
            </a:r>
          </a:p>
        </p:txBody>
      </p:sp>
      <p:sp>
        <p:nvSpPr>
          <p:cNvPr id="4" name="Date Placeholder 3">
            <a:extLst>
              <a:ext uri="{FF2B5EF4-FFF2-40B4-BE49-F238E27FC236}">
                <a16:creationId xmlns:a16="http://schemas.microsoft.com/office/drawing/2014/main" id="{E14061EF-DEA8-A128-ECAE-CE48F037CA56}"/>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6BF5694B-1850-4905-F1BE-FF15E4039E3E}"/>
              </a:ext>
            </a:extLst>
          </p:cNvPr>
          <p:cNvSpPr>
            <a:spLocks noGrp="1"/>
          </p:cNvSpPr>
          <p:nvPr>
            <p:ph type="sldNum" sz="quarter" idx="12"/>
          </p:nvPr>
        </p:nvSpPr>
        <p:spPr/>
        <p:txBody>
          <a:bodyPr/>
          <a:lstStyle/>
          <a:p>
            <a:fld id="{D204BADD-F420-F54C-BEF5-604E8EEED029}" type="slidenum">
              <a:rPr lang="en-US" smtClean="0"/>
              <a:t>6</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Identifying Scenarios</a:t>
            </a:r>
          </a:p>
        </p:txBody>
      </p:sp>
      <p:sp>
        <p:nvSpPr>
          <p:cNvPr id="3" name="Content Placeholder 2"/>
          <p:cNvSpPr>
            <a:spLocks noGrp="1"/>
          </p:cNvSpPr>
          <p:nvPr>
            <p:ph idx="1"/>
          </p:nvPr>
        </p:nvSpPr>
        <p:spPr/>
        <p:txBody>
          <a:bodyPr>
            <a:normAutofit fontScale="92500" lnSpcReduction="20000"/>
          </a:bodyPr>
          <a:lstStyle/>
          <a:p>
            <a:pPr lvl="0"/>
            <a:r>
              <a:rPr b="1" dirty="0"/>
              <a:t>Primary Method: Interviews with Stakeholders</a:t>
            </a:r>
            <a:endParaRPr dirty="0"/>
          </a:p>
          <a:p>
            <a:pPr lvl="1"/>
            <a:r>
              <a:rPr b="1" dirty="0"/>
              <a:t>Paying customers</a:t>
            </a:r>
            <a:endParaRPr dirty="0"/>
          </a:p>
          <a:p>
            <a:pPr lvl="1"/>
            <a:r>
              <a:rPr b="1" dirty="0"/>
              <a:t>End users</a:t>
            </a:r>
            <a:r>
              <a:rPr dirty="0"/>
              <a:t> (who may not be paying customers)</a:t>
            </a:r>
          </a:p>
          <a:p>
            <a:pPr lvl="1"/>
            <a:r>
              <a:rPr b="1" dirty="0"/>
              <a:t>People expected to interact with the system</a:t>
            </a:r>
            <a:r>
              <a:rPr dirty="0"/>
              <a:t> in general</a:t>
            </a:r>
          </a:p>
          <a:p>
            <a:pPr lvl="0"/>
            <a:r>
              <a:rPr b="1" dirty="0"/>
              <a:t>Lines of Inquiry during Interviews</a:t>
            </a:r>
            <a:r>
              <a:rPr dirty="0"/>
              <a:t>:</a:t>
            </a:r>
          </a:p>
          <a:p>
            <a:pPr lvl="1"/>
            <a:r>
              <a:rPr dirty="0"/>
              <a:t>Which </a:t>
            </a:r>
            <a:r>
              <a:rPr b="1" dirty="0"/>
              <a:t>user groups</a:t>
            </a:r>
            <a:r>
              <a:rPr dirty="0"/>
              <a:t> are supported by the system?</a:t>
            </a:r>
          </a:p>
          <a:p>
            <a:pPr lvl="1"/>
            <a:r>
              <a:rPr dirty="0"/>
              <a:t>What are the </a:t>
            </a:r>
            <a:r>
              <a:rPr b="1" dirty="0"/>
              <a:t>primary tasks</a:t>
            </a:r>
            <a:r>
              <a:rPr dirty="0"/>
              <a:t> the system needs to perform?</a:t>
            </a:r>
          </a:p>
          <a:p>
            <a:pPr lvl="1"/>
            <a:r>
              <a:rPr dirty="0"/>
              <a:t>What </a:t>
            </a:r>
            <a:r>
              <a:rPr b="1" dirty="0"/>
              <a:t>data</a:t>
            </a:r>
            <a:r>
              <a:rPr dirty="0"/>
              <a:t> will the actor create, store, change, remove, or add?</a:t>
            </a:r>
          </a:p>
          <a:p>
            <a:pPr lvl="1"/>
            <a:r>
              <a:rPr dirty="0"/>
              <a:t>What </a:t>
            </a:r>
            <a:r>
              <a:rPr b="1" dirty="0"/>
              <a:t>external changes</a:t>
            </a:r>
            <a:r>
              <a:rPr dirty="0"/>
              <a:t> does the system need to know about?</a:t>
            </a:r>
          </a:p>
          <a:p>
            <a:pPr lvl="1"/>
            <a:r>
              <a:rPr dirty="0"/>
              <a:t>What </a:t>
            </a:r>
            <a:r>
              <a:rPr b="1" dirty="0"/>
              <a:t>changes or events</a:t>
            </a:r>
            <a:r>
              <a:rPr dirty="0"/>
              <a:t> will the actor need to be informed about?</a:t>
            </a:r>
          </a:p>
          <a:p>
            <a:pPr lvl="0"/>
            <a:r>
              <a:rPr b="1" dirty="0"/>
              <a:t>Other Means</a:t>
            </a:r>
            <a:r>
              <a:rPr dirty="0"/>
              <a:t>:</a:t>
            </a:r>
          </a:p>
          <a:p>
            <a:pPr lvl="1"/>
            <a:r>
              <a:rPr dirty="0"/>
              <a:t>Consultation of </a:t>
            </a:r>
            <a:r>
              <a:rPr b="1" dirty="0"/>
              <a:t>existing documentation</a:t>
            </a:r>
            <a:endParaRPr dirty="0"/>
          </a:p>
          <a:p>
            <a:pPr lvl="1"/>
            <a:r>
              <a:rPr b="1" dirty="0"/>
              <a:t>Observations</a:t>
            </a:r>
            <a:r>
              <a:rPr dirty="0"/>
              <a:t> of current processes, especially when replacing legacy systems</a:t>
            </a:r>
          </a:p>
        </p:txBody>
      </p:sp>
      <p:sp>
        <p:nvSpPr>
          <p:cNvPr id="4" name="Date Placeholder 3">
            <a:extLst>
              <a:ext uri="{FF2B5EF4-FFF2-40B4-BE49-F238E27FC236}">
                <a16:creationId xmlns:a16="http://schemas.microsoft.com/office/drawing/2014/main" id="{AFB924FB-21EB-189A-B770-BE6245080F5C}"/>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43813EE2-0625-4456-6D92-DC9FE3BCFA75}"/>
              </a:ext>
            </a:extLst>
          </p:cNvPr>
          <p:cNvSpPr>
            <a:spLocks noGrp="1"/>
          </p:cNvSpPr>
          <p:nvPr>
            <p:ph type="sldNum" sz="quarter" idx="12"/>
          </p:nvPr>
        </p:nvSpPr>
        <p:spPr/>
        <p:txBody>
          <a:bodyPr/>
          <a:lstStyle/>
          <a:p>
            <a:fld id="{D204BADD-F420-F54C-BEF5-604E8EEED029}" type="slidenum">
              <a:rPr lang="en-US" smtClean="0"/>
              <a:t>7</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From Scenarios to Use Cases</a:t>
            </a:r>
          </a:p>
        </p:txBody>
      </p:sp>
      <p:sp>
        <p:nvSpPr>
          <p:cNvPr id="3" name="Content Placeholder 2"/>
          <p:cNvSpPr>
            <a:spLocks noGrp="1"/>
          </p:cNvSpPr>
          <p:nvPr>
            <p:ph idx="1"/>
          </p:nvPr>
        </p:nvSpPr>
        <p:spPr/>
        <p:txBody>
          <a:bodyPr>
            <a:normAutofit fontScale="92500" lnSpcReduction="10000"/>
          </a:bodyPr>
          <a:lstStyle/>
          <a:p>
            <a:pPr lvl="0"/>
            <a:r>
              <a:rPr b="1" dirty="0"/>
              <a:t>Scenarios</a:t>
            </a:r>
            <a:r>
              <a:rPr dirty="0"/>
              <a:t>: Descriptions of </a:t>
            </a:r>
            <a:r>
              <a:rPr b="1" dirty="0"/>
              <a:t>vignettes</a:t>
            </a:r>
            <a:r>
              <a:rPr dirty="0"/>
              <a:t>, capturing specific user-system interactions</a:t>
            </a:r>
          </a:p>
          <a:p>
            <a:pPr lvl="0"/>
            <a:r>
              <a:rPr b="1" dirty="0"/>
              <a:t>Use Cases (UCs)</a:t>
            </a:r>
            <a:r>
              <a:rPr dirty="0"/>
              <a:t>: </a:t>
            </a:r>
            <a:r>
              <a:rPr b="1" dirty="0"/>
              <a:t>Structured generalizations of scenarios</a:t>
            </a:r>
            <a:endParaRPr dirty="0"/>
          </a:p>
          <a:p>
            <a:pPr lvl="1"/>
            <a:r>
              <a:rPr b="1" dirty="0"/>
              <a:t>Abstraction</a:t>
            </a:r>
            <a:r>
              <a:rPr dirty="0"/>
              <a:t>: Abstract scenario details</a:t>
            </a:r>
            <a:endParaRPr lang="it-IT" dirty="0"/>
          </a:p>
          <a:p>
            <a:pPr lvl="2"/>
            <a:r>
              <a:rPr dirty="0"/>
              <a:t>e.g., specific names like "Alice" or "John"</a:t>
            </a:r>
          </a:p>
          <a:p>
            <a:pPr lvl="1"/>
            <a:r>
              <a:rPr b="1" dirty="0"/>
              <a:t>Actors</a:t>
            </a:r>
            <a:r>
              <a:rPr dirty="0"/>
              <a:t>: Identify participants by the </a:t>
            </a:r>
            <a:r>
              <a:rPr b="1" dirty="0"/>
              <a:t>role they play</a:t>
            </a:r>
            <a:r>
              <a:rPr dirty="0"/>
              <a:t> </a:t>
            </a:r>
            <a:endParaRPr lang="it-IT" dirty="0"/>
          </a:p>
          <a:p>
            <a:pPr lvl="2"/>
            <a:r>
              <a:rPr dirty="0"/>
              <a:t>e.g., "Field Officer," "Dispatcher"</a:t>
            </a:r>
          </a:p>
          <a:p>
            <a:pPr lvl="1"/>
            <a:r>
              <a:rPr b="1" dirty="0"/>
              <a:t>Structure</a:t>
            </a:r>
            <a:r>
              <a:rPr dirty="0"/>
              <a:t>: Presents interaction as a </a:t>
            </a:r>
            <a:r>
              <a:rPr b="1" dirty="0"/>
              <a:t>sequence of actions</a:t>
            </a:r>
            <a:r>
              <a:rPr dirty="0"/>
              <a:t> rather than a narrative</a:t>
            </a:r>
          </a:p>
          <a:p>
            <a:pPr lvl="1"/>
            <a:r>
              <a:rPr b="1" dirty="0"/>
              <a:t>Conditions</a:t>
            </a:r>
            <a:r>
              <a:rPr dirty="0"/>
              <a:t>: Identifies </a:t>
            </a:r>
            <a:r>
              <a:rPr b="1" dirty="0"/>
              <a:t>entry conditions</a:t>
            </a:r>
            <a:r>
              <a:rPr dirty="0"/>
              <a:t> (trigger) and </a:t>
            </a:r>
            <a:r>
              <a:rPr b="1" dirty="0"/>
              <a:t>exit conditions</a:t>
            </a:r>
            <a:r>
              <a:rPr dirty="0"/>
              <a:t> (what is achieved)</a:t>
            </a:r>
          </a:p>
          <a:p>
            <a:pPr lvl="1"/>
            <a:r>
              <a:rPr b="1" dirty="0"/>
              <a:t>Completeness</a:t>
            </a:r>
            <a:r>
              <a:rPr dirty="0"/>
              <a:t>: Can include </a:t>
            </a:r>
            <a:r>
              <a:rPr b="1" dirty="0"/>
              <a:t>exceptional conditions</a:t>
            </a:r>
            <a:r>
              <a:rPr dirty="0"/>
              <a:t> that deviate from the normal flow and </a:t>
            </a:r>
            <a:r>
              <a:rPr b="1" dirty="0"/>
              <a:t>additional constraints</a:t>
            </a:r>
            <a:endParaRPr dirty="0"/>
          </a:p>
        </p:txBody>
      </p:sp>
      <p:sp>
        <p:nvSpPr>
          <p:cNvPr id="4" name="Date Placeholder 3">
            <a:extLst>
              <a:ext uri="{FF2B5EF4-FFF2-40B4-BE49-F238E27FC236}">
                <a16:creationId xmlns:a16="http://schemas.microsoft.com/office/drawing/2014/main" id="{B0D2B9FC-ED57-7179-F634-8D3CEFED264D}"/>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CB28EE19-6FDC-AC86-8087-B6CC2E9E2972}"/>
              </a:ext>
            </a:extLst>
          </p:cNvPr>
          <p:cNvSpPr>
            <a:spLocks noGrp="1"/>
          </p:cNvSpPr>
          <p:nvPr>
            <p:ph type="sldNum" sz="quarter" idx="12"/>
          </p:nvPr>
        </p:nvSpPr>
        <p:spPr/>
        <p:txBody>
          <a:bodyPr/>
          <a:lstStyle/>
          <a:p>
            <a:fld id="{D204BADD-F420-F54C-BEF5-604E8EEED029}" type="slidenum">
              <a:rPr lang="en-US" smtClean="0"/>
              <a:t>8</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Use Case </a:t>
            </a:r>
            <a:r>
              <a:rPr lang="it-IT" dirty="0" err="1"/>
              <a:t>Typical</a:t>
            </a:r>
            <a:r>
              <a:rPr lang="it-IT" dirty="0"/>
              <a:t> </a:t>
            </a:r>
            <a:r>
              <a:rPr dirty="0"/>
              <a:t>Structure</a:t>
            </a:r>
          </a:p>
        </p:txBody>
      </p:sp>
      <p:sp>
        <p:nvSpPr>
          <p:cNvPr id="4" name="Date Placeholder 3">
            <a:extLst>
              <a:ext uri="{FF2B5EF4-FFF2-40B4-BE49-F238E27FC236}">
                <a16:creationId xmlns:a16="http://schemas.microsoft.com/office/drawing/2014/main" id="{1FC0C050-D293-4027-CB05-622323554D2C}"/>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pic>
        <p:nvPicPr>
          <p:cNvPr id="10" name="Picture 9">
            <a:extLst>
              <a:ext uri="{FF2B5EF4-FFF2-40B4-BE49-F238E27FC236}">
                <a16:creationId xmlns:a16="http://schemas.microsoft.com/office/drawing/2014/main" id="{7F1BB9FE-1883-FE51-DA5A-4A48A6D74FE4}"/>
              </a:ext>
            </a:extLst>
          </p:cNvPr>
          <p:cNvPicPr>
            <a:picLocks noChangeAspect="1"/>
          </p:cNvPicPr>
          <p:nvPr/>
        </p:nvPicPr>
        <p:blipFill>
          <a:blip r:embed="rId2"/>
          <a:srcRect l="16855" t="8085" r="17155" b="74043"/>
          <a:stretch>
            <a:fillRect/>
          </a:stretch>
        </p:blipFill>
        <p:spPr>
          <a:xfrm>
            <a:off x="914399" y="1803400"/>
            <a:ext cx="10363201" cy="3632200"/>
          </a:xfrm>
          <a:prstGeom prst="rect">
            <a:avLst/>
          </a:prstGeom>
        </p:spPr>
      </p:pic>
      <p:sp>
        <p:nvSpPr>
          <p:cNvPr id="3" name="Slide Number Placeholder 2">
            <a:extLst>
              <a:ext uri="{FF2B5EF4-FFF2-40B4-BE49-F238E27FC236}">
                <a16:creationId xmlns:a16="http://schemas.microsoft.com/office/drawing/2014/main" id="{F0514243-0EE9-A58E-CD7D-08B4A0CB6DD9}"/>
              </a:ext>
            </a:extLst>
          </p:cNvPr>
          <p:cNvSpPr>
            <a:spLocks noGrp="1"/>
          </p:cNvSpPr>
          <p:nvPr>
            <p:ph type="sldNum" sz="quarter" idx="12"/>
          </p:nvPr>
        </p:nvSpPr>
        <p:spPr/>
        <p:txBody>
          <a:bodyPr/>
          <a:lstStyle/>
          <a:p>
            <a:fld id="{D204BADD-F420-F54C-BEF5-604E8EEED029}" type="slidenum">
              <a:rPr lang="en-US" smtClean="0"/>
              <a:t>9</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 Case Example: "Report Emergency"</a:t>
            </a:r>
          </a:p>
        </p:txBody>
      </p:sp>
      <p:sp>
        <p:nvSpPr>
          <p:cNvPr id="4" name="Date Placeholder 3">
            <a:extLst>
              <a:ext uri="{FF2B5EF4-FFF2-40B4-BE49-F238E27FC236}">
                <a16:creationId xmlns:a16="http://schemas.microsoft.com/office/drawing/2014/main" id="{75639653-33D7-C6B1-7209-A74FBB43F228}"/>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pic>
        <p:nvPicPr>
          <p:cNvPr id="12" name="Picture 11">
            <a:extLst>
              <a:ext uri="{FF2B5EF4-FFF2-40B4-BE49-F238E27FC236}">
                <a16:creationId xmlns:a16="http://schemas.microsoft.com/office/drawing/2014/main" id="{90E83ABD-A541-4047-DC36-7C131DBFEE75}"/>
              </a:ext>
            </a:extLst>
          </p:cNvPr>
          <p:cNvPicPr>
            <a:picLocks noChangeAspect="1"/>
          </p:cNvPicPr>
          <p:nvPr/>
        </p:nvPicPr>
        <p:blipFill>
          <a:blip r:embed="rId2"/>
          <a:srcRect l="12614" t="9630" r="42811" b="10000"/>
          <a:stretch>
            <a:fillRect/>
          </a:stretch>
        </p:blipFill>
        <p:spPr>
          <a:xfrm rot="5400000">
            <a:off x="3842657" y="-1493157"/>
            <a:ext cx="4506686" cy="10515600"/>
          </a:xfrm>
          <a:prstGeom prst="rect">
            <a:avLst/>
          </a:prstGeom>
        </p:spPr>
      </p:pic>
      <p:sp>
        <p:nvSpPr>
          <p:cNvPr id="3" name="Slide Number Placeholder 2">
            <a:extLst>
              <a:ext uri="{FF2B5EF4-FFF2-40B4-BE49-F238E27FC236}">
                <a16:creationId xmlns:a16="http://schemas.microsoft.com/office/drawing/2014/main" id="{242B2A5F-F72E-46A4-0CFE-5B30A42AF0FA}"/>
              </a:ext>
            </a:extLst>
          </p:cNvPr>
          <p:cNvSpPr>
            <a:spLocks noGrp="1"/>
          </p:cNvSpPr>
          <p:nvPr>
            <p:ph type="sldNum" sz="quarter" idx="12"/>
          </p:nvPr>
        </p:nvSpPr>
        <p:spPr/>
        <p:txBody>
          <a:bodyPr/>
          <a:lstStyle/>
          <a:p>
            <a:fld id="{D204BADD-F420-F54C-BEF5-604E8EEED029}" type="slidenum">
              <a:rPr lang="en-US" smtClean="0"/>
              <a:t>10</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Detailing UCs &amp; Deriving Requirements</a:t>
            </a:r>
          </a:p>
        </p:txBody>
      </p:sp>
      <p:sp>
        <p:nvSpPr>
          <p:cNvPr id="3" name="Content Placeholder 2"/>
          <p:cNvSpPr>
            <a:spLocks noGrp="1"/>
          </p:cNvSpPr>
          <p:nvPr>
            <p:ph idx="1"/>
          </p:nvPr>
        </p:nvSpPr>
        <p:spPr/>
        <p:txBody>
          <a:bodyPr>
            <a:normAutofit/>
          </a:bodyPr>
          <a:lstStyle/>
          <a:p>
            <a:pPr lvl="0"/>
            <a:r>
              <a:rPr b="1" dirty="0"/>
              <a:t>Deriving </a:t>
            </a:r>
            <a:r>
              <a:rPr lang="it-IT" b="1" dirty="0" err="1"/>
              <a:t>r</a:t>
            </a:r>
            <a:r>
              <a:rPr b="1" dirty="0" err="1"/>
              <a:t>equirements</a:t>
            </a:r>
            <a:r>
              <a:rPr b="1" dirty="0"/>
              <a:t> from U</a:t>
            </a:r>
            <a:r>
              <a:rPr lang="en-GB" b="1" dirty="0"/>
              <a:t>C</a:t>
            </a:r>
            <a:r>
              <a:rPr b="1" dirty="0"/>
              <a:t>s</a:t>
            </a:r>
            <a:r>
              <a:rPr lang="it-IT" b="1" dirty="0"/>
              <a:t>:</a:t>
            </a:r>
            <a:endParaRPr dirty="0"/>
          </a:p>
          <a:p>
            <a:pPr lvl="1"/>
            <a:r>
              <a:rPr dirty="0"/>
              <a:t>Software engineers can identify requirements by carefully analyzing the </a:t>
            </a:r>
            <a:r>
              <a:rPr b="1" dirty="0"/>
              <a:t>event flows, exceptions, and special requirements</a:t>
            </a:r>
            <a:endParaRPr dirty="0"/>
          </a:p>
          <a:p>
            <a:pPr lvl="1"/>
            <a:r>
              <a:rPr lang="it-IT" b="1" dirty="0" err="1"/>
              <a:t>Example</a:t>
            </a:r>
            <a:r>
              <a:rPr lang="it-IT" b="1" dirty="0"/>
              <a:t> of </a:t>
            </a:r>
            <a:r>
              <a:rPr b="1" dirty="0"/>
              <a:t>Functional Requirements</a:t>
            </a:r>
            <a:r>
              <a:rPr lang="it-IT" b="1" dirty="0"/>
              <a:t>:</a:t>
            </a:r>
            <a:endParaRPr dirty="0"/>
          </a:p>
          <a:p>
            <a:pPr lvl="2"/>
            <a:r>
              <a:rPr dirty="0"/>
              <a:t>The System shall allow Field Officers to insert the information regarding an emergency, including its level, type, location, and brief description of the situation</a:t>
            </a:r>
            <a:endParaRPr lang="it-IT" dirty="0"/>
          </a:p>
          <a:p>
            <a:pPr lvl="3"/>
            <a:r>
              <a:rPr lang="it-IT" dirty="0"/>
              <a:t>D</a:t>
            </a:r>
            <a:r>
              <a:rPr dirty="0" err="1"/>
              <a:t>erived</a:t>
            </a:r>
            <a:r>
              <a:rPr dirty="0"/>
              <a:t> </a:t>
            </a:r>
            <a:r>
              <a:rPr lang="it-IT" dirty="0"/>
              <a:t>from </a:t>
            </a:r>
            <a:r>
              <a:rPr dirty="0"/>
              <a:t>step 3</a:t>
            </a:r>
          </a:p>
          <a:p>
            <a:pPr lvl="1"/>
            <a:r>
              <a:rPr lang="it-IT" b="1" dirty="0" err="1"/>
              <a:t>Example</a:t>
            </a:r>
            <a:r>
              <a:rPr lang="it-IT" b="1" dirty="0"/>
              <a:t> of </a:t>
            </a:r>
            <a:r>
              <a:rPr b="1" dirty="0"/>
              <a:t>Non-Functional Requirements</a:t>
            </a:r>
            <a:r>
              <a:rPr lang="it-IT" b="1" dirty="0"/>
              <a:t>:</a:t>
            </a:r>
            <a:endParaRPr dirty="0"/>
          </a:p>
          <a:p>
            <a:pPr lvl="2"/>
            <a:r>
              <a:rPr dirty="0"/>
              <a:t>When an emergency report is received, the System must provide a response in less than 30 seconds.</a:t>
            </a:r>
            <a:endParaRPr lang="it-IT" dirty="0"/>
          </a:p>
          <a:p>
            <a:pPr lvl="3"/>
            <a:r>
              <a:rPr dirty="0"/>
              <a:t>Derived from Special </a:t>
            </a:r>
            <a:r>
              <a:rPr dirty="0" err="1"/>
              <a:t>Reqs</a:t>
            </a:r>
            <a:endParaRPr dirty="0"/>
          </a:p>
        </p:txBody>
      </p:sp>
      <p:sp>
        <p:nvSpPr>
          <p:cNvPr id="4" name="Date Placeholder 3">
            <a:extLst>
              <a:ext uri="{FF2B5EF4-FFF2-40B4-BE49-F238E27FC236}">
                <a16:creationId xmlns:a16="http://schemas.microsoft.com/office/drawing/2014/main" id="{D701CC09-A285-E330-DE63-37A5798F76CD}"/>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22054E2C-B6FC-21C1-4A87-A7AEAFDD9469}"/>
              </a:ext>
            </a:extLst>
          </p:cNvPr>
          <p:cNvSpPr>
            <a:spLocks noGrp="1"/>
          </p:cNvSpPr>
          <p:nvPr>
            <p:ph type="sldNum" sz="quarter" idx="12"/>
          </p:nvPr>
        </p:nvSpPr>
        <p:spPr/>
        <p:txBody>
          <a:bodyPr/>
          <a:lstStyle/>
          <a:p>
            <a:fld id="{D204BADD-F420-F54C-BEF5-604E8EEED029}" type="slidenum">
              <a:rPr lang="en-US" smtClean="0"/>
              <a:t>11</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From Goals to Requirements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0"/>
                <a:r>
                  <a:rPr b="1" dirty="0"/>
                  <a:t>Process</a:t>
                </a:r>
                <a:r>
                  <a:rPr dirty="0"/>
                  <a:t>:</a:t>
                </a:r>
              </a:p>
              <a:p>
                <a:pPr marL="914377" lvl="1" indent="-457189">
                  <a:buAutoNum type="arabicPeriod"/>
                </a:pPr>
                <a:r>
                  <a:rPr b="1" dirty="0"/>
                  <a:t>Formulate System Goals</a:t>
                </a:r>
                <a:endParaRPr dirty="0"/>
              </a:p>
              <a:p>
                <a:pPr marL="914377" lvl="1" indent="-457189">
                  <a:buAutoNum type="arabicPeriod"/>
                </a:pPr>
                <a:r>
                  <a:rPr b="1" dirty="0"/>
                  <a:t>Derive Requirements</a:t>
                </a:r>
                <a:r>
                  <a:rPr dirty="0"/>
                  <a:t> from these goals</a:t>
                </a:r>
              </a:p>
              <a:p>
                <a:pPr lvl="0"/>
                <a:r>
                  <a:rPr b="1" dirty="0"/>
                  <a:t>Guiding Principle</a:t>
                </a:r>
                <a:r>
                  <a:rPr dirty="0"/>
                  <a:t>: The combination of </a:t>
                </a:r>
                <a:r>
                  <a:rPr b="1" dirty="0"/>
                  <a:t>requirements and domain assumptions</a:t>
                </a:r>
                <a:r>
                  <a:rPr dirty="0"/>
                  <a:t> must guarantee that the system goals hold</a:t>
                </a:r>
              </a:p>
              <a:p>
                <a:pPr lvl="1"/>
                <a14:m>
                  <m:oMath xmlns:m="http://schemas.openxmlformats.org/officeDocument/2006/math">
                    <m:r>
                      <m:rPr>
                        <m:nor/>
                      </m:rPr>
                      <a:rPr/>
                      <m:t>Requirements</m:t>
                    </m:r>
                    <m:r>
                      <a:rPr>
                        <a:latin typeface="Cambria Math" panose="02040503050406030204" pitchFamily="18" charset="0"/>
                      </a:rPr>
                      <m:t>+</m:t>
                    </m:r>
                    <m:r>
                      <m:rPr>
                        <m:nor/>
                      </m:rPr>
                      <a:rPr/>
                      <m:t>Domain</m:t>
                    </m:r>
                    <m:r>
                      <m:rPr>
                        <m:nor/>
                      </m:rPr>
                      <a:rPr/>
                      <m:t> </m:t>
                    </m:r>
                    <m:r>
                      <m:rPr>
                        <m:nor/>
                      </m:rPr>
                      <a:rPr/>
                      <m:t>Assumptions</m:t>
                    </m:r>
                    <m:r>
                      <a:rPr>
                        <a:latin typeface="Cambria Math" panose="02040503050406030204" pitchFamily="18" charset="0"/>
                      </a:rPr>
                      <m:t>⇒</m:t>
                    </m:r>
                    <m:r>
                      <m:rPr>
                        <m:nor/>
                      </m:rPr>
                      <a:rPr/>
                      <m:t>Goals</m:t>
                    </m:r>
                  </m:oMath>
                </a14:m>
                <a:endParaRPr dirty="0"/>
              </a:p>
              <a:p>
                <a:pPr lvl="0"/>
                <a:r>
                  <a:rPr lang="it-IT" dirty="0" err="1"/>
                  <a:t>We</a:t>
                </a:r>
                <a:r>
                  <a:rPr lang="it-IT" dirty="0"/>
                  <a:t> can </a:t>
                </a:r>
                <a:r>
                  <a:rPr lang="it-IT" dirty="0" err="1"/>
                  <a:t>still</a:t>
                </a:r>
                <a:r>
                  <a:rPr lang="it-IT" dirty="0"/>
                  <a:t> use </a:t>
                </a:r>
                <a:r>
                  <a:rPr dirty="0"/>
                  <a:t>scenario</a:t>
                </a:r>
                <a:r>
                  <a:rPr lang="it-IT" dirty="0" err="1"/>
                  <a:t>s</a:t>
                </a:r>
                <a:r>
                  <a:rPr dirty="0"/>
                  <a:t> to identify world/machine phenomena, which then inform the goals, requirements, and domain assumptions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86" t="-2326" r="-724"/>
                </a:stretch>
              </a:blipFill>
            </p:spPr>
            <p:txBody>
              <a:bodyPr/>
              <a:lstStyle/>
              <a:p>
                <a:r>
                  <a:rPr lang="en-IT">
                    <a:noFill/>
                  </a:rPr>
                  <a:t> </a:t>
                </a:r>
              </a:p>
            </p:txBody>
          </p:sp>
        </mc:Fallback>
      </mc:AlternateContent>
      <p:sp>
        <p:nvSpPr>
          <p:cNvPr id="4" name="Date Placeholder 3">
            <a:extLst>
              <a:ext uri="{FF2B5EF4-FFF2-40B4-BE49-F238E27FC236}">
                <a16:creationId xmlns:a16="http://schemas.microsoft.com/office/drawing/2014/main" id="{250578FC-6D5F-6A3A-C028-DED9E33A09AD}"/>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902E836A-F458-0B99-B416-764438EAE5D9}"/>
              </a:ext>
            </a:extLst>
          </p:cNvPr>
          <p:cNvSpPr>
            <a:spLocks noGrp="1"/>
          </p:cNvSpPr>
          <p:nvPr>
            <p:ph type="sldNum" sz="quarter" idx="12"/>
          </p:nvPr>
        </p:nvSpPr>
        <p:spPr/>
        <p:txBody>
          <a:bodyPr/>
          <a:lstStyle/>
          <a:p>
            <a:fld id="{D204BADD-F420-F54C-BEF5-604E8EEED029}" type="slidenum">
              <a:rPr lang="en-US" smtClean="0"/>
              <a:t>12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C0C5F-17EA-F7AE-08D7-6425F0BC5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31E24-DA35-9F87-5246-1F8266A79C0C}"/>
              </a:ext>
            </a:extLst>
          </p:cNvPr>
          <p:cNvSpPr>
            <a:spLocks noGrp="1"/>
          </p:cNvSpPr>
          <p:nvPr>
            <p:ph type="title"/>
          </p:nvPr>
        </p:nvSpPr>
        <p:spPr/>
        <p:txBody>
          <a:bodyPr/>
          <a:lstStyle/>
          <a:p>
            <a:r>
              <a:t>Case Study: Physical Access Control System</a:t>
            </a:r>
          </a:p>
        </p:txBody>
      </p:sp>
      <p:sp>
        <p:nvSpPr>
          <p:cNvPr id="3" name="Content Placeholder 2">
            <a:extLst>
              <a:ext uri="{FF2B5EF4-FFF2-40B4-BE49-F238E27FC236}">
                <a16:creationId xmlns:a16="http://schemas.microsoft.com/office/drawing/2014/main" id="{1524B057-4C80-177E-4B9C-EC8AFDEF36C8}"/>
              </a:ext>
            </a:extLst>
          </p:cNvPr>
          <p:cNvSpPr>
            <a:spLocks noGrp="1"/>
          </p:cNvSpPr>
          <p:nvPr>
            <p:ph idx="1"/>
          </p:nvPr>
        </p:nvSpPr>
        <p:spPr>
          <a:xfrm>
            <a:off x="838199" y="1825625"/>
            <a:ext cx="6564549" cy="4351338"/>
          </a:xfrm>
        </p:spPr>
        <p:txBody>
          <a:bodyPr>
            <a:normAutofit fontScale="85000" lnSpcReduction="10000"/>
          </a:bodyPr>
          <a:lstStyle/>
          <a:p>
            <a:pPr lvl="0"/>
            <a:r>
              <a:rPr b="1" dirty="0"/>
              <a:t>System Purpose</a:t>
            </a:r>
            <a:r>
              <a:rPr dirty="0"/>
              <a:t>: Regulate the flow of people accessing a "restricted" area (e.g., a museum or metro barrier)</a:t>
            </a:r>
          </a:p>
          <a:p>
            <a:pPr lvl="1"/>
            <a:r>
              <a:rPr dirty="0"/>
              <a:t>Allows paying customers to enter, prevents others</a:t>
            </a:r>
          </a:p>
          <a:p>
            <a:pPr lvl="1"/>
            <a:r>
              <a:rPr dirty="0"/>
              <a:t>People use "tokens" for single entry, scanning them to open doors</a:t>
            </a:r>
          </a:p>
          <a:p>
            <a:pPr lvl="0"/>
            <a:r>
              <a:rPr b="1" dirty="0"/>
              <a:t>Example Scenario</a:t>
            </a:r>
            <a:r>
              <a:rPr dirty="0"/>
              <a:t>:</a:t>
            </a:r>
            <a:endParaRPr lang="en-US" dirty="0"/>
          </a:p>
          <a:p>
            <a:pPr lvl="1"/>
            <a:r>
              <a:rPr lang="en-US" dirty="0"/>
              <a:t>Alice, a visitor, wants to enter an exhibition space. To do so, she first buys a token at the counter installed at the entrance of the exhibition area. Then, she approaches the barrier and scans the token. The token is valid, so Alice pushes the doors of the barrier, which swing open. Finally, Alice enters the area, and the doors close.</a:t>
            </a:r>
          </a:p>
        </p:txBody>
      </p:sp>
      <p:sp>
        <p:nvSpPr>
          <p:cNvPr id="4" name="Date Placeholder 3">
            <a:extLst>
              <a:ext uri="{FF2B5EF4-FFF2-40B4-BE49-F238E27FC236}">
                <a16:creationId xmlns:a16="http://schemas.microsoft.com/office/drawing/2014/main" id="{AA4ACF34-61D3-EC83-484D-D43CC8DE4C22}"/>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pic>
        <p:nvPicPr>
          <p:cNvPr id="5" name="Picture 4">
            <a:extLst>
              <a:ext uri="{FF2B5EF4-FFF2-40B4-BE49-F238E27FC236}">
                <a16:creationId xmlns:a16="http://schemas.microsoft.com/office/drawing/2014/main" id="{00A795CE-C383-38CC-3DAF-40DDDE1FE848}"/>
              </a:ext>
            </a:extLst>
          </p:cNvPr>
          <p:cNvPicPr>
            <a:picLocks noChangeAspect="1"/>
          </p:cNvPicPr>
          <p:nvPr/>
        </p:nvPicPr>
        <p:blipFill>
          <a:blip r:embed="rId2"/>
          <a:stretch>
            <a:fillRect/>
          </a:stretch>
        </p:blipFill>
        <p:spPr>
          <a:xfrm rot="5400000">
            <a:off x="7543004" y="1994795"/>
            <a:ext cx="3888818" cy="4012999"/>
          </a:xfrm>
          <a:prstGeom prst="rect">
            <a:avLst/>
          </a:prstGeom>
        </p:spPr>
      </p:pic>
      <p:sp>
        <p:nvSpPr>
          <p:cNvPr id="6" name="Slide Number Placeholder 5">
            <a:extLst>
              <a:ext uri="{FF2B5EF4-FFF2-40B4-BE49-F238E27FC236}">
                <a16:creationId xmlns:a16="http://schemas.microsoft.com/office/drawing/2014/main" id="{50461F84-7761-5526-3E54-269A78439F48}"/>
              </a:ext>
            </a:extLst>
          </p:cNvPr>
          <p:cNvSpPr>
            <a:spLocks noGrp="1"/>
          </p:cNvSpPr>
          <p:nvPr>
            <p:ph type="sldNum" sz="quarter" idx="12"/>
          </p:nvPr>
        </p:nvSpPr>
        <p:spPr/>
        <p:txBody>
          <a:bodyPr/>
          <a:lstStyle/>
          <a:p>
            <a:fld id="{D204BADD-F420-F54C-BEF5-604E8EEED029}" type="slidenum">
              <a:rPr lang="en-US" smtClean="0"/>
              <a:t>13</a:t>
            </a:fld>
            <a:endParaRPr lang="en-US"/>
          </a:p>
        </p:txBody>
      </p:sp>
    </p:spTree>
    <p:extLst>
      <p:ext uri="{BB962C8B-B14F-4D97-AF65-F5344CB8AC3E}">
        <p14:creationId xmlns:p14="http://schemas.microsoft.com/office/powerpoint/2010/main" val="1254267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C0210-DAEA-0B98-5A92-AAEF0948D5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D4595D-8250-3E98-70C7-2F059EACD497}"/>
              </a:ext>
            </a:extLst>
          </p:cNvPr>
          <p:cNvSpPr>
            <a:spLocks noGrp="1"/>
          </p:cNvSpPr>
          <p:nvPr>
            <p:ph type="title"/>
          </p:nvPr>
        </p:nvSpPr>
        <p:spPr/>
        <p:txBody>
          <a:bodyPr/>
          <a:lstStyle/>
          <a:p>
            <a:r>
              <a:t>Case Study: Physical Access Control System</a:t>
            </a:r>
          </a:p>
        </p:txBody>
      </p:sp>
      <p:sp>
        <p:nvSpPr>
          <p:cNvPr id="3" name="Content Placeholder 2">
            <a:extLst>
              <a:ext uri="{FF2B5EF4-FFF2-40B4-BE49-F238E27FC236}">
                <a16:creationId xmlns:a16="http://schemas.microsoft.com/office/drawing/2014/main" id="{297448DA-D3FB-E44C-4460-9CAD63E2B911}"/>
              </a:ext>
            </a:extLst>
          </p:cNvPr>
          <p:cNvSpPr>
            <a:spLocks noGrp="1"/>
          </p:cNvSpPr>
          <p:nvPr>
            <p:ph idx="1"/>
          </p:nvPr>
        </p:nvSpPr>
        <p:spPr/>
        <p:txBody>
          <a:bodyPr>
            <a:normAutofit/>
          </a:bodyPr>
          <a:lstStyle/>
          <a:p>
            <a:pPr lvl="0"/>
            <a:r>
              <a:rPr lang="en-US" b="1" dirty="0"/>
              <a:t>Some </a:t>
            </a:r>
            <a:r>
              <a:rPr b="1" dirty="0"/>
              <a:t>Phenomena</a:t>
            </a:r>
            <a:r>
              <a:rPr dirty="0"/>
              <a:t>:</a:t>
            </a:r>
          </a:p>
          <a:p>
            <a:pPr lvl="1"/>
            <a:r>
              <a:rPr b="1" dirty="0"/>
              <a:t>WP1</a:t>
            </a:r>
            <a:r>
              <a:rPr dirty="0"/>
              <a:t>: Visitor buys a token (World-only)</a:t>
            </a:r>
          </a:p>
          <a:p>
            <a:pPr lvl="1"/>
            <a:r>
              <a:rPr b="1" dirty="0"/>
              <a:t>SWP2</a:t>
            </a:r>
            <a:r>
              <a:rPr dirty="0"/>
              <a:t>: Visitor scans a token (Shared, World-controlled)</a:t>
            </a:r>
          </a:p>
          <a:p>
            <a:pPr lvl="1"/>
            <a:r>
              <a:rPr b="1" dirty="0"/>
              <a:t>SMP5</a:t>
            </a:r>
            <a:r>
              <a:rPr dirty="0"/>
              <a:t>: The doors swing open (Shared, Machine-controlled)</a:t>
            </a:r>
          </a:p>
          <a:p>
            <a:pPr lvl="0"/>
            <a:r>
              <a:rPr lang="en-US" b="1" dirty="0"/>
              <a:t>Some </a:t>
            </a:r>
            <a:r>
              <a:rPr b="1" dirty="0"/>
              <a:t>System Goals</a:t>
            </a:r>
            <a:r>
              <a:rPr dirty="0"/>
              <a:t>:</a:t>
            </a:r>
          </a:p>
          <a:p>
            <a:pPr lvl="1"/>
            <a:r>
              <a:rPr b="1" dirty="0"/>
              <a:t>G1</a:t>
            </a:r>
            <a:r>
              <a:rPr dirty="0"/>
              <a:t>: At any time, entries should never exceed the number of scanned </a:t>
            </a:r>
            <a:r>
              <a:rPr lang="en-US" dirty="0"/>
              <a:t>valid </a:t>
            </a:r>
            <a:r>
              <a:rPr dirty="0"/>
              <a:t>tokens</a:t>
            </a:r>
          </a:p>
          <a:p>
            <a:pPr lvl="1"/>
            <a:r>
              <a:rPr b="1" dirty="0"/>
              <a:t>G2</a:t>
            </a:r>
            <a:r>
              <a:rPr dirty="0"/>
              <a:t>: People who scan </a:t>
            </a:r>
            <a:r>
              <a:rPr lang="en-US" dirty="0"/>
              <a:t>valid </a:t>
            </a:r>
            <a:r>
              <a:rPr dirty="0"/>
              <a:t>tokens are allowed to enter</a:t>
            </a:r>
          </a:p>
        </p:txBody>
      </p:sp>
      <p:sp>
        <p:nvSpPr>
          <p:cNvPr id="4" name="Date Placeholder 3">
            <a:extLst>
              <a:ext uri="{FF2B5EF4-FFF2-40B4-BE49-F238E27FC236}">
                <a16:creationId xmlns:a16="http://schemas.microsoft.com/office/drawing/2014/main" id="{CCEFE004-6F6C-D30E-A510-4033E9DC1915}"/>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86C411CF-9FBA-56E9-DE09-967312E69C07}"/>
              </a:ext>
            </a:extLst>
          </p:cNvPr>
          <p:cNvSpPr>
            <a:spLocks noGrp="1"/>
          </p:cNvSpPr>
          <p:nvPr>
            <p:ph type="sldNum" sz="quarter" idx="12"/>
          </p:nvPr>
        </p:nvSpPr>
        <p:spPr/>
        <p:txBody>
          <a:bodyPr/>
          <a:lstStyle/>
          <a:p>
            <a:fld id="{D204BADD-F420-F54C-BEF5-604E8EEED029}" type="slidenum">
              <a:rPr lang="en-US" smtClean="0"/>
              <a:t>14</a:t>
            </a:fld>
            <a:endParaRPr lang="en-US"/>
          </a:p>
        </p:txBody>
      </p:sp>
    </p:spTree>
    <p:extLst>
      <p:ext uri="{BB962C8B-B14F-4D97-AF65-F5344CB8AC3E}">
        <p14:creationId xmlns:p14="http://schemas.microsoft.com/office/powerpoint/2010/main" val="1038350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Domain Assumptions</a:t>
            </a:r>
          </a:p>
        </p:txBody>
      </p:sp>
      <p:sp>
        <p:nvSpPr>
          <p:cNvPr id="3" name="Content Placeholder 2"/>
          <p:cNvSpPr>
            <a:spLocks noGrp="1"/>
          </p:cNvSpPr>
          <p:nvPr>
            <p:ph idx="1"/>
          </p:nvPr>
        </p:nvSpPr>
        <p:spPr/>
        <p:txBody>
          <a:bodyPr>
            <a:normAutofit fontScale="92500" lnSpcReduction="20000"/>
          </a:bodyPr>
          <a:lstStyle/>
          <a:p>
            <a:pPr lvl="0"/>
            <a:r>
              <a:rPr lang="en-GB" b="1" dirty="0"/>
              <a:t>Some Domain Assumptions</a:t>
            </a:r>
            <a:r>
              <a:rPr lang="en-GB" dirty="0"/>
              <a:t>:</a:t>
            </a:r>
          </a:p>
          <a:p>
            <a:pPr lvl="1"/>
            <a:r>
              <a:rPr b="1" dirty="0"/>
              <a:t>DA1</a:t>
            </a:r>
            <a:r>
              <a:rPr dirty="0"/>
              <a:t>: Visitors only enter the exhibition area when the doors are open</a:t>
            </a:r>
          </a:p>
          <a:p>
            <a:pPr lvl="1"/>
            <a:r>
              <a:rPr b="1" dirty="0"/>
              <a:t>DA2</a:t>
            </a:r>
            <a:r>
              <a:rPr dirty="0"/>
              <a:t>: If a visitor pushes the barrier and the doors open, they enter the exhibition area</a:t>
            </a:r>
          </a:p>
          <a:p>
            <a:pPr lvl="1"/>
            <a:r>
              <a:rPr b="1" dirty="0"/>
              <a:t>DA3</a:t>
            </a:r>
            <a:r>
              <a:rPr dirty="0"/>
              <a:t>: When doors are open, only one visitor can enter within a specified time (</a:t>
            </a:r>
            <a:r>
              <a:rPr i="1" dirty="0"/>
              <a:t>d</a:t>
            </a:r>
            <a:r>
              <a:rPr i="1" baseline="-25000" dirty="0"/>
              <a:t>e</a:t>
            </a:r>
            <a:r>
              <a:rPr dirty="0"/>
              <a:t> time units, needed for doors to close)</a:t>
            </a:r>
          </a:p>
          <a:p>
            <a:pPr lvl="1"/>
            <a:r>
              <a:rPr b="1" dirty="0"/>
              <a:t>DA4</a:t>
            </a:r>
            <a:r>
              <a:rPr dirty="0"/>
              <a:t>: The time the mechanical system takes to open and close the doors is negligible</a:t>
            </a:r>
          </a:p>
          <a:p>
            <a:pPr marL="0" indent="0">
              <a:buNone/>
            </a:pPr>
            <a:r>
              <a:rPr b="1" dirty="0"/>
              <a:t>Importance of Correct Assumptions</a:t>
            </a:r>
            <a:r>
              <a:rPr dirty="0"/>
              <a:t>:</a:t>
            </a:r>
          </a:p>
          <a:p>
            <a:pPr lvl="0"/>
            <a:r>
              <a:rPr dirty="0"/>
              <a:t>If assumptions are faulty (e.g., people jump over barriers, making DA1 false), the reasoning that requirements guarantee goals becomes faulty</a:t>
            </a:r>
          </a:p>
          <a:p>
            <a:pPr lvl="0"/>
            <a:r>
              <a:rPr dirty="0"/>
              <a:t>Guaranteeing assumptions (e.g., taller barriers) </a:t>
            </a:r>
            <a:r>
              <a:rPr lang="en-US" dirty="0"/>
              <a:t>is</a:t>
            </a:r>
            <a:r>
              <a:rPr dirty="0"/>
              <a:t> </a:t>
            </a:r>
            <a:r>
              <a:rPr b="1" dirty="0"/>
              <a:t>outside the scope of the software system</a:t>
            </a:r>
            <a:r>
              <a:rPr dirty="0"/>
              <a:t> being developed</a:t>
            </a:r>
          </a:p>
        </p:txBody>
      </p:sp>
      <p:sp>
        <p:nvSpPr>
          <p:cNvPr id="4" name="Date Placeholder 3">
            <a:extLst>
              <a:ext uri="{FF2B5EF4-FFF2-40B4-BE49-F238E27FC236}">
                <a16:creationId xmlns:a16="http://schemas.microsoft.com/office/drawing/2014/main" id="{ED2175C4-AEA9-891C-0777-DCC524D74218}"/>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A720E72B-DEAF-EC98-D4DF-5BEF69A624BD}"/>
              </a:ext>
            </a:extLst>
          </p:cNvPr>
          <p:cNvSpPr>
            <a:spLocks noGrp="1"/>
          </p:cNvSpPr>
          <p:nvPr>
            <p:ph type="sldNum" sz="quarter" idx="12"/>
          </p:nvPr>
        </p:nvSpPr>
        <p:spPr/>
        <p:txBody>
          <a:bodyPr/>
          <a:lstStyle/>
          <a:p>
            <a:fld id="{D204BADD-F420-F54C-BEF5-604E8EEED029}" type="slidenum">
              <a:rPr lang="en-US" smtClean="0"/>
              <a:t>15</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Derived Requirements</a:t>
            </a:r>
          </a:p>
        </p:txBody>
      </p:sp>
      <p:sp>
        <p:nvSpPr>
          <p:cNvPr id="3" name="Content Placeholder 2"/>
          <p:cNvSpPr>
            <a:spLocks noGrp="1"/>
          </p:cNvSpPr>
          <p:nvPr>
            <p:ph idx="1"/>
          </p:nvPr>
        </p:nvSpPr>
        <p:spPr/>
        <p:txBody>
          <a:bodyPr>
            <a:normAutofit fontScale="92500" lnSpcReduction="10000"/>
          </a:bodyPr>
          <a:lstStyle/>
          <a:p>
            <a:pPr marL="0" indent="0">
              <a:buNone/>
            </a:pPr>
            <a:r>
              <a:rPr dirty="0"/>
              <a:t>To satisfy </a:t>
            </a:r>
            <a:r>
              <a:rPr b="1" dirty="0"/>
              <a:t>Goal G1</a:t>
            </a:r>
            <a:r>
              <a:rPr dirty="0"/>
              <a:t> (entries never exceed scanned tokens), combined with </a:t>
            </a:r>
            <a:r>
              <a:rPr b="1" dirty="0"/>
              <a:t>Domain Assumptions DA1-DA4</a:t>
            </a:r>
            <a:r>
              <a:rPr dirty="0"/>
              <a:t>, the following requirements are identified:</a:t>
            </a:r>
          </a:p>
          <a:p>
            <a:pPr lvl="0"/>
            <a:r>
              <a:rPr b="1" dirty="0"/>
              <a:t>R1</a:t>
            </a:r>
            <a:r>
              <a:rPr dirty="0"/>
              <a:t>: When a visitor pushes the barrier doors, </a:t>
            </a:r>
            <a:r>
              <a:rPr b="1" dirty="0"/>
              <a:t>if </a:t>
            </a:r>
            <a:r>
              <a:rPr lang="en-US" b="1" dirty="0"/>
              <a:t> </a:t>
            </a:r>
            <a:r>
              <a:rPr b="1" dirty="0"/>
              <a:t>(</a:t>
            </a:r>
            <a:r>
              <a:rPr b="1" dirty="0" err="1"/>
              <a:t>doors_opened</a:t>
            </a:r>
            <a:r>
              <a:rPr b="1" dirty="0"/>
              <a:t> &lt; </a:t>
            </a:r>
            <a:r>
              <a:rPr lang="en-US" b="1" dirty="0" err="1"/>
              <a:t>valid_</a:t>
            </a:r>
            <a:r>
              <a:rPr b="1" dirty="0" err="1"/>
              <a:t>tokens_scanned</a:t>
            </a:r>
            <a:r>
              <a:rPr b="1" dirty="0"/>
              <a:t>)</a:t>
            </a:r>
            <a:r>
              <a:rPr dirty="0"/>
              <a:t>, then the system </a:t>
            </a:r>
            <a:r>
              <a:rPr b="1" dirty="0"/>
              <a:t>shall open the doors</a:t>
            </a:r>
            <a:endParaRPr dirty="0"/>
          </a:p>
          <a:p>
            <a:pPr lvl="0"/>
            <a:r>
              <a:rPr b="1" dirty="0"/>
              <a:t>R2</a:t>
            </a:r>
            <a:r>
              <a:rPr dirty="0"/>
              <a:t>: When a visitor pushes the barrier doors, </a:t>
            </a:r>
            <a:r>
              <a:rPr b="1" dirty="0"/>
              <a:t>if </a:t>
            </a:r>
            <a:r>
              <a:rPr lang="en-US" b="1" dirty="0"/>
              <a:t> </a:t>
            </a:r>
            <a:r>
              <a:rPr b="1" dirty="0"/>
              <a:t>(</a:t>
            </a:r>
            <a:r>
              <a:rPr b="1" dirty="0" err="1"/>
              <a:t>doors_opened</a:t>
            </a:r>
            <a:r>
              <a:rPr b="1" dirty="0"/>
              <a:t> = </a:t>
            </a:r>
            <a:r>
              <a:rPr lang="it-IT" b="1" dirty="0" err="1"/>
              <a:t>valid</a:t>
            </a:r>
            <a:r>
              <a:rPr lang="it-IT" b="1" dirty="0"/>
              <a:t>_</a:t>
            </a:r>
            <a:r>
              <a:rPr b="1" dirty="0" err="1"/>
              <a:t>tokens_scanned</a:t>
            </a:r>
            <a:r>
              <a:rPr b="1" dirty="0"/>
              <a:t>)</a:t>
            </a:r>
            <a:r>
              <a:rPr dirty="0"/>
              <a:t>, then the system </a:t>
            </a:r>
            <a:r>
              <a:rPr b="1" dirty="0"/>
              <a:t>shall keep the doors closed</a:t>
            </a:r>
            <a:endParaRPr dirty="0"/>
          </a:p>
          <a:p>
            <a:pPr lvl="0"/>
            <a:r>
              <a:rPr b="1" dirty="0"/>
              <a:t>R3</a:t>
            </a:r>
            <a:r>
              <a:rPr dirty="0"/>
              <a:t>: The system </a:t>
            </a:r>
            <a:r>
              <a:rPr b="1" dirty="0"/>
              <a:t>shall open the doors only if a visitor pushes them</a:t>
            </a:r>
            <a:endParaRPr dirty="0"/>
          </a:p>
          <a:p>
            <a:pPr lvl="0"/>
            <a:r>
              <a:rPr b="1" dirty="0"/>
              <a:t>R4</a:t>
            </a:r>
            <a:r>
              <a:rPr dirty="0"/>
              <a:t>: After the doors open, the system </a:t>
            </a:r>
            <a:r>
              <a:rPr b="1" dirty="0"/>
              <a:t>shall close the doors within </a:t>
            </a:r>
            <a:r>
              <a:rPr b="1" i="1" dirty="0"/>
              <a:t>d</a:t>
            </a:r>
            <a:r>
              <a:rPr b="1" i="1" baseline="-25000" dirty="0"/>
              <a:t>e</a:t>
            </a:r>
            <a:r>
              <a:rPr b="1" dirty="0"/>
              <a:t> time units</a:t>
            </a:r>
            <a:endParaRPr dirty="0"/>
          </a:p>
          <a:p>
            <a:pPr lvl="0"/>
            <a:r>
              <a:rPr b="1" dirty="0"/>
              <a:t>R5</a:t>
            </a:r>
            <a:r>
              <a:rPr dirty="0"/>
              <a:t>: </a:t>
            </a:r>
            <a:r>
              <a:rPr b="1" dirty="0"/>
              <a:t>Initially, the system shall close the doors</a:t>
            </a:r>
            <a:endParaRPr dirty="0"/>
          </a:p>
        </p:txBody>
      </p:sp>
      <p:sp>
        <p:nvSpPr>
          <p:cNvPr id="4" name="Date Placeholder 3">
            <a:extLst>
              <a:ext uri="{FF2B5EF4-FFF2-40B4-BE49-F238E27FC236}">
                <a16:creationId xmlns:a16="http://schemas.microsoft.com/office/drawing/2014/main" id="{857D2D94-2A31-C4FB-34E6-9D00C78685F1}"/>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848B6D9D-AEBC-5125-BD25-EA7E460C7263}"/>
              </a:ext>
            </a:extLst>
          </p:cNvPr>
          <p:cNvSpPr>
            <a:spLocks noGrp="1"/>
          </p:cNvSpPr>
          <p:nvPr>
            <p:ph type="sldNum" sz="quarter" idx="12"/>
          </p:nvPr>
        </p:nvSpPr>
        <p:spPr/>
        <p:txBody>
          <a:bodyPr/>
          <a:lstStyle/>
          <a:p>
            <a:fld id="{D204BADD-F420-F54C-BEF5-604E8EEED029}" type="slidenum">
              <a:rPr lang="en-US" smtClean="0"/>
              <a:t>16</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A528B-1FB6-3906-8A78-222C71995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0FA4B-D635-C80F-90FD-CF3CB68110E8}"/>
              </a:ext>
            </a:extLst>
          </p:cNvPr>
          <p:cNvSpPr>
            <a:spLocks noGrp="1"/>
          </p:cNvSpPr>
          <p:nvPr>
            <p:ph type="title"/>
          </p:nvPr>
        </p:nvSpPr>
        <p:spPr/>
        <p:txBody>
          <a:bodyPr/>
          <a:lstStyle/>
          <a:p>
            <a:r>
              <a:rPr lang="en-IT" dirty="0"/>
              <a:t>Show that G1 holds</a:t>
            </a:r>
          </a:p>
        </p:txBody>
      </p:sp>
      <p:sp>
        <p:nvSpPr>
          <p:cNvPr id="3" name="Content Placeholder 2">
            <a:extLst>
              <a:ext uri="{FF2B5EF4-FFF2-40B4-BE49-F238E27FC236}">
                <a16:creationId xmlns:a16="http://schemas.microsoft.com/office/drawing/2014/main" id="{6983A69A-FC7B-CFEE-31A0-AA8976DD2A41}"/>
              </a:ext>
            </a:extLst>
          </p:cNvPr>
          <p:cNvSpPr>
            <a:spLocks noGrp="1"/>
          </p:cNvSpPr>
          <p:nvPr>
            <p:ph idx="1"/>
          </p:nvPr>
        </p:nvSpPr>
        <p:spPr/>
        <p:txBody>
          <a:bodyPr>
            <a:normAutofit/>
          </a:bodyPr>
          <a:lstStyle/>
          <a:p>
            <a:r>
              <a:rPr lang="en-GB" dirty="0"/>
              <a:t>We show that R1, R2, R3, R4, R5, DA1, DA2, DA3, DA4 guarantee G1</a:t>
            </a:r>
          </a:p>
          <a:p>
            <a:pPr lvl="1"/>
            <a:r>
              <a:rPr lang="en-GB" dirty="0"/>
              <a:t>R1, R2, R3, R4, R5, DA1, DA2, DA3, DA4 ⊨ G1</a:t>
            </a:r>
          </a:p>
          <a:p>
            <a:r>
              <a:rPr lang="en-GB" b="1" dirty="0"/>
              <a:t>First</a:t>
            </a:r>
            <a:r>
              <a:rPr lang="en-GB" dirty="0"/>
              <a:t>, we show that </a:t>
            </a:r>
            <a:r>
              <a:rPr lang="en-GB" b="1" dirty="0" err="1"/>
              <a:t>number_entries</a:t>
            </a:r>
            <a:r>
              <a:rPr lang="en-GB" b="1" dirty="0"/>
              <a:t> ≤ </a:t>
            </a:r>
            <a:r>
              <a:rPr lang="en-GB" b="1" dirty="0" err="1"/>
              <a:t>doors_opened</a:t>
            </a:r>
            <a:endParaRPr lang="en-GB" dirty="0"/>
          </a:p>
          <a:p>
            <a:pPr lvl="1"/>
            <a:r>
              <a:rPr lang="en-GB" dirty="0"/>
              <a:t>From R5 and DA1, initially no one can enter the exhibition area, unless the doors open</a:t>
            </a:r>
          </a:p>
          <a:p>
            <a:pPr lvl="1"/>
            <a:r>
              <a:rPr lang="en-GB" dirty="0"/>
              <a:t>From DA2 and R3, each new opening of the doors corresponds to a visitor entering the exhibition area, where the opening occurs before the entering</a:t>
            </a:r>
          </a:p>
          <a:p>
            <a:pPr lvl="1"/>
            <a:r>
              <a:rPr lang="en-GB" dirty="0"/>
              <a:t>From R4, DA3 and DA4, only one visitor enters when the doors open</a:t>
            </a:r>
          </a:p>
          <a:p>
            <a:pPr lvl="1"/>
            <a:r>
              <a:rPr lang="en-GB" dirty="0"/>
              <a:t>Thus, </a:t>
            </a:r>
            <a:r>
              <a:rPr lang="en-GB" b="1" dirty="0" err="1"/>
              <a:t>number_entries</a:t>
            </a:r>
            <a:r>
              <a:rPr lang="en-GB" b="1" dirty="0"/>
              <a:t> ≤ </a:t>
            </a:r>
            <a:r>
              <a:rPr lang="en-GB" b="1" dirty="0" err="1"/>
              <a:t>doors_opened</a:t>
            </a:r>
            <a:r>
              <a:rPr lang="en-GB" b="1" dirty="0"/>
              <a:t> </a:t>
            </a:r>
            <a:r>
              <a:rPr lang="en-GB" dirty="0"/>
              <a:t>holds at any time</a:t>
            </a:r>
          </a:p>
        </p:txBody>
      </p:sp>
      <p:sp>
        <p:nvSpPr>
          <p:cNvPr id="5" name="Slide Number Placeholder 4">
            <a:extLst>
              <a:ext uri="{FF2B5EF4-FFF2-40B4-BE49-F238E27FC236}">
                <a16:creationId xmlns:a16="http://schemas.microsoft.com/office/drawing/2014/main" id="{4DE2C821-B5D0-1D4B-5506-A2F5614E2FED}"/>
              </a:ext>
            </a:extLst>
          </p:cNvPr>
          <p:cNvSpPr>
            <a:spLocks noGrp="1"/>
          </p:cNvSpPr>
          <p:nvPr>
            <p:ph type="sldNum" sz="quarter" idx="12"/>
          </p:nvPr>
        </p:nvSpPr>
        <p:spPr/>
        <p:txBody>
          <a:bodyPr/>
          <a:lstStyle/>
          <a:p>
            <a:fld id="{9940DCBF-6A0F-2A4A-812C-7CF1FBB50149}" type="slidenum">
              <a:rPr lang="en-IT" smtClean="0"/>
              <a:t>17</a:t>
            </a:fld>
            <a:endParaRPr lang="en-IT"/>
          </a:p>
        </p:txBody>
      </p:sp>
      <p:sp>
        <p:nvSpPr>
          <p:cNvPr id="6" name="Date Placeholder 5">
            <a:extLst>
              <a:ext uri="{FF2B5EF4-FFF2-40B4-BE49-F238E27FC236}">
                <a16:creationId xmlns:a16="http://schemas.microsoft.com/office/drawing/2014/main" id="{0954B5D4-48E5-0CCA-1E0B-E3629FF6E4CA}"/>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Tree>
    <p:extLst>
      <p:ext uri="{BB962C8B-B14F-4D97-AF65-F5344CB8AC3E}">
        <p14:creationId xmlns:p14="http://schemas.microsoft.com/office/powerpoint/2010/main" val="570115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84503-812A-0609-D2A1-BD57907CD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B98ED-171F-8CB2-B3B7-34AC14F9036A}"/>
              </a:ext>
            </a:extLst>
          </p:cNvPr>
          <p:cNvSpPr>
            <a:spLocks noGrp="1"/>
          </p:cNvSpPr>
          <p:nvPr>
            <p:ph type="title"/>
          </p:nvPr>
        </p:nvSpPr>
        <p:spPr/>
        <p:txBody>
          <a:bodyPr/>
          <a:lstStyle/>
          <a:p>
            <a:r>
              <a:rPr lang="en-IT" dirty="0"/>
              <a:t>Show that G1 holds</a:t>
            </a:r>
          </a:p>
        </p:txBody>
      </p:sp>
      <p:sp>
        <p:nvSpPr>
          <p:cNvPr id="3" name="Content Placeholder 2">
            <a:extLst>
              <a:ext uri="{FF2B5EF4-FFF2-40B4-BE49-F238E27FC236}">
                <a16:creationId xmlns:a16="http://schemas.microsoft.com/office/drawing/2014/main" id="{95D08D12-71B3-D4AD-3DF4-4DBE50F8BE37}"/>
              </a:ext>
            </a:extLst>
          </p:cNvPr>
          <p:cNvSpPr>
            <a:spLocks noGrp="1"/>
          </p:cNvSpPr>
          <p:nvPr>
            <p:ph idx="1"/>
          </p:nvPr>
        </p:nvSpPr>
        <p:spPr/>
        <p:txBody>
          <a:bodyPr>
            <a:normAutofit/>
          </a:bodyPr>
          <a:lstStyle/>
          <a:p>
            <a:r>
              <a:rPr lang="en-GB" b="1" dirty="0"/>
              <a:t>Second</a:t>
            </a:r>
            <a:r>
              <a:rPr lang="en-GB" dirty="0"/>
              <a:t>, we show that </a:t>
            </a:r>
            <a:r>
              <a:rPr lang="en-GB" b="1" dirty="0" err="1"/>
              <a:t>doors_opened</a:t>
            </a:r>
            <a:r>
              <a:rPr lang="en-GB" b="1" dirty="0"/>
              <a:t> ≤ </a:t>
            </a:r>
            <a:r>
              <a:rPr lang="en-US" b="1" dirty="0" err="1"/>
              <a:t>valid_tokens_scanned</a:t>
            </a:r>
            <a:endParaRPr lang="en-GB" dirty="0"/>
          </a:p>
          <a:p>
            <a:pPr lvl="1"/>
            <a:r>
              <a:rPr lang="en-GB" dirty="0"/>
              <a:t>Tokens can be scanned only after the system starts, so initially </a:t>
            </a:r>
            <a:r>
              <a:rPr lang="en-US" b="1" dirty="0" err="1"/>
              <a:t>valid_tokens_scanned</a:t>
            </a:r>
            <a:r>
              <a:rPr lang="en-US" b="1" dirty="0"/>
              <a:t> </a:t>
            </a:r>
            <a:r>
              <a:rPr lang="en-GB" i="1" dirty="0"/>
              <a:t>=</a:t>
            </a:r>
            <a:r>
              <a:rPr lang="en-GB" dirty="0"/>
              <a:t> 0</a:t>
            </a:r>
          </a:p>
          <a:p>
            <a:pPr lvl="1"/>
            <a:r>
              <a:rPr lang="en-GB" dirty="0"/>
              <a:t>From R3, the doors do not open if there is no push</a:t>
            </a:r>
          </a:p>
          <a:p>
            <a:pPr lvl="1"/>
            <a:r>
              <a:rPr lang="en-GB" dirty="0"/>
              <a:t>R1, R2 and R3 together entail that the doors open if, and only if, a visitor pushes the doors and </a:t>
            </a:r>
            <a:r>
              <a:rPr lang="en-GB" b="1" dirty="0" err="1"/>
              <a:t>doors_opened</a:t>
            </a:r>
            <a:r>
              <a:rPr lang="en-GB" b="1" dirty="0"/>
              <a:t> &lt; </a:t>
            </a:r>
            <a:r>
              <a:rPr lang="en-US" b="1" dirty="0" err="1"/>
              <a:t>valid_tokens_scanned</a:t>
            </a:r>
            <a:r>
              <a:rPr lang="en-GB" dirty="0"/>
              <a:t> holds</a:t>
            </a:r>
          </a:p>
          <a:p>
            <a:pPr lvl="1"/>
            <a:r>
              <a:rPr lang="en-GB" dirty="0"/>
              <a:t>Hence, </a:t>
            </a:r>
            <a:r>
              <a:rPr lang="en-GB" b="1" dirty="0" err="1"/>
              <a:t>doors_opened</a:t>
            </a:r>
            <a:r>
              <a:rPr lang="en-GB" b="1" dirty="0"/>
              <a:t> ≤ </a:t>
            </a:r>
            <a:r>
              <a:rPr lang="en-US" b="1" dirty="0" err="1"/>
              <a:t>valid_tokens_scanned</a:t>
            </a:r>
            <a:r>
              <a:rPr lang="en-GB" dirty="0"/>
              <a:t> holds at all times</a:t>
            </a:r>
          </a:p>
          <a:p>
            <a:r>
              <a:rPr lang="en-GB" dirty="0"/>
              <a:t>Finally, </a:t>
            </a:r>
            <a:r>
              <a:rPr lang="en-GB" b="1" dirty="0" err="1"/>
              <a:t>number_entries</a:t>
            </a:r>
            <a:r>
              <a:rPr lang="en-GB" b="1" dirty="0"/>
              <a:t> ≤ </a:t>
            </a:r>
            <a:r>
              <a:rPr lang="en-GB" b="1" dirty="0" err="1"/>
              <a:t>doors_opened</a:t>
            </a:r>
            <a:r>
              <a:rPr lang="en-GB" b="1" dirty="0"/>
              <a:t> ≤ </a:t>
            </a:r>
            <a:r>
              <a:rPr lang="en-US" b="1" dirty="0" err="1"/>
              <a:t>valid_tokens_scanned</a:t>
            </a:r>
            <a:r>
              <a:rPr lang="en-US" dirty="0"/>
              <a:t> holds, which entails that </a:t>
            </a:r>
            <a:r>
              <a:rPr lang="en-GB" b="1" dirty="0"/>
              <a:t>G1 is satisfied</a:t>
            </a:r>
          </a:p>
        </p:txBody>
      </p:sp>
      <p:sp>
        <p:nvSpPr>
          <p:cNvPr id="5" name="Slide Number Placeholder 4">
            <a:extLst>
              <a:ext uri="{FF2B5EF4-FFF2-40B4-BE49-F238E27FC236}">
                <a16:creationId xmlns:a16="http://schemas.microsoft.com/office/drawing/2014/main" id="{6468F572-94DE-3C0F-BEAD-73B228859DE7}"/>
              </a:ext>
            </a:extLst>
          </p:cNvPr>
          <p:cNvSpPr>
            <a:spLocks noGrp="1"/>
          </p:cNvSpPr>
          <p:nvPr>
            <p:ph type="sldNum" sz="quarter" idx="12"/>
          </p:nvPr>
        </p:nvSpPr>
        <p:spPr/>
        <p:txBody>
          <a:bodyPr/>
          <a:lstStyle/>
          <a:p>
            <a:fld id="{9940DCBF-6A0F-2A4A-812C-7CF1FBB50149}" type="slidenum">
              <a:rPr lang="en-IT" smtClean="0"/>
              <a:t>18</a:t>
            </a:fld>
            <a:endParaRPr lang="en-IT"/>
          </a:p>
        </p:txBody>
      </p:sp>
      <p:sp>
        <p:nvSpPr>
          <p:cNvPr id="6" name="Date Placeholder 5">
            <a:extLst>
              <a:ext uri="{FF2B5EF4-FFF2-40B4-BE49-F238E27FC236}">
                <a16:creationId xmlns:a16="http://schemas.microsoft.com/office/drawing/2014/main" id="{629A76AC-1554-176F-04AE-1375C27DFFDB}"/>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Tree>
    <p:extLst>
      <p:ext uri="{BB962C8B-B14F-4D97-AF65-F5344CB8AC3E}">
        <p14:creationId xmlns:p14="http://schemas.microsoft.com/office/powerpoint/2010/main" val="1325875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Wrap-up</a:t>
            </a:r>
          </a:p>
        </p:txBody>
      </p:sp>
      <p:sp>
        <p:nvSpPr>
          <p:cNvPr id="3" name="Content Placeholder 2"/>
          <p:cNvSpPr>
            <a:spLocks noGrp="1"/>
          </p:cNvSpPr>
          <p:nvPr>
            <p:ph idx="1"/>
          </p:nvPr>
        </p:nvSpPr>
        <p:spPr/>
        <p:txBody>
          <a:bodyPr>
            <a:normAutofit/>
          </a:bodyPr>
          <a:lstStyle/>
          <a:p>
            <a:pPr lvl="0"/>
            <a:r>
              <a:rPr b="1" dirty="0"/>
              <a:t>Requirements Elicitation</a:t>
            </a:r>
            <a:r>
              <a:rPr dirty="0"/>
              <a:t> is the </a:t>
            </a:r>
            <a:r>
              <a:rPr b="1" dirty="0"/>
              <a:t>first and critical stage</a:t>
            </a:r>
            <a:r>
              <a:rPr dirty="0"/>
              <a:t> of the Requirements Engineering workflow</a:t>
            </a:r>
          </a:p>
          <a:p>
            <a:pPr lvl="0"/>
            <a:r>
              <a:rPr dirty="0"/>
              <a:t>It involves addressing </a:t>
            </a:r>
            <a:r>
              <a:rPr b="1" dirty="0"/>
              <a:t>significant challenges</a:t>
            </a:r>
            <a:r>
              <a:rPr dirty="0"/>
              <a:t> such as implicit knowledge, conflicting stakeholder views, and complex environments</a:t>
            </a:r>
          </a:p>
          <a:p>
            <a:pPr lvl="0"/>
            <a:r>
              <a:rPr b="1" dirty="0"/>
              <a:t>Key Approaches Covered</a:t>
            </a:r>
            <a:endParaRPr dirty="0"/>
          </a:p>
          <a:p>
            <a:pPr lvl="1"/>
            <a:r>
              <a:rPr b="1" dirty="0"/>
              <a:t>Scenarios and Use Cases</a:t>
            </a:r>
            <a:r>
              <a:rPr dirty="0"/>
              <a:t>: Provide a </a:t>
            </a:r>
            <a:r>
              <a:rPr b="1" dirty="0"/>
              <a:t>bottom-up</a:t>
            </a:r>
            <a:r>
              <a:rPr dirty="0"/>
              <a:t>, concrete way to describe interactions and derive requirements</a:t>
            </a:r>
          </a:p>
          <a:p>
            <a:pPr lvl="1"/>
            <a:r>
              <a:rPr b="1" dirty="0"/>
              <a:t>Goal-Driven Approach</a:t>
            </a:r>
            <a:r>
              <a:rPr dirty="0"/>
              <a:t>: Offers a </a:t>
            </a:r>
            <a:r>
              <a:rPr b="1" dirty="0"/>
              <a:t>top-down</a:t>
            </a:r>
            <a:r>
              <a:rPr dirty="0"/>
              <a:t> method, deriving requirements from system goals, validated by domain assumptions</a:t>
            </a:r>
          </a:p>
        </p:txBody>
      </p:sp>
      <p:sp>
        <p:nvSpPr>
          <p:cNvPr id="4" name="Date Placeholder 3">
            <a:extLst>
              <a:ext uri="{FF2B5EF4-FFF2-40B4-BE49-F238E27FC236}">
                <a16:creationId xmlns:a16="http://schemas.microsoft.com/office/drawing/2014/main" id="{41FB99BF-399B-5D0B-3683-4DCD5904ADDE}"/>
              </a:ext>
            </a:extLst>
          </p:cNvPr>
          <p:cNvSpPr>
            <a:spLocks noGrp="1"/>
          </p:cNvSpPr>
          <p:nvPr>
            <p:ph type="dt" sz="half" idx="10"/>
          </p:nvPr>
        </p:nvSpPr>
        <p:spPr/>
        <p:txBody>
          <a:bodyPr/>
          <a:lstStyle/>
          <a:p>
            <a:r>
              <a:rPr lang="it-IT"/>
              <a:t>Chapter 6 -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238A4B8E-6960-318A-9068-655CD2D3A8D1}"/>
              </a:ext>
            </a:extLst>
          </p:cNvPr>
          <p:cNvSpPr>
            <a:spLocks noGrp="1"/>
          </p:cNvSpPr>
          <p:nvPr>
            <p:ph type="sldNum" sz="quarter" idx="12"/>
          </p:nvPr>
        </p:nvSpPr>
        <p:spPr/>
        <p:txBody>
          <a:bodyPr/>
          <a:lstStyle/>
          <a:p>
            <a:fld id="{D204BADD-F420-F54C-BEF5-604E8EEED029}" type="slidenum">
              <a:rPr lang="en-US" smtClean="0"/>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4918</TotalTime>
  <Words>2819</Words>
  <Application>Microsoft Macintosh PowerPoint</Application>
  <PresentationFormat>Widescreen</PresentationFormat>
  <Paragraphs>180</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Cambria Math</vt:lpstr>
      <vt:lpstr>Office Theme</vt:lpstr>
      <vt:lpstr>Chapter 6:  Requirements Elicitation</vt:lpstr>
      <vt:lpstr>Introduction to Requirements Elicitation</vt:lpstr>
      <vt:lpstr>Challenges in Requirements Elicitation</vt:lpstr>
      <vt:lpstr>Challenges in Requirements Elicitation</vt:lpstr>
      <vt:lpstr>Requirements Elicitation Approaches</vt:lpstr>
      <vt:lpstr>Scenarios - Definition and Purpose</vt:lpstr>
      <vt:lpstr>Scenario Example: Ambulance Dispatching System</vt:lpstr>
      <vt:lpstr>Identifying Scenarios</vt:lpstr>
      <vt:lpstr>From Scenarios to Use Cases</vt:lpstr>
      <vt:lpstr>Use Case Typical Structure</vt:lpstr>
      <vt:lpstr>Use Case Example: "Report Emergency"</vt:lpstr>
      <vt:lpstr>Detailing UCs &amp; Deriving Requirements</vt:lpstr>
      <vt:lpstr>From Goals to Requirements</vt:lpstr>
      <vt:lpstr>Case Study: Physical Access Control System</vt:lpstr>
      <vt:lpstr>Case Study: Physical Access Control System</vt:lpstr>
      <vt:lpstr>Domain Assumptions</vt:lpstr>
      <vt:lpstr>Derived Requirements</vt:lpstr>
      <vt:lpstr>Show that G1 holds</vt:lpstr>
      <vt:lpstr>Show that G1 holds</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Elisabetta Di Nitto</dc:creator>
  <cp:lastModifiedBy>Matteo G. Rossi</cp:lastModifiedBy>
  <cp:revision>30</cp:revision>
  <dcterms:created xsi:type="dcterms:W3CDTF">2025-05-15T11:20:47Z</dcterms:created>
  <dcterms:modified xsi:type="dcterms:W3CDTF">2026-01-03T16:38:53Z</dcterms:modified>
</cp:coreProperties>
</file>