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300" r:id="rId4"/>
    <p:sldId id="257" r:id="rId5"/>
    <p:sldId id="258" r:id="rId6"/>
    <p:sldId id="288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289" r:id="rId18"/>
    <p:sldId id="28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58"/>
  </p:normalViewPr>
  <p:slideViewPr>
    <p:cSldViewPr snapToGrid="0">
      <p:cViewPr varScale="1">
        <p:scale>
          <a:sx n="109" d="100"/>
          <a:sy n="109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B64D338-9D73-A11E-33DA-E1B3EFEAE7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72F049-0FF7-59D4-3209-C5D316FC0E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BEDD6BA-03FA-2D94-3497-C46077CCC2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A6E1E32-715F-CBAD-0293-F674D0A736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F7A668-BFB4-36F1-9118-A39A3A6EEC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2BBACB-CB64-2267-2803-E9BE8B83B9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AF5D44-6DD5-BCAB-7073-0ED2099135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3DD25BC-6E39-8BF3-5B08-425026ADC5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0355B17-E662-ED63-9E92-6E44148639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6C9577E-4409-0CEC-5A71-61B16E21C3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7BC2FA4-7BB1-5F21-7E84-58E0BF9AF8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20:</a:t>
            </a:r>
            <a:br>
              <a:rPr lang="en-US" dirty="0"/>
            </a:br>
            <a:r>
              <a:rPr lang="en-US" dirty="0"/>
              <a:t> The Act of 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Act of Coding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Chapter 20</a:t>
            </a:r>
          </a:p>
          <a:p>
            <a:r>
              <a:rPr lang="en-GB" b="1" dirty="0"/>
              <a:t>Focus</a:t>
            </a:r>
            <a:r>
              <a:rPr lang="en-GB" dirty="0"/>
              <a:t>: Coding and IDEs, Managing the </a:t>
            </a:r>
          </a:p>
          <a:p>
            <a:pPr marL="0" indent="0">
              <a:buNone/>
            </a:pPr>
            <a:r>
              <a:rPr lang="en-GB" dirty="0"/>
              <a:t>Technical space, coding conventions, CI/CD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A63C-1FBB-4436-9082-3A2E9D51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46A0E-47BD-D559-F37B-1AAC951E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663F6-D297-735B-CDC9-15944492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817" y="1803177"/>
            <a:ext cx="2997872" cy="4263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DF5A-F5E0-00A3-115B-69BD90164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53307-932C-C0CE-517C-0A688E7D1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Familiarise with the notion of Integrated Development</a:t>
            </a:r>
          </a:p>
          <a:p>
            <a:r>
              <a:rPr lang="en-IT" dirty="0"/>
              <a:t>Understand coding and its standards/conventions</a:t>
            </a:r>
          </a:p>
          <a:p>
            <a:r>
              <a:rPr lang="en-IT" dirty="0"/>
              <a:t>Understanding what happens after coding in CI/CD</a:t>
            </a:r>
          </a:p>
          <a:p>
            <a:r>
              <a:rPr lang="en-IT" dirty="0"/>
              <a:t>Figuring out dependency management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DEF71-54E0-0467-7E3F-4DB433549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7FE7A-3D8E-818B-23E1-2DD442A25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81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F063-8A8B-C911-1858-1015BD86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Act of Coding: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4DF6E-5760-8C5A-2A13-B804E3DCC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Integrated Development Environments (IDEs) are the host of all activity</a:t>
            </a:r>
          </a:p>
          <a:p>
            <a:r>
              <a:rPr lang="en-US" dirty="0" err="1"/>
              <a:t>Typicals</a:t>
            </a:r>
            <a:r>
              <a:rPr lang="en-US" dirty="0"/>
              <a:t> include: </a:t>
            </a:r>
          </a:p>
          <a:p>
            <a:pPr lvl="1"/>
            <a:r>
              <a:rPr lang="en-US" dirty="0"/>
              <a:t>coding itself (with conventions and their enforcement);</a:t>
            </a:r>
          </a:p>
          <a:p>
            <a:pPr lvl="1"/>
            <a:r>
              <a:rPr lang="en-US" dirty="0"/>
              <a:t>Debugging; </a:t>
            </a:r>
          </a:p>
          <a:p>
            <a:pPr lvl="1"/>
            <a:r>
              <a:rPr lang="en-US" dirty="0"/>
              <a:t>dependencies &amp; config management; </a:t>
            </a:r>
          </a:p>
          <a:p>
            <a:pPr lvl="1"/>
            <a:r>
              <a:rPr lang="en-US" dirty="0"/>
              <a:t>version control and CI/CD;</a:t>
            </a:r>
          </a:p>
          <a:p>
            <a:pPr lvl="1"/>
            <a:endParaRPr lang="en-US" dirty="0"/>
          </a:p>
          <a:p>
            <a:r>
              <a:rPr lang="en-US" dirty="0"/>
              <a:t>Emerging paradigms include Low-Code/</a:t>
            </a:r>
            <a:r>
              <a:rPr lang="en-US" dirty="0" err="1"/>
              <a:t>NoCode</a:t>
            </a:r>
            <a:r>
              <a:rPr lang="en-US" dirty="0"/>
              <a:t> &amp; AI Coding;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E06F8-CE37-7C5E-6F02-9161B680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AE1E0-E22C-2FA4-0F61-2A209266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78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A17C9-E6D0-F83C-DF06-306D39553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6065-8B43-9910-2514-283B05CD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480F6-EABD-AC18-28C7-279CCC9EB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a code editor provides facilities for guided code development (and eventually, maintenance);</a:t>
            </a:r>
          </a:p>
          <a:p>
            <a:endParaRPr lang="en-US" dirty="0"/>
          </a:p>
          <a:p>
            <a:r>
              <a:rPr lang="en-US" dirty="0"/>
              <a:t>Applying and maintaining code conventions aid in </a:t>
            </a:r>
            <a:r>
              <a:rPr lang="en-US" u="sng" dirty="0"/>
              <a:t>readability</a:t>
            </a:r>
            <a:r>
              <a:rPr lang="en-US" dirty="0"/>
              <a:t>, one of the direst problems with coding itself;</a:t>
            </a:r>
          </a:p>
          <a:p>
            <a:endParaRPr lang="en-US" u="sng" dirty="0"/>
          </a:p>
          <a:p>
            <a:r>
              <a:rPr lang="en-US" dirty="0"/>
              <a:t>Modern IDEs also provide code-completion and intelligent code assistance;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09CB5-B391-DAE0-0E86-71FEE96A6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8A7A0-2277-245F-A53B-9DC1A014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AA57BE-7CD8-1743-E43A-A607C6C14538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IDEs Explained: Basics</a:t>
            </a:r>
          </a:p>
        </p:txBody>
      </p:sp>
    </p:spTree>
    <p:extLst>
      <p:ext uri="{BB962C8B-B14F-4D97-AF65-F5344CB8AC3E}">
        <p14:creationId xmlns:p14="http://schemas.microsoft.com/office/powerpoint/2010/main" val="70956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D3C9D-BFA0-A995-6C0E-09F9080C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4DB7C-63D0-930A-8C77-388109A5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20852-A203-D1E5-98E7-7414271DD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 automation is often performed at IDE level;</a:t>
            </a:r>
          </a:p>
          <a:p>
            <a:pPr lvl="1"/>
            <a:r>
              <a:rPr lang="en-US" dirty="0"/>
              <a:t>IDE can manage compilation, and even (continuous) release;</a:t>
            </a:r>
          </a:p>
          <a:p>
            <a:pPr lvl="1"/>
            <a:endParaRPr lang="en-US" dirty="0"/>
          </a:p>
          <a:p>
            <a:r>
              <a:rPr lang="en-US" dirty="0"/>
              <a:t>By means of models (e.g., UML) code can be navigated and browsed freely;</a:t>
            </a:r>
          </a:p>
          <a:p>
            <a:pPr lvl="1"/>
            <a:r>
              <a:rPr lang="en-US" dirty="0"/>
              <a:t>The same approach can be leveraged for automated documentation generation;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A9ADE-7EB2-03FC-4B04-E106F94C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12044-EDCE-A9F0-2DCE-15AE0A6A3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20 - M. Camilli, E. Di Nitto, A. Fuggetta, A. Margara, M.G. Rossi, D.A. Tamburri.  Software Engineering: 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EE8071-B5B6-B8AA-E400-B877779DFC94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IDEs Explained: Basics (cont’d)</a:t>
            </a:r>
          </a:p>
        </p:txBody>
      </p:sp>
    </p:spTree>
    <p:extLst>
      <p:ext uri="{BB962C8B-B14F-4D97-AF65-F5344CB8AC3E}">
        <p14:creationId xmlns:p14="http://schemas.microsoft.com/office/powerpoint/2010/main" val="1253635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FA4AB-25F8-E379-AE3D-30CDECE69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IDEs Explained: Coding Conventions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18B77-37F6-7268-26B7-2457308A2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C4A66-9817-576E-14F8-EF64EF04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71D63E-1399-09D8-D057-52C001605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Enhanced readability;</a:t>
            </a:r>
          </a:p>
          <a:p>
            <a:endParaRPr lang="en-GB" dirty="0"/>
          </a:p>
          <a:p>
            <a:r>
              <a:rPr lang="en-GB" dirty="0"/>
              <a:t>Improved maintainability (e.g., improves diffing capabilities);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Smoother collaboration (better cross-understanding);</a:t>
            </a:r>
          </a:p>
          <a:p>
            <a:endParaRPr lang="en-GB" dirty="0"/>
          </a:p>
          <a:p>
            <a:r>
              <a:rPr lang="en-GB" dirty="0"/>
              <a:t>Automated enforcement via tooling (e.g., auto-formatters, linters…)</a:t>
            </a:r>
          </a:p>
        </p:txBody>
      </p:sp>
    </p:spTree>
    <p:extLst>
      <p:ext uri="{BB962C8B-B14F-4D97-AF65-F5344CB8AC3E}">
        <p14:creationId xmlns:p14="http://schemas.microsoft.com/office/powerpoint/2010/main" val="2278855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1D7E4-70DF-F074-85AB-13AFC32A7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4E361-6A2B-B2D8-FA6B-A90395D31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IDEs Explained: Coding Conventions (cont’d)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7E77D-1BF2-0BB0-A24F-805A462C7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72DDB6-3929-4B00-B1F8-4403C6FB8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D098A8C-D48D-FA29-23BE-30230135F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Enhanced readability;</a:t>
            </a:r>
          </a:p>
          <a:p>
            <a:endParaRPr lang="en-GB" dirty="0"/>
          </a:p>
          <a:p>
            <a:r>
              <a:rPr lang="en-GB" dirty="0"/>
              <a:t>Improved maintainability (e.g., improves diffing capabilities);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Smoother collaboration (better cross-understanding);</a:t>
            </a:r>
          </a:p>
          <a:p>
            <a:endParaRPr lang="en-GB" dirty="0"/>
          </a:p>
          <a:p>
            <a:r>
              <a:rPr lang="en-GB" dirty="0"/>
              <a:t>Automated enforcement via tooling (e.g., auto-formatters, linters…)</a:t>
            </a:r>
          </a:p>
        </p:txBody>
      </p:sp>
    </p:spTree>
    <p:extLst>
      <p:ext uri="{BB962C8B-B14F-4D97-AF65-F5344CB8AC3E}">
        <p14:creationId xmlns:p14="http://schemas.microsoft.com/office/powerpoint/2010/main" val="2034564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9B168C2-0646-EFA6-E70C-26617C9D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Coding Conventions, an example: Python</a:t>
            </a:r>
          </a:p>
        </p:txBody>
      </p:sp>
      <p:pic>
        <p:nvPicPr>
          <p:cNvPr id="7" name="Content Placeholder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DF0B39B-14BE-BB32-0CBD-BFE4AADFD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84520"/>
            <a:ext cx="10515600" cy="3233547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B19EE-3475-436B-09DF-5497F0B0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769962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900"/>
              <a:t>Chapter 20 - M. Camilli, E. Di Nitto, A. Fuggetta, A. Margara, M.G. Rossi, D.A. Tamburri.  Software Engineering: a Structured Journey from Inception to Delivery. BUP 2025.</a:t>
            </a:r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4ED47-EF2C-3341-06E8-1B16EC0FA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5802" y="6356350"/>
            <a:ext cx="101799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204BADD-F420-F54C-BEF5-604E8EEED029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9A79B4-CE32-6D98-55E2-C7A74DF11879}"/>
              </a:ext>
            </a:extLst>
          </p:cNvPr>
          <p:cNvSpPr/>
          <p:nvPr/>
        </p:nvSpPr>
        <p:spPr>
          <a:xfrm>
            <a:off x="3118757" y="3020786"/>
            <a:ext cx="1569254" cy="538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F642DD-612C-DA1E-9959-6FE66702477E}"/>
              </a:ext>
            </a:extLst>
          </p:cNvPr>
          <p:cNvSpPr/>
          <p:nvPr/>
        </p:nvSpPr>
        <p:spPr>
          <a:xfrm>
            <a:off x="3282043" y="5094514"/>
            <a:ext cx="1569254" cy="538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239262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6B2D4-B76C-2B0E-B605-0B265A8F4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582E-994D-0B6A-06EC-029F7F4B7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IDEs Explained: Debugging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07891-1E75-E517-9CE3-7E89117B8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E50D3-4C57-1B1F-421C-510C3F29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9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CF1B09-1288-A4B5-3518-3759A04A7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0303" cy="4351338"/>
          </a:xfrm>
        </p:spPr>
        <p:txBody>
          <a:bodyPr>
            <a:normAutofit/>
          </a:bodyPr>
          <a:lstStyle/>
          <a:p>
            <a:r>
              <a:rPr lang="en-GB" dirty="0"/>
              <a:t>Steps include:</a:t>
            </a:r>
          </a:p>
          <a:p>
            <a:pPr lvl="1"/>
            <a:r>
              <a:rPr lang="en-GB" dirty="0"/>
              <a:t>Reproduce the bug in a controlled execution mode;</a:t>
            </a:r>
          </a:p>
          <a:p>
            <a:pPr lvl="1"/>
            <a:r>
              <a:rPr lang="en-GB" dirty="0"/>
              <a:t>Isolate the cause(s), e.g., using breakpoints;</a:t>
            </a:r>
          </a:p>
          <a:p>
            <a:pPr lvl="1"/>
            <a:r>
              <a:rPr lang="en-GB" dirty="0"/>
              <a:t>Identify faulty lines, e.g., using step-into, step-out, and variable inspection within the ECLIPSE IDE;</a:t>
            </a:r>
          </a:p>
          <a:p>
            <a:pPr lvl="1"/>
            <a:r>
              <a:rPr lang="en-GB" dirty="0"/>
              <a:t>(Automated) Bug Fixing;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521E9E-7E52-3998-567F-475B1C7B3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03" y="1323976"/>
            <a:ext cx="5863497" cy="452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675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49C78-C568-5090-DE50-CDA451D67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E780F-5D83-2C7C-6332-42602CD2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IDEs Explained: Dependency &amp; Version Management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B6EE4-F7C9-BBB0-ACA7-E3936CEDA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5FC3D-DC6F-3845-6573-A24E1F5AD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10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B686C58-8648-5E28-F93D-A4D930C2E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Transitive dependencies tracking is a must for large systems;</a:t>
            </a:r>
          </a:p>
        </p:txBody>
      </p:sp>
      <p:pic>
        <p:nvPicPr>
          <p:cNvPr id="6" name="Picture 5" descr="A diagram of a rectangular object with a straight line&#10;&#10;AI-generated content may be incorrect.">
            <a:extLst>
              <a:ext uri="{FF2B5EF4-FFF2-40B4-BE49-F238E27FC236}">
                <a16:creationId xmlns:a16="http://schemas.microsoft.com/office/drawing/2014/main" id="{D4708FBC-454F-3DD2-1074-9EE4F0FCF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192" y="2521744"/>
            <a:ext cx="9393653" cy="300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04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69BD8-1541-4E40-DAB4-984A1E50C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Version Conflicts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FC956-5D10-3EE2-0E0E-A344837E0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different parts of the dependency graph require conflicting versions of the same library;</a:t>
            </a:r>
          </a:p>
          <a:p>
            <a:r>
              <a:rPr lang="en-GB" dirty="0"/>
              <a:t>Dependency management tools (in IDEs) must employ strategies to resolve these version conflicts deterministically, e.g.:</a:t>
            </a:r>
          </a:p>
          <a:p>
            <a:pPr lvl="1"/>
            <a:r>
              <a:rPr lang="en-GB" dirty="0"/>
              <a:t>Version select;</a:t>
            </a:r>
          </a:p>
          <a:p>
            <a:pPr lvl="1"/>
            <a:r>
              <a:rPr lang="en-GB" dirty="0"/>
              <a:t>Overrides;</a:t>
            </a:r>
          </a:p>
          <a:p>
            <a:pPr lvl="1"/>
            <a:r>
              <a:rPr lang="en-GB" dirty="0"/>
              <a:t>Reproducibility enforced (e.g., in Python);</a:t>
            </a:r>
          </a:p>
          <a:p>
            <a:pPr lvl="1"/>
            <a:r>
              <a:rPr lang="en-GB" dirty="0"/>
              <a:t>Environment mapping (exact versions enforced);</a:t>
            </a:r>
            <a:endParaRPr lang="en-I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3F060-1AB8-0AC8-3E5B-79A67720C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64C3AD-487B-28CC-218E-72CE6479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22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298F6-829A-8208-7F52-86921C7F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Configuration Management &amp; Vers.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AF71A-72C3-941C-52CB-92A154A2A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AA013-8716-A549-6B5D-F16EDACC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D623B-FAA5-28B1-27E6-8C5AA9A70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12</a:t>
            </a:fld>
            <a:endParaRPr lang="en-US"/>
          </a:p>
        </p:txBody>
      </p:sp>
      <p:pic>
        <p:nvPicPr>
          <p:cNvPr id="2050" name="Picture 2" descr="A Visual Guide to Version Control - SCM &amp; VCS | Talent500 blog">
            <a:extLst>
              <a:ext uri="{FF2B5EF4-FFF2-40B4-BE49-F238E27FC236}">
                <a16:creationId xmlns:a16="http://schemas.microsoft.com/office/drawing/2014/main" id="{7E0DCB16-45C8-3C0A-1F07-2C9F3BD076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4" t="10946" r="4124" b="7700"/>
          <a:stretch>
            <a:fillRect/>
          </a:stretch>
        </p:blipFill>
        <p:spPr bwMode="auto">
          <a:xfrm>
            <a:off x="2285999" y="1565703"/>
            <a:ext cx="7620001" cy="4700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120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F94A5-A409-E33D-BEE7-2F9A4B4D2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3A5A2-E900-B712-7F93-03839F0F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62A7B-D3A7-E622-5632-BF6C13218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13</a:t>
            </a:fld>
            <a:endParaRPr lang="en-US"/>
          </a:p>
        </p:txBody>
      </p:sp>
      <p:pic>
        <p:nvPicPr>
          <p:cNvPr id="3074" name="Picture 2" descr="List of Distributed Version Control Systems - Scaler Topics">
            <a:extLst>
              <a:ext uri="{FF2B5EF4-FFF2-40B4-BE49-F238E27FC236}">
                <a16:creationId xmlns:a16="http://schemas.microsoft.com/office/drawing/2014/main" id="{2DE288B3-161C-B7A7-D3C2-5B26066501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8" t="9931" r="11572" b="24102"/>
          <a:stretch>
            <a:fillRect/>
          </a:stretch>
        </p:blipFill>
        <p:spPr bwMode="auto">
          <a:xfrm>
            <a:off x="1066800" y="1258136"/>
            <a:ext cx="9269002" cy="4956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E4C22FF-A51F-2481-35B6-52B98C6FD24D}"/>
              </a:ext>
            </a:extLst>
          </p:cNvPr>
          <p:cNvSpPr txBox="1">
            <a:spLocks/>
          </p:cNvSpPr>
          <p:nvPr/>
        </p:nvSpPr>
        <p:spPr>
          <a:xfrm>
            <a:off x="847947" y="2754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dirty="0"/>
              <a:t>Configuration Management &amp; Vers. Control</a:t>
            </a:r>
          </a:p>
        </p:txBody>
      </p:sp>
    </p:spTree>
    <p:extLst>
      <p:ext uri="{BB962C8B-B14F-4D97-AF65-F5344CB8AC3E}">
        <p14:creationId xmlns:p14="http://schemas.microsoft.com/office/powerpoint/2010/main" val="1147939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59D9-0299-893D-B6C1-2F254C117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CI/CD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4F66D-7744-DB8C-839B-78CEA32EF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Three Pillars:</a:t>
            </a:r>
          </a:p>
          <a:p>
            <a:pPr lvl="1"/>
            <a:r>
              <a:rPr lang="en-GB" b="1" u="sng" dirty="0"/>
              <a:t>Continuous Integration</a:t>
            </a:r>
            <a:r>
              <a:rPr lang="en-GB" dirty="0"/>
              <a:t> reflects automated pipelines that, at a minimum, executes the source, build, and test stages for every commit;</a:t>
            </a:r>
          </a:p>
          <a:p>
            <a:pPr lvl="1"/>
            <a:endParaRPr lang="en-GB" dirty="0"/>
          </a:p>
          <a:p>
            <a:pPr lvl="1"/>
            <a:r>
              <a:rPr lang="en-GB" b="1" u="sng" dirty="0"/>
              <a:t>Continuous Delivery</a:t>
            </a:r>
            <a:r>
              <a:rPr lang="en-GB" dirty="0"/>
              <a:t> extends the automation pipeline beyond automated testing to include the preparation of the release itself;</a:t>
            </a:r>
          </a:p>
          <a:p>
            <a:pPr lvl="1"/>
            <a:endParaRPr lang="en-GB" dirty="0"/>
          </a:p>
          <a:p>
            <a:pPr lvl="1"/>
            <a:r>
              <a:rPr lang="en-GB" b="1" u="sng" dirty="0"/>
              <a:t>Continuous Deployment</a:t>
            </a:r>
            <a:r>
              <a:rPr lang="en-GB" dirty="0"/>
              <a:t> takes Continuous Delivery one step further by automating the final deployment to production;</a:t>
            </a:r>
          </a:p>
          <a:p>
            <a:pPr lvl="1"/>
            <a:endParaRPr lang="en-IT" dirty="0"/>
          </a:p>
          <a:p>
            <a:pPr lvl="1"/>
            <a:endParaRPr lang="en-I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D96A7-9899-9E16-1164-70355431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27828-FA85-E6CB-C1EA-DBF4661A9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619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33B74-374D-1D86-49AE-352EE0ED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CI/CD Typical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707C6-5263-56E4-2FCF-6E86530AB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74A45-7683-A755-A55B-A8EDF8CDC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F834A6-66D8-FA18-6999-E6044AF7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15</a:t>
            </a:fld>
            <a:endParaRPr lang="en-US"/>
          </a:p>
        </p:txBody>
      </p:sp>
      <p:pic>
        <p:nvPicPr>
          <p:cNvPr id="4098" name="Picture 2" descr="Basics of CI/CD - DEV Community">
            <a:extLst>
              <a:ext uri="{FF2B5EF4-FFF2-40B4-BE49-F238E27FC236}">
                <a16:creationId xmlns:a16="http://schemas.microsoft.com/office/drawing/2014/main" id="{E8B6F281-8471-7C5E-9ED0-857AA9D4C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308" y="1312831"/>
            <a:ext cx="5933140" cy="504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720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E0C49-6CA6-2144-D9DA-F659AFD1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Emerging Paradigms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40FE0-63D1-05EE-4E50-168948510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Low-Code/No-Code: </a:t>
            </a:r>
          </a:p>
          <a:p>
            <a:pPr lvl="1"/>
            <a:r>
              <a:rPr lang="en-US" dirty="0"/>
              <a:t>Use models to drive creation and evolution of code;</a:t>
            </a:r>
          </a:p>
          <a:p>
            <a:pPr lvl="1"/>
            <a:r>
              <a:rPr lang="en-US" dirty="0"/>
              <a:t>Model-first development;</a:t>
            </a:r>
          </a:p>
          <a:p>
            <a:pPr lvl="1"/>
            <a:r>
              <a:rPr lang="en-US" dirty="0"/>
              <a:t>Model-based code verification and validation;</a:t>
            </a:r>
          </a:p>
          <a:p>
            <a:pPr lvl="1"/>
            <a:endParaRPr lang="en-US" dirty="0"/>
          </a:p>
          <a:p>
            <a:r>
              <a:rPr lang="en-US" dirty="0"/>
              <a:t>AI Coding:</a:t>
            </a:r>
          </a:p>
          <a:p>
            <a:pPr lvl="1"/>
            <a:r>
              <a:rPr lang="en-US" dirty="0"/>
              <a:t>Use Language-Models to elaborate portions or totals of code;</a:t>
            </a:r>
          </a:p>
          <a:p>
            <a:pPr lvl="1"/>
            <a:r>
              <a:rPr lang="en-US" dirty="0"/>
              <a:t>Large models can even revise, improve;</a:t>
            </a:r>
            <a:endParaRPr lang="en-I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D91E0-FCA3-C405-C34A-DDCD7974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4F6BF-35A9-CE09-904E-D3302EBC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4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F9EC6-0C40-0354-F9E8-6879A8FC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911C-1D4C-BD13-BCBB-41A01B7A1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Wrap-up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3D28F1-6F72-DE01-DBA8-BE4845530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Coding transforms the abstract products of prior phases into executable forms, IDEs are the means;</a:t>
            </a:r>
          </a:p>
          <a:p>
            <a:endParaRPr lang="en-US" dirty="0"/>
          </a:p>
          <a:p>
            <a:r>
              <a:rPr lang="en-US" dirty="0"/>
              <a:t>The discipline of coding reflects essentials to properly share, maintain, and evolve it (e.g., conventions, dependency </a:t>
            </a:r>
            <a:r>
              <a:rPr lang="en-US" dirty="0" err="1"/>
              <a:t>mgmgt</a:t>
            </a:r>
            <a:r>
              <a:rPr lang="en-US" dirty="0"/>
              <a:t>, etc.);</a:t>
            </a:r>
          </a:p>
          <a:p>
            <a:endParaRPr lang="en-US" dirty="0"/>
          </a:p>
          <a:p>
            <a:r>
              <a:rPr lang="en-US" dirty="0"/>
              <a:t>Novel mechanisms combine human, model, and AI into a coherent approach;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685FD-40EB-1C8B-0BAB-C3D01A1DB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7699625" cy="365125"/>
          </a:xfrm>
        </p:spPr>
        <p:txBody>
          <a:bodyPr/>
          <a:lstStyle/>
          <a:p>
            <a:r>
              <a:rPr lang="it-IT"/>
              <a:t>Chapter 20 -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5B82C-5867-96A9-5D54-326A9A4B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5802" y="6356350"/>
            <a:ext cx="1017998" cy="365125"/>
          </a:xfrm>
        </p:spPr>
        <p:txBody>
          <a:bodyPr/>
          <a:lstStyle/>
          <a:p>
            <a:fld id="{D204BADD-F420-F54C-BEF5-604E8EEED02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66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1477</Words>
  <Application>Microsoft Macintosh PowerPoint</Application>
  <PresentationFormat>Widescreen</PresentationFormat>
  <Paragraphs>125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Chapter 20:  The Act of Coding</vt:lpstr>
      <vt:lpstr>The Act of Coding</vt:lpstr>
      <vt:lpstr>Learning Objectives</vt:lpstr>
      <vt:lpstr>The Act of Coding: Overview</vt:lpstr>
      <vt:lpstr> </vt:lpstr>
      <vt:lpstr> </vt:lpstr>
      <vt:lpstr>IDEs Explained: Coding Conventions</vt:lpstr>
      <vt:lpstr>IDEs Explained: Coding Conventions (cont’d)</vt:lpstr>
      <vt:lpstr>Coding Conventions, an example: Python</vt:lpstr>
      <vt:lpstr>IDEs Explained: Debugging</vt:lpstr>
      <vt:lpstr>IDEs Explained: Dependency &amp; Version Management</vt:lpstr>
      <vt:lpstr>Version Conflicts</vt:lpstr>
      <vt:lpstr>Configuration Management &amp; Vers. Control</vt:lpstr>
      <vt:lpstr>PowerPoint Presentation</vt:lpstr>
      <vt:lpstr>CI/CD Explained</vt:lpstr>
      <vt:lpstr>CI/CD Typical Processes</vt:lpstr>
      <vt:lpstr>Emerging Paradigms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Damian Andrew Tamburri</cp:lastModifiedBy>
  <cp:revision>167</cp:revision>
  <dcterms:created xsi:type="dcterms:W3CDTF">2025-05-15T11:20:47Z</dcterms:created>
  <dcterms:modified xsi:type="dcterms:W3CDTF">2026-01-27T13:15:18Z</dcterms:modified>
</cp:coreProperties>
</file>