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93"/>
    <p:restoredTop sz="94614"/>
  </p:normalViewPr>
  <p:slideViewPr>
    <p:cSldViewPr snapToGrid="0">
      <p:cViewPr varScale="1">
        <p:scale>
          <a:sx n="96" d="100"/>
          <a:sy n="96" d="100"/>
        </p:scale>
        <p:origin x="176" y="2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3:</a:t>
            </a:r>
            <a:br>
              <a:rPr lang="en-US" dirty="0"/>
            </a:br>
            <a:r>
              <a:rPr lang="en-US" dirty="0"/>
              <a:t>Models and </a:t>
            </a:r>
            <a:br>
              <a:rPr lang="en-US" dirty="0"/>
            </a:br>
            <a:r>
              <a:rPr lang="en-US" dirty="0"/>
              <a:t>Description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problems and solutions must be described precisely</a:t>
            </a:r>
          </a:p>
          <a:p>
            <a:r>
              <a:rPr lang="en-US" dirty="0"/>
              <a:t>Such precise descriptions are called models</a:t>
            </a:r>
          </a:p>
          <a:p>
            <a:r>
              <a:rPr lang="en-US" dirty="0"/>
              <a:t>Modeling is a core practice in software engineering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Focus of this chapter:</a:t>
            </a:r>
          </a:p>
          <a:p>
            <a:r>
              <a:rPr lang="en-US" dirty="0"/>
              <a:t>What is a model?</a:t>
            </a:r>
          </a:p>
          <a:p>
            <a:r>
              <a:rPr lang="en-US" dirty="0"/>
              <a:t>How models are defined and interpreted</a:t>
            </a:r>
          </a:p>
          <a:p>
            <a:r>
              <a:rPr lang="en-US" dirty="0"/>
              <a:t>Why models matter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61DA-BE07-CD15-39BB-B8844E78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1C0D-34F1-C3A7-90C1-1BA5DB47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8DFF-4BC9-BDFF-903A-C6FE9CC0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model is a representation of something</a:t>
            </a:r>
          </a:p>
          <a:p>
            <a:r>
              <a:rPr lang="en-US" dirty="0"/>
              <a:t>It captures relevant aspects</a:t>
            </a:r>
          </a:p>
          <a:p>
            <a:r>
              <a:rPr lang="en-US" dirty="0"/>
              <a:t>It abstracts away irrelevant details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A model simplifies reality to serve a purpose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916A9-5153-2307-5E58-9BD81526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F954E-88EC-30FC-1929-770F1635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4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9EA5-C006-3B23-2457-81262CA7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A5A0-3D98-2023-9AB6-14F16735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1B9D-B2C8-5177-8FB8-16291FE28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book:</a:t>
            </a:r>
          </a:p>
          <a:p>
            <a:pPr lvl="1"/>
            <a:r>
              <a:rPr lang="en-US" dirty="0"/>
              <a:t>model and description used interchangeably</a:t>
            </a:r>
          </a:p>
          <a:p>
            <a:r>
              <a:rPr lang="en-US" dirty="0"/>
              <a:t>Sometimes:</a:t>
            </a:r>
          </a:p>
          <a:p>
            <a:pPr lvl="1"/>
            <a:r>
              <a:rPr lang="en-US" dirty="0"/>
              <a:t>descriptions → informal</a:t>
            </a:r>
          </a:p>
          <a:p>
            <a:pPr lvl="1"/>
            <a:r>
              <a:rPr lang="en-US" dirty="0"/>
              <a:t>models → semi-formal or formal</a:t>
            </a:r>
          </a:p>
          <a:p>
            <a:r>
              <a:rPr lang="en-US" dirty="0"/>
              <a:t>Purpose matters more than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6F66-EB2B-4199-062E-46DA11FF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BCB94-9903-1D2D-9F1D-AB7846AE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87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FD19-AF68-7450-067F-0CE2A8F3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BB42-0456-A911-699A-95698884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9D23-3442-32F7-EE15-8D9E72A2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a domain of interest</a:t>
            </a:r>
          </a:p>
          <a:p>
            <a:r>
              <a:rPr lang="en-US" dirty="0"/>
              <a:t>Provide abstraction</a:t>
            </a:r>
          </a:p>
          <a:p>
            <a:r>
              <a:rPr lang="en-US" dirty="0"/>
              <a:t>Balance: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r>
              <a:rPr lang="en-US" dirty="0"/>
              <a:t>simplicity</a:t>
            </a:r>
          </a:p>
          <a:p>
            <a:endParaRPr lang="en-US" dirty="0"/>
          </a:p>
          <a:p>
            <a:r>
              <a:rPr lang="en-US" dirty="0"/>
              <a:t>Too much detail → unusable</a:t>
            </a:r>
          </a:p>
          <a:p>
            <a:r>
              <a:rPr lang="en-US" dirty="0"/>
              <a:t>Too little detail → misleading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3CFE5-FEB3-943C-EA5F-9EC2BA5A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B4A70-5D8C-1EDA-DE77-1085165E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07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3F51-ED64-B24A-7DC7-E0333F01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0221-ACDF-5C6F-D932-A68AD0C9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B678-F2D5-F2DD-8F07-B74DFFCD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Models are expressed using description languages</a:t>
            </a:r>
          </a:p>
          <a:p>
            <a:r>
              <a:rPr lang="en-US" dirty="0"/>
              <a:t>A language defines:</a:t>
            </a:r>
          </a:p>
          <a:p>
            <a:pPr lvl="1"/>
            <a:r>
              <a:rPr lang="en-US" dirty="0"/>
              <a:t>syntax</a:t>
            </a:r>
          </a:p>
          <a:p>
            <a:pPr lvl="1"/>
            <a:r>
              <a:rPr lang="en-US" dirty="0"/>
              <a:t>semantics</a:t>
            </a:r>
          </a:p>
          <a:p>
            <a:r>
              <a:rPr lang="en-US" dirty="0"/>
              <a:t>Enables precision, consistency,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6361E-E470-B95F-10A6-3EA7F649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EDF46-8F77-5B83-C9FA-0B467274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1EFF-1F8E-5553-1E3E-9F826F69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BF6B-02B5-AAF2-84A0-7CC72BCA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and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65D8A-D6BF-8AF5-550D-05EB55F7F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Syntax: rules for constructing models</a:t>
            </a:r>
          </a:p>
          <a:p>
            <a:r>
              <a:rPr lang="en-US" dirty="0"/>
              <a:t>Semantics: meaning of valid models</a:t>
            </a:r>
          </a:p>
          <a:p>
            <a:r>
              <a:rPr lang="en-US" dirty="0"/>
              <a:t>Both are needed for precision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3 + 5 → syntax valid, semantics =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DBE70-BDD3-5B2B-43DA-123D1FDD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4A56-1C7D-421D-8353-1B875BC0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2034-197A-A99C-08DC-33068121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3EBA-F3E7-999E-07B3-B4FDB9E0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Modeling Rigor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8F03-457C-A954-5BCB-516337DFD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languages can be:</a:t>
            </a:r>
          </a:p>
          <a:p>
            <a:pPr lvl="1"/>
            <a:r>
              <a:rPr lang="en-US" dirty="0"/>
              <a:t>Informal</a:t>
            </a:r>
          </a:p>
          <a:p>
            <a:pPr lvl="1"/>
            <a:r>
              <a:rPr lang="en-US" dirty="0"/>
              <a:t>Semi-formal</a:t>
            </a:r>
          </a:p>
          <a:p>
            <a:pPr lvl="1"/>
            <a:r>
              <a:rPr lang="en-US" dirty="0"/>
              <a:t>Formal</a:t>
            </a:r>
          </a:p>
          <a:p>
            <a:r>
              <a:rPr lang="en-US" dirty="0"/>
              <a:t>Differ in precision of syntax and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4118E-9B93-8ED8-BBC2-4EC56F61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D7F7-76EC-6194-5543-AD22C317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0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4F51-1F32-FE01-D12B-B3854988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F851-5466-3261-488B-226BFD93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D709-9DBB-DFB5-15AB-EF2D10DF1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language, sketches, ad-hoc diagrams</a:t>
            </a:r>
          </a:p>
          <a:p>
            <a:r>
              <a:rPr lang="en-US" dirty="0"/>
              <a:t>No precise syntax or semantics</a:t>
            </a:r>
          </a:p>
          <a:p>
            <a:r>
              <a:rPr lang="en-US" dirty="0"/>
              <a:t>Useful for: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early communication</a:t>
            </a:r>
          </a:p>
          <a:p>
            <a:r>
              <a:rPr lang="en-US" dirty="0"/>
              <a:t>Risk:</a:t>
            </a:r>
          </a:p>
          <a:p>
            <a:pPr lvl="1"/>
            <a:r>
              <a:rPr lang="en-US" dirty="0"/>
              <a:t>ambiguity</a:t>
            </a:r>
          </a:p>
          <a:p>
            <a:pPr lvl="1"/>
            <a:r>
              <a:rPr lang="en-US" dirty="0"/>
              <a:t>misinterpretation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0F238-8A95-01FF-E11C-E62A0631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B1DE9-57E8-C4E7-6124-71FCE02A9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0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216E-1FC8-5109-BDF4-72F41882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3414-ED80-BAF4-25DD-F3EC39B6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Semi-formal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7E72B-E675-C21D-6E1C-7F77553FE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Well-defined syntax</a:t>
            </a:r>
          </a:p>
          <a:p>
            <a:r>
              <a:rPr lang="en-US" dirty="0"/>
              <a:t>Semantics described informally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UML</a:t>
            </a:r>
          </a:p>
          <a:p>
            <a:pPr lvl="1"/>
            <a:r>
              <a:rPr lang="en-US" dirty="0"/>
              <a:t>ER diagrams</a:t>
            </a:r>
          </a:p>
          <a:p>
            <a:pPr lvl="1"/>
            <a:r>
              <a:rPr lang="en-US" dirty="0"/>
              <a:t>BPMN</a:t>
            </a:r>
          </a:p>
          <a:p>
            <a:r>
              <a:rPr lang="en-US" dirty="0"/>
              <a:t>Widely used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5EE6-73DA-DA92-505A-CB2A8A3D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C7349-833E-3A96-A95A-41EA70CF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129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984F-C37B-CD67-4596-B2283591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081D-BE26-4F73-A5F5-A514A84E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EED0-F99A-FBB7-2C87-E0492EF72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Mathematically defined syntax and semantics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finite state machines</a:t>
            </a:r>
          </a:p>
          <a:p>
            <a:pPr lvl="1"/>
            <a:r>
              <a:rPr lang="en-US" dirty="0"/>
              <a:t>Petri nets</a:t>
            </a:r>
          </a:p>
          <a:p>
            <a:pPr lvl="1"/>
            <a:r>
              <a:rPr lang="en-US" dirty="0"/>
              <a:t>temporal logic</a:t>
            </a:r>
          </a:p>
          <a:p>
            <a:r>
              <a:rPr lang="en-US" dirty="0"/>
              <a:t>Enable formal verification</a:t>
            </a:r>
          </a:p>
          <a:p>
            <a:r>
              <a:rPr lang="en-US" dirty="0"/>
              <a:t>High cost and required expertise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4D7E6-B3A7-EE5A-664C-1FD24AF9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DBAA5-642C-0D1C-A5EF-4F677505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0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0381-B34A-9315-4296-AC8D9F3D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E1BB-99E7-FBF6-04D6-941B4CED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Level of Rigor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C0F8-9977-ECFE-D53C-2962C224F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Depends on:</a:t>
            </a:r>
          </a:p>
          <a:p>
            <a:pPr lvl="1"/>
            <a:r>
              <a:rPr lang="en-US" dirty="0"/>
              <a:t>project goals</a:t>
            </a:r>
          </a:p>
          <a:p>
            <a:pPr lvl="1"/>
            <a:r>
              <a:rPr lang="en-US" dirty="0"/>
              <a:t>criticality</a:t>
            </a:r>
          </a:p>
          <a:p>
            <a:pPr lvl="1"/>
            <a:r>
              <a:rPr lang="en-US" dirty="0"/>
              <a:t>need for guarantees</a:t>
            </a:r>
          </a:p>
          <a:p>
            <a:r>
              <a:rPr lang="en-US" dirty="0"/>
              <a:t>Balance rigor, clarity, and practicality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B0382-17C7-9705-9A0E-D2E33969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83B1D-7F8F-9F0C-E9FD-377A676B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81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9EA6-1B36-BF55-013D-4B27FE97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D377-E8B7-3D68-E671-857CAE5E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E15DE-13C3-692E-1E88-1A1C230E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systems are complex</a:t>
            </a:r>
          </a:p>
          <a:p>
            <a:r>
              <a:rPr lang="en-US" dirty="0"/>
              <a:t>Models:</a:t>
            </a:r>
          </a:p>
          <a:p>
            <a:pPr lvl="1"/>
            <a:r>
              <a:rPr lang="en-US" dirty="0"/>
              <a:t>manage complexity</a:t>
            </a:r>
          </a:p>
          <a:p>
            <a:pPr lvl="1"/>
            <a:r>
              <a:rPr lang="en-US" dirty="0"/>
              <a:t>reduce cognitive load</a:t>
            </a:r>
          </a:p>
          <a:p>
            <a:pPr lvl="1"/>
            <a:r>
              <a:rPr lang="en-US" dirty="0"/>
              <a:t>support reasoning</a:t>
            </a:r>
          </a:p>
          <a:p>
            <a:r>
              <a:rPr lang="en-US" dirty="0"/>
              <a:t>Focus attention on what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0B73D-3697-500C-674C-55F67059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308E9-CBB7-0604-54F1-17AEB8A8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13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CCD7-C458-01D6-6BD1-A5CF412F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0EFC-90A1-23BA-09CA-4C0C32D1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as Abstractions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19F98-4D17-8F07-A693-6F551EB1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Hide irrelevant details</a:t>
            </a:r>
          </a:p>
          <a:p>
            <a:r>
              <a:rPr lang="en-US" dirty="0"/>
              <a:t>Highlight key concepts and relationships</a:t>
            </a:r>
          </a:p>
          <a:p>
            <a:r>
              <a:rPr lang="en-US" dirty="0"/>
              <a:t>Adapt to:</a:t>
            </a:r>
          </a:p>
          <a:p>
            <a:pPr lvl="1"/>
            <a:r>
              <a:rPr lang="en-US" dirty="0"/>
              <a:t>task</a:t>
            </a:r>
          </a:p>
          <a:p>
            <a:pPr lvl="1"/>
            <a:r>
              <a:rPr lang="en-US" dirty="0"/>
              <a:t>role</a:t>
            </a:r>
          </a:p>
          <a:p>
            <a:pPr lvl="1"/>
            <a:r>
              <a:rPr lang="en-US" dirty="0"/>
              <a:t>development 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5B126-2E56-0B09-08E1-B628FDF8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30ADC-EE0B-1C88-8A7A-D6572EDB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57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6214-C201-273B-DF8E-B6E24B6E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8E17-E002-8B50-3F0D-E11EDC70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Analogy: Building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2436-31FA-4D7F-7AD7-C2634F1C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models for different purposes:</a:t>
            </a:r>
          </a:p>
          <a:p>
            <a:pPr lvl="1"/>
            <a:r>
              <a:rPr lang="en-US" dirty="0"/>
              <a:t>floor plans</a:t>
            </a:r>
          </a:p>
          <a:p>
            <a:pPr lvl="1"/>
            <a:r>
              <a:rPr lang="en-US" dirty="0"/>
              <a:t>structural diagrams</a:t>
            </a:r>
          </a:p>
          <a:p>
            <a:pPr lvl="1"/>
            <a:r>
              <a:rPr lang="en-US" dirty="0"/>
              <a:t>interior design</a:t>
            </a:r>
          </a:p>
          <a:p>
            <a:r>
              <a:rPr lang="en-US" dirty="0"/>
              <a:t>Level of detail depends on 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EC870-F38E-D48F-50CF-55E0A2C2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3AF85-7C42-7049-6158-B89DC617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3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95047-34E3-E31A-759A-51634F39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0C06-491D-ECCF-B3A5-AAFA6BCB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as Communication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0D74-662B-CB0C-A36B-F1522A093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language among stakeholders</a:t>
            </a:r>
          </a:p>
          <a:p>
            <a:r>
              <a:rPr lang="en-US" dirty="0"/>
              <a:t>Used to:</a:t>
            </a:r>
          </a:p>
          <a:p>
            <a:pPr lvl="1"/>
            <a:r>
              <a:rPr lang="en-US" dirty="0"/>
              <a:t>discuss requirements</a:t>
            </a:r>
          </a:p>
          <a:p>
            <a:pPr lvl="1"/>
            <a:r>
              <a:rPr lang="en-US" dirty="0"/>
              <a:t>coordinate teams</a:t>
            </a:r>
          </a:p>
          <a:p>
            <a:pPr lvl="1"/>
            <a:r>
              <a:rPr lang="en-US" dirty="0"/>
              <a:t>assign responsibilities</a:t>
            </a:r>
          </a:p>
          <a:p>
            <a:r>
              <a:rPr lang="en-US" dirty="0"/>
              <a:t>Essential across the whole life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FEE42-7E23-2ECA-999D-7D58E02E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92FD0-7707-D201-8A0C-E6D855D7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4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4639-CC7B-2763-3EE4-81D975A5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E73-20BA-D746-84E0-99D4A030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B263B-A971-2155-E362-C9A2802FD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Capture:</a:t>
            </a:r>
          </a:p>
          <a:p>
            <a:pPr lvl="1"/>
            <a:r>
              <a:rPr lang="en-US" dirty="0"/>
              <a:t>application domain</a:t>
            </a:r>
          </a:p>
          <a:p>
            <a:pPr lvl="1"/>
            <a:r>
              <a:rPr lang="en-US" dirty="0"/>
              <a:t>system context</a:t>
            </a:r>
          </a:p>
          <a:p>
            <a:pPr lvl="1"/>
            <a:r>
              <a:rPr lang="en-US" dirty="0"/>
              <a:t>expected functionality</a:t>
            </a:r>
          </a:p>
          <a:p>
            <a:r>
              <a:rPr lang="en-US" dirty="0"/>
              <a:t>Foster shared understanding</a:t>
            </a:r>
          </a:p>
          <a:p>
            <a:r>
              <a:rPr lang="en-US" dirty="0"/>
              <a:t>Reduce misaligned expectations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8E0E9-2461-F3D0-EEB0-EED08D98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7EAE0-3A70-8093-CD37-F56BC644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571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E5BB-5C24-11D6-89DA-3D708967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AF9E-A8A1-2F67-F3FD-38564C62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90EF9-151D-AEB6-B06D-4A2EC0D62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Describe system structure and components</a:t>
            </a:r>
          </a:p>
          <a:p>
            <a:r>
              <a:rPr lang="en-US" dirty="0"/>
              <a:t>Enable parallel development</a:t>
            </a:r>
          </a:p>
          <a:p>
            <a:r>
              <a:rPr lang="en-US" dirty="0"/>
              <a:t>Expose interfaces, hide internals</a:t>
            </a:r>
          </a:p>
          <a:p>
            <a:r>
              <a:rPr lang="en-US" dirty="0"/>
              <a:t>Support architectural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2ADFF-F1D5-E4E5-CF60-94ADA827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865E7-3FA2-C212-5618-B9AD102B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23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0C66-F00F-B65C-9967-C4B148DE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6C10-087F-BE63-4AE7-E50B8BE6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Verification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A3FC-CC68-B16B-1311-669A3F060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specific system properties</a:t>
            </a:r>
          </a:p>
          <a:p>
            <a:r>
              <a:rPr lang="en-US" dirty="0"/>
              <a:t>Support analysis of:</a:t>
            </a:r>
          </a:p>
          <a:p>
            <a:pPr lvl="1"/>
            <a:r>
              <a:rPr lang="en-US" dirty="0"/>
              <a:t>safety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Enable formal reasoning when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F0913-A6E1-AD4E-AFF3-189B6C18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51A1F-2314-DFA6-3C45-24F2D6FC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2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E40C-1303-DD22-EB29-A9B2519B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6EB9-63B6-86A7-EE0A-A42CA2B8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Model-Driven Engineering (MDE)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7C5B0-F898-C340-223B-DB486D4D4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Models as primary development artifacts</a:t>
            </a:r>
          </a:p>
          <a:p>
            <a:r>
              <a:rPr lang="en-US" dirty="0"/>
              <a:t>Increase:</a:t>
            </a:r>
          </a:p>
          <a:p>
            <a:pPr lvl="1"/>
            <a:r>
              <a:rPr lang="en-US" dirty="0"/>
              <a:t>abstraction</a:t>
            </a:r>
          </a:p>
          <a:p>
            <a:pPr lvl="1"/>
            <a:r>
              <a:rPr lang="en-US" dirty="0"/>
              <a:t>automation</a:t>
            </a:r>
          </a:p>
          <a:p>
            <a:r>
              <a:rPr lang="en-US" dirty="0"/>
              <a:t>Reduce errors and repetitive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C108-B93B-90B5-2691-8B156426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91984-54AF-CEE2-98B0-0201B605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50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D33C-C296-F586-AE76-A65AF7E5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2661-8730-8860-7E57-B2FACF3F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of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5129-F546-C317-73C7-B43937357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good model must ensure:</a:t>
            </a:r>
          </a:p>
          <a:p>
            <a:pPr lvl="1"/>
            <a:r>
              <a:rPr lang="en-US" dirty="0"/>
              <a:t>Intrinsic quality</a:t>
            </a:r>
          </a:p>
          <a:p>
            <a:pPr lvl="1"/>
            <a:r>
              <a:rPr lang="en-US" dirty="0"/>
              <a:t>Internal consistency</a:t>
            </a:r>
          </a:p>
          <a:p>
            <a:pPr lvl="1"/>
            <a:r>
              <a:rPr lang="en-US" dirty="0"/>
              <a:t>External coherence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DF7D1-F0FE-E547-08DE-CBC1F92C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CD9FE-7224-FF59-9ED5-E56EEB6D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22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55F8-2834-AD1E-944D-80C89B25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C847-C309-1AA7-762F-1576EE3A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Intrinsic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EBBB-6731-CDC4-5B57-7872D26F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Readable and well-structured</a:t>
            </a:r>
          </a:p>
          <a:p>
            <a:r>
              <a:rPr lang="en-US" dirty="0"/>
              <a:t>Modular and focused</a:t>
            </a:r>
          </a:p>
          <a:p>
            <a:r>
              <a:rPr lang="en-US" dirty="0"/>
              <a:t>Contains the right abstractions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06F82-B626-73B5-5035-B7CFF09F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DFECE-061F-4BA1-212F-10E221AF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5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A823-2016-33EF-CDC6-4D340474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DA1C-D7AB-0D52-3B0C-AD51A86A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2392-422F-65DA-0022-543D90CB0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contradictions within the model</a:t>
            </a:r>
          </a:p>
          <a:p>
            <a:r>
              <a:rPr lang="en-US" dirty="0"/>
              <a:t>Information must be:</a:t>
            </a:r>
          </a:p>
          <a:p>
            <a:pPr lvl="1"/>
            <a:r>
              <a:rPr lang="en-US" dirty="0"/>
              <a:t>clear</a:t>
            </a:r>
          </a:p>
          <a:p>
            <a:pPr lvl="1"/>
            <a:r>
              <a:rPr lang="en-US" dirty="0"/>
              <a:t>unambiguous</a:t>
            </a:r>
          </a:p>
          <a:p>
            <a:r>
              <a:rPr lang="en-US" dirty="0"/>
              <a:t>Inconsistencies undermine trust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0EAE6-FB11-BE2A-A0E7-0074C13E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C46AD-B664-5944-9FFA-1E557D16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934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48B0-05FF-F89E-DC66-4F426BC1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99FA-592A-82A7-D88C-6D4D65DA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Coherence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19EF-5EB0-2A3F-9613-C117ABA6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accurately reflects reality</a:t>
            </a:r>
          </a:p>
          <a:p>
            <a:r>
              <a:rPr lang="en-US" dirty="0"/>
              <a:t>Faithful to observed phenomena</a:t>
            </a:r>
          </a:p>
          <a:p>
            <a:r>
              <a:rPr lang="en-US" dirty="0"/>
              <a:t>Requires expert judgment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F17C8-08D1-A455-0A97-F667FC92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70E10-ABBF-CB14-4E70-DA88C7D3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288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34E8-AB33-91A5-71E2-B66960F7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6D97-B0CF-F5A4-6B3B-83F5FA13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Across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D6AA-E0C7-7698-4F0D-C085184BA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models may describe the same entity</a:t>
            </a:r>
          </a:p>
          <a:p>
            <a:r>
              <a:rPr lang="en-US" dirty="0"/>
              <a:t>They must align with each other</a:t>
            </a:r>
          </a:p>
          <a:p>
            <a:r>
              <a:rPr lang="en-US" dirty="0"/>
              <a:t>Inconsistencies reduce overall validity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712BE-D91B-7A3B-C523-3E5EAD8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02BA9-24DF-C80C-D467-6A3E605C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780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09C2-4017-DDB2-538B-FB371F22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3151-DB3F-A3D0-F5A4-9BF7A64D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2EA6-ACF8-80CC-4BE9-1F0B49720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Models are essential in software engineering</a:t>
            </a:r>
          </a:p>
          <a:p>
            <a:r>
              <a:rPr lang="en-US" dirty="0"/>
              <a:t>They support:</a:t>
            </a:r>
          </a:p>
          <a:p>
            <a:pPr lvl="1"/>
            <a:r>
              <a:rPr lang="en-US" dirty="0"/>
              <a:t>understanding</a:t>
            </a:r>
          </a:p>
          <a:p>
            <a:pPr lvl="1"/>
            <a:r>
              <a:rPr lang="en-US" dirty="0"/>
              <a:t>design</a:t>
            </a:r>
          </a:p>
          <a:p>
            <a:pPr lvl="1"/>
            <a:r>
              <a:rPr lang="en-US" dirty="0"/>
              <a:t>verification</a:t>
            </a:r>
          </a:p>
          <a:p>
            <a:r>
              <a:rPr lang="en-US" dirty="0"/>
              <a:t>Different models serve different purposes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F1796-C452-CD0F-8535-C5B639DD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02A3D-977A-6504-79C5-8917E7C0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3 -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84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1775</Words>
  <Application>Microsoft Macintosh PowerPoint</Application>
  <PresentationFormat>Widescreen</PresentationFormat>
  <Paragraphs>215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Chapter 3: Models and  Description Languages</vt:lpstr>
      <vt:lpstr>Introduction to Models</vt:lpstr>
      <vt:lpstr>What is a Model?</vt:lpstr>
      <vt:lpstr>Models and Descriptions</vt:lpstr>
      <vt:lpstr>Key Characteristics of Models</vt:lpstr>
      <vt:lpstr>Modeling Languages</vt:lpstr>
      <vt:lpstr>Syntax and Semantics</vt:lpstr>
      <vt:lpstr>Levels of Modeling Rigor</vt:lpstr>
      <vt:lpstr>Informal Models</vt:lpstr>
      <vt:lpstr>Semi-formal Models</vt:lpstr>
      <vt:lpstr>Formal Models</vt:lpstr>
      <vt:lpstr>Choosing the Right Level of Rigor</vt:lpstr>
      <vt:lpstr>Models in Software Engineering</vt:lpstr>
      <vt:lpstr>Models as Abstractions</vt:lpstr>
      <vt:lpstr>Analogy: Building Construction</vt:lpstr>
      <vt:lpstr>Models as Communication Tools</vt:lpstr>
      <vt:lpstr>Models in Requirements Engineering</vt:lpstr>
      <vt:lpstr>Models in Software Design</vt:lpstr>
      <vt:lpstr>Models in Verification and Validation</vt:lpstr>
      <vt:lpstr>Model-Driven Engineering (MDE)</vt:lpstr>
      <vt:lpstr>Quality of a Model</vt:lpstr>
      <vt:lpstr>Intrinsic Quality</vt:lpstr>
      <vt:lpstr>Internal Consistency</vt:lpstr>
      <vt:lpstr>External Coherence</vt:lpstr>
      <vt:lpstr>Coherence Across Models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Alessandro Margara</cp:lastModifiedBy>
  <cp:revision>47</cp:revision>
  <dcterms:created xsi:type="dcterms:W3CDTF">2025-05-15T11:20:47Z</dcterms:created>
  <dcterms:modified xsi:type="dcterms:W3CDTF">2025-12-17T10:25:54Z</dcterms:modified>
</cp:coreProperties>
</file>