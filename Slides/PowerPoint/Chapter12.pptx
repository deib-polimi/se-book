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59" r:id="rId3"/>
    <p:sldId id="2134805308" r:id="rId4"/>
    <p:sldId id="2134805309" r:id="rId5"/>
    <p:sldId id="2134805310" r:id="rId6"/>
    <p:sldId id="2134805311" r:id="rId7"/>
    <p:sldId id="2134805312" r:id="rId8"/>
    <p:sldId id="2134805313" r:id="rId9"/>
    <p:sldId id="2134805318" r:id="rId10"/>
    <p:sldId id="2134805314" r:id="rId11"/>
    <p:sldId id="2134805315" r:id="rId12"/>
    <p:sldId id="2134805316" r:id="rId13"/>
    <p:sldId id="2134805317" r:id="rId14"/>
    <p:sldId id="2134805319" r:id="rId15"/>
    <p:sldId id="2134805320" r:id="rId16"/>
    <p:sldId id="2134805321" r:id="rId17"/>
    <p:sldId id="2134805322" r:id="rId18"/>
    <p:sldId id="2134805323" r:id="rId19"/>
    <p:sldId id="2134805324" r:id="rId20"/>
    <p:sldId id="2134805325" r:id="rId21"/>
    <p:sldId id="2134805326" r:id="rId22"/>
    <p:sldId id="2134805327" r:id="rId23"/>
    <p:sldId id="2134805328" r:id="rId24"/>
    <p:sldId id="2134805329" r:id="rId25"/>
    <p:sldId id="2134805330" r:id="rId26"/>
    <p:sldId id="2134805331" r:id="rId27"/>
    <p:sldId id="2134805332" r:id="rId28"/>
    <p:sldId id="2134805333" r:id="rId29"/>
    <p:sldId id="2134805334" r:id="rId30"/>
    <p:sldId id="2134805335" r:id="rId31"/>
    <p:sldId id="2134805336" r:id="rId32"/>
    <p:sldId id="2134805337" r:id="rId33"/>
    <p:sldId id="2134805339" r:id="rId34"/>
    <p:sldId id="2134805340" r:id="rId35"/>
    <p:sldId id="2134805338" r:id="rId36"/>
    <p:sldId id="2134805341" r:id="rId37"/>
    <p:sldId id="2134805342" r:id="rId38"/>
    <p:sldId id="2134805343" r:id="rId39"/>
    <p:sldId id="2134805344" r:id="rId40"/>
    <p:sldId id="2134805345" r:id="rId41"/>
    <p:sldId id="2134805346" r:id="rId42"/>
    <p:sldId id="2134805347" r:id="rId43"/>
    <p:sldId id="2134805348" r:id="rId44"/>
    <p:sldId id="2134805349" r:id="rId45"/>
    <p:sldId id="2134805350" r:id="rId46"/>
    <p:sldId id="2134805351" r:id="rId47"/>
    <p:sldId id="2134805352" r:id="rId48"/>
    <p:sldId id="2134805353" r:id="rId49"/>
    <p:sldId id="2134805301" r:id="rId50"/>
    <p:sldId id="2134805302" r:id="rId51"/>
    <p:sldId id="2134805306" r:id="rId52"/>
    <p:sldId id="2134805354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1"/>
    <p:restoredTop sz="94640"/>
  </p:normalViewPr>
  <p:slideViewPr>
    <p:cSldViewPr snapToGrid="0">
      <p:cViewPr varScale="1">
        <p:scale>
          <a:sx n="107" d="100"/>
          <a:sy n="107" d="100"/>
        </p:scale>
        <p:origin x="5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1A6552-0A6C-D244-A2C8-B478F33B238A}" type="datetimeFigureOut">
              <a:rPr lang="en-US" smtClean="0"/>
              <a:t>1/16/26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740C50-DB3F-694F-A5EA-834EAC917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3069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3BC2B-6CDA-72E2-229B-18DEF391FA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6613BC-7CB8-5A38-CD30-2C58A648B3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97053D-FB66-9EF0-41B9-05675F1D8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5E4A305-5980-51C4-00CE-A1E53A478C1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2797" y="6307083"/>
            <a:ext cx="1325203" cy="463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7765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9C6C1-E6BA-4617-CEA1-A46333E5B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A5070-78BD-D7FC-3836-A86EAF520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56B37-1922-E8D3-885A-1BEDCB2C3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FEE563-D749-E1BC-79F7-18DBB9ADC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9C708C23-44BA-83EE-805A-FA7D5AC43C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211" y="6307083"/>
            <a:ext cx="1325203" cy="463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6067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653B9-9588-F242-424C-FCBB884F6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10FA4E-8AC2-FBC2-6505-59158EC906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E71F0-A64A-9841-1C40-6F5056C75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Chapter12 -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43019A-A54C-4805-AC3B-89DFDA94F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F74D2014-878F-FF20-787E-1D8B6C11D5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211" y="6307083"/>
            <a:ext cx="1325203" cy="463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161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4EC80-0B57-11D7-6A08-DA72C26DB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99C45-27E0-950B-DC56-2883613570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FEE44-6404-140F-5A0B-666C299590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3AA74-7D0B-6A68-C6F1-58669BD5E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435119-2D05-18ED-1F86-7B52DBC90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32EB2575-90E9-434C-12F2-9D918266825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211" y="6307083"/>
            <a:ext cx="1325203" cy="463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1792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79FF7-A942-3ABB-E89F-C11FE71A6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1B25CB-87EE-7F13-C2E5-98AEFE3A0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61A3B3-B0C2-D253-5839-21704BC92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F3FF5C-DC76-BE96-FF09-1D64C4C206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E43628-B25A-5FA2-726A-C013AEF1F8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6CB1D8-8615-69BE-A5AC-84686035C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28A28F-B43E-6906-568E-3DE2F621C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25503364-8263-0069-3E15-E53AA0FF60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211" y="6307083"/>
            <a:ext cx="1325203" cy="463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09370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300EA-D986-DFE9-8606-5412B2504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319164-4796-E83E-B99E-763DDB92E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81A88B-6D57-DFC8-99F7-A2961B377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2E864F53-95E2-27F6-7EA4-B017856047C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211" y="6307083"/>
            <a:ext cx="1325203" cy="463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959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42A436-0A8C-6244-CE2E-050985EC4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07374-4A63-ABE6-3E1E-6AAAA27B4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8B43AA4-1E44-6DFE-BF73-0153DA219E6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211" y="6307083"/>
            <a:ext cx="1325203" cy="463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8483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78E67-882E-9559-4DC2-620237B00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7F3FA-6A4E-B9A6-59F4-5716FADEDF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B5F38-CD1E-152F-206F-9B75CE0191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D44107-E234-3C60-AC0C-094462929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06735C-C2AF-213F-7E15-6C8911E0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46854FA-170D-685D-1287-0C3212C8DC4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211" y="6307083"/>
            <a:ext cx="1325203" cy="463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82524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652A8-28B3-1332-FFCA-4F93330C2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6512B4-F468-3058-3490-9303023C0F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A5CBC0-DBE9-B3FB-9FD1-DD37BA890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1C05A0-55BA-F897-9634-005771C15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AE172D-4AC8-7CF1-F3B6-457AA8651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E73371F-ED2D-3D2D-E868-196FF8A3C5F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211" y="6307083"/>
            <a:ext cx="1325203" cy="463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9423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3B8E8-F679-8710-D25A-4D0574896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589DAA-8279-691A-D5BF-F5C892E67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C9042-AEE3-BD22-0364-B68E58C92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Chapter 9 -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AEF517-351F-E660-6564-F4A1D829F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E88B0B06-D280-3222-7446-AB54F002D4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211" y="6307083"/>
            <a:ext cx="1325203" cy="463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4671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4BD917-C4A5-7822-91C2-F4F96DE15A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E0A98C-EF04-BC3B-CF4A-B93A2E36EF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B9D545-B6AE-6057-9E2E-C7C224667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Chapter 9 -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A4EF9-342D-74DD-C592-195AD2BAD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D207AFF0-B925-74CB-DFC0-13BDE847CAF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211" y="6307083"/>
            <a:ext cx="1325203" cy="463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4004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F49B1-067C-B555-26D2-ABA3FE399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6BAAED-978F-CD12-11C3-500EA5002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F1C8E-C17C-A942-A064-333E0C9695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199" y="6356350"/>
            <a:ext cx="76996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 dirty="0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DFB1A4-8411-5ABB-AC32-FD865BAB74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5802" y="6356350"/>
            <a:ext cx="10179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4BADD-F420-F54C-BEF5-604E8EEED0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85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C8E8F-6B80-712E-4BC4-802945BDC2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Chapter 12: </a:t>
            </a:r>
            <a:br>
              <a:rPr lang="en-GB" dirty="0"/>
            </a:br>
            <a:r>
              <a:rPr lang="en-GB" dirty="0"/>
              <a:t>Design Principles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D62A6B-8524-A31B-0489-93460027EC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Summary slides from</a:t>
            </a:r>
            <a:br>
              <a:rPr lang="en-GB" dirty="0"/>
            </a:br>
            <a:r>
              <a:rPr lang="en-GB" dirty="0"/>
              <a:t>M. Camilli, E. Di Nitto, A. Fuggetta, </a:t>
            </a:r>
            <a:br>
              <a:rPr lang="en-GB" dirty="0"/>
            </a:br>
            <a:r>
              <a:rPr lang="en-GB" dirty="0"/>
              <a:t>A. Margara, M.G. Rossi, D.A. Tamburri. Software Engineering: a Structured Journey from Inception to Delivery. BUP 2025.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450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118268" cy="4351338"/>
          </a:xfrm>
        </p:spPr>
        <p:txBody>
          <a:bodyPr/>
          <a:lstStyle/>
          <a:p>
            <a:r>
              <a:rPr lang="en-GB" b="1" dirty="0"/>
              <a:t>Chapter 12</a:t>
            </a:r>
          </a:p>
          <a:p>
            <a:r>
              <a:rPr lang="en-GB" b="1" dirty="0"/>
              <a:t>Focus</a:t>
            </a:r>
            <a:r>
              <a:rPr lang="en-GB" dirty="0"/>
              <a:t>: Principles to consider during design of </a:t>
            </a:r>
          </a:p>
          <a:p>
            <a:pPr lvl="1"/>
            <a:r>
              <a:rPr lang="en-GB" dirty="0"/>
              <a:t>software components </a:t>
            </a:r>
          </a:p>
          <a:p>
            <a:pPr lvl="1"/>
            <a:r>
              <a:rPr lang="en-GB" dirty="0"/>
              <a:t>interfaces</a:t>
            </a:r>
            <a:endParaRPr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A63C-1FBB-4436-9082-3A2E9D519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dirty="0" err="1"/>
              <a:t>Chapter</a:t>
            </a:r>
            <a:r>
              <a:rPr lang="it-IT" dirty="0"/>
              <a:t> 12 - M. Camilli, E. Di Nitto, A. Fuggetta, A. Margara, M.G. Rossi, D.A. Tamburri.  Software Engineering: </a:t>
            </a:r>
            <a:br>
              <a:rPr lang="it-IT" dirty="0"/>
            </a:br>
            <a:r>
              <a:rPr lang="it-IT" dirty="0"/>
              <a:t>a </a:t>
            </a:r>
            <a:r>
              <a:rPr lang="it-IT" dirty="0" err="1"/>
              <a:t>Structured</a:t>
            </a:r>
            <a:r>
              <a:rPr lang="it-IT" dirty="0"/>
              <a:t> </a:t>
            </a:r>
            <a:r>
              <a:rPr lang="it-IT" dirty="0" err="1"/>
              <a:t>Journey</a:t>
            </a:r>
            <a:r>
              <a:rPr lang="it-IT" dirty="0"/>
              <a:t> from </a:t>
            </a:r>
            <a:r>
              <a:rPr lang="it-IT" dirty="0" err="1"/>
              <a:t>Inception</a:t>
            </a:r>
            <a:r>
              <a:rPr lang="it-IT" dirty="0"/>
              <a:t>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346A0E-47BD-D559-F37B-1AAC951E0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4663F6-D297-735B-CDC9-15944492D1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817" y="1803177"/>
            <a:ext cx="2997872" cy="426398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DE580-7456-E56E-3A40-C937E93AF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Design Principles Matter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6F2BB-4924-A39D-945D-2BF61DAB6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Architectural decisions should be guided by principles</a:t>
            </a:r>
          </a:p>
          <a:p>
            <a:r>
              <a:rPr lang="en-US" dirty="0"/>
              <a:t>Influence:</a:t>
            </a:r>
          </a:p>
          <a:p>
            <a:pPr lvl="1"/>
            <a:r>
              <a:rPr lang="en-US" dirty="0"/>
              <a:t>Software structure</a:t>
            </a:r>
          </a:p>
          <a:p>
            <a:pPr lvl="1"/>
            <a:r>
              <a:rPr lang="en-US" dirty="0"/>
              <a:t>Decision-making processes</a:t>
            </a:r>
          </a:p>
          <a:p>
            <a:pPr lvl="1"/>
            <a:r>
              <a:rPr lang="en-US" dirty="0"/>
              <a:t>Organization of development teams</a:t>
            </a:r>
          </a:p>
          <a:p>
            <a:r>
              <a:rPr lang="en-US" dirty="0"/>
              <a:t>Principles apply across:</a:t>
            </a:r>
          </a:p>
          <a:p>
            <a:pPr lvl="1"/>
            <a:r>
              <a:rPr lang="en-US" dirty="0"/>
              <a:t>Design</a:t>
            </a:r>
          </a:p>
          <a:p>
            <a:pPr lvl="1"/>
            <a:r>
              <a:rPr lang="en-US" dirty="0"/>
              <a:t>Implementation</a:t>
            </a:r>
          </a:p>
          <a:p>
            <a:pPr lvl="1"/>
            <a:r>
              <a:rPr lang="en-US" dirty="0"/>
              <a:t>Maintenance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4B225-CE0F-C3BF-56E1-46D818FEB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20DF89-CEBD-2C7A-3F9B-25523F5E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6190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47BA7-7CC8-2C1A-24EE-D8F8ADCC7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important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42B06-D101-86E5-84F5-64AE5D4C4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Divide and conquer</a:t>
            </a:r>
          </a:p>
          <a:p>
            <a:r>
              <a:rPr lang="en-US" dirty="0"/>
              <a:t>Abstraction</a:t>
            </a:r>
          </a:p>
          <a:p>
            <a:r>
              <a:rPr lang="en-US" dirty="0"/>
              <a:t>High cohesion</a:t>
            </a:r>
          </a:p>
          <a:p>
            <a:r>
              <a:rPr lang="en-US" dirty="0"/>
              <a:t>Encapsulation</a:t>
            </a:r>
          </a:p>
          <a:p>
            <a:r>
              <a:rPr lang="en-US" dirty="0"/>
              <a:t>Low coupling</a:t>
            </a:r>
          </a:p>
          <a:p>
            <a:r>
              <a:rPr lang="en-US" dirty="0"/>
              <a:t>Reuse</a:t>
            </a:r>
          </a:p>
          <a:p>
            <a:r>
              <a:rPr lang="en-US" dirty="0"/>
              <a:t>Reusability</a:t>
            </a:r>
          </a:p>
          <a:p>
            <a:r>
              <a:rPr lang="en-US" dirty="0"/>
              <a:t>Flexibility</a:t>
            </a:r>
          </a:p>
          <a:p>
            <a:r>
              <a:rPr lang="en-US" dirty="0"/>
              <a:t>Obsolescence planning</a:t>
            </a:r>
          </a:p>
          <a:p>
            <a:r>
              <a:rPr lang="en-US" dirty="0"/>
              <a:t>Portability</a:t>
            </a:r>
          </a:p>
          <a:p>
            <a:r>
              <a:rPr lang="en-US" dirty="0"/>
              <a:t>Testability</a:t>
            </a:r>
          </a:p>
          <a:p>
            <a:r>
              <a:rPr lang="en-US" dirty="0"/>
              <a:t>Defensive design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E4FEC-555B-3F90-3147-347162D74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5BA526-C0B6-20F7-6C5D-696499ED2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292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11371-B0D9-106F-374A-9B4262432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5DB37-7CE9-4EAC-49EB-125F308F8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Break a complex problem into smaller subproblems</a:t>
            </a:r>
          </a:p>
          <a:p>
            <a:r>
              <a:rPr lang="en-US" dirty="0"/>
              <a:t>Solve each subproblem independently</a:t>
            </a:r>
          </a:p>
          <a:p>
            <a:r>
              <a:rPr lang="en-US" dirty="0"/>
              <a:t>Combine partial solutions</a:t>
            </a:r>
          </a:p>
          <a:p>
            <a:endParaRPr lang="en-US" dirty="0"/>
          </a:p>
          <a:p>
            <a:r>
              <a:rPr lang="en-US" dirty="0"/>
              <a:t>Applicable both at the programming and design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1296D3-396A-8B8E-7036-A2E0DED70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717CEB-B5B9-7C7E-A03E-81AB4999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700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35FDA-52DE-D672-6710-1ABC83A26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Programming-level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D7CDC-293A-561E-EB15-BF15B9216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Binary search:</a:t>
            </a:r>
          </a:p>
          <a:p>
            <a:pPr lvl="1"/>
            <a:r>
              <a:rPr lang="en-US" dirty="0"/>
              <a:t>Works on sorted data</a:t>
            </a:r>
          </a:p>
          <a:p>
            <a:pPr lvl="1"/>
            <a:r>
              <a:rPr lang="en-US" dirty="0"/>
              <a:t>Reduces search space by half each step</a:t>
            </a:r>
          </a:p>
          <a:p>
            <a:pPr lvl="1"/>
            <a:r>
              <a:rPr lang="en-US" dirty="0"/>
              <a:t>Time complexity: O(log n)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DC2F5-3E49-869F-B5A5-BFC9B3322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05FBDD-737F-D03F-44EE-75D899C43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6F15045-7EF4-CDCA-C889-A571F8EC2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1578" y="3322749"/>
            <a:ext cx="5923451" cy="2611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392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78EB3-F58D-301F-38FF-AA178835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Design-level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40EF2-7BED-DEB8-7B40-D2C001A242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an e-commerce system to support: UC1: search for product, UC2: check product availability in the warehouse, UC3: purchase and pay, and UC4: package and deliver</a:t>
            </a:r>
          </a:p>
          <a:p>
            <a:r>
              <a:rPr lang="en-US" dirty="0"/>
              <a:t>Can lead to the identification of the components:</a:t>
            </a:r>
          </a:p>
          <a:p>
            <a:pPr lvl="1"/>
            <a:r>
              <a:rPr lang="en-GB" dirty="0" err="1"/>
              <a:t>ProductCatalogService</a:t>
            </a:r>
            <a:r>
              <a:rPr lang="en-GB" dirty="0"/>
              <a:t> </a:t>
            </a:r>
          </a:p>
          <a:p>
            <a:pPr lvl="1"/>
            <a:r>
              <a:rPr lang="en-GB" dirty="0" err="1"/>
              <a:t>WarehouseService</a:t>
            </a:r>
            <a:r>
              <a:rPr lang="en-GB" dirty="0"/>
              <a:t> </a:t>
            </a:r>
          </a:p>
          <a:p>
            <a:pPr lvl="1"/>
            <a:r>
              <a:rPr lang="en-GB" dirty="0" err="1"/>
              <a:t>PurchaseManager</a:t>
            </a:r>
            <a:r>
              <a:rPr lang="en-GB" dirty="0"/>
              <a:t> </a:t>
            </a:r>
          </a:p>
          <a:p>
            <a:pPr lvl="1"/>
            <a:r>
              <a:rPr lang="en-GB" dirty="0" err="1"/>
              <a:t>DeliveryManager</a:t>
            </a:r>
            <a:r>
              <a:rPr lang="en-GB" dirty="0"/>
              <a:t> </a:t>
            </a:r>
          </a:p>
          <a:p>
            <a:r>
              <a:rPr lang="en-US" dirty="0"/>
              <a:t>… each focusing on a specific concern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30A183-AB3C-1291-E3AF-645F7F44F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0F062-E4D4-8192-56DF-9C13B408C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66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2FA5E-E8A3-7BB7-4841-73A5C73F5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divide and conquer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C92FA-1FDB-EF31-0B19-A49E3EC81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Simplifies analysis</a:t>
            </a:r>
          </a:p>
          <a:p>
            <a:r>
              <a:rPr lang="en-US" dirty="0"/>
              <a:t>Improves maintainability</a:t>
            </a:r>
          </a:p>
          <a:p>
            <a:r>
              <a:rPr lang="en-US" dirty="0"/>
              <a:t>Supports modularity</a:t>
            </a:r>
          </a:p>
          <a:p>
            <a:r>
              <a:rPr lang="en-US" dirty="0"/>
              <a:t>Enables parallel development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4D336-30EF-983B-8D38-BE94F0A24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1D4E03-5A5B-E018-7EC0-8A94AEA68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395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8C2D4-DD04-D4F0-9911-0237BC78D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F2151-B6E8-DAB4-361D-38DCECF6B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57830-28F6-799D-CDAA-EAD01D5EF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728"/>
            <a:ext cx="10515600" cy="1079654"/>
          </a:xfrm>
          <a:ln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000" i="1" dirty="0"/>
              <a:t>Divide a problem in smaller subproblems both during design and implementation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CEFE6-0432-ED92-25EC-F17F0A25B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ACA42-6BC4-412C-1909-74B6DB2FB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2728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829B1-7E1D-57E7-CEE5-08F421C13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114C5-C96B-0D97-69F5-5175F7B0C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view of an object that focuses on the information relevant to a particular purpose and ignores the remainder of the information (</a:t>
            </a:r>
            <a:r>
              <a:rPr lang="en-GB" dirty="0"/>
              <a:t>ISO/IEC/IEEE (2017)</a:t>
            </a:r>
            <a:r>
              <a:rPr lang="en-US" dirty="0"/>
              <a:t>).</a:t>
            </a:r>
          </a:p>
          <a:p>
            <a:r>
              <a:rPr lang="en-US" dirty="0"/>
              <a:t>Software can be described at different levels to:</a:t>
            </a:r>
          </a:p>
          <a:p>
            <a:pPr lvl="1"/>
            <a:r>
              <a:rPr lang="en-US" dirty="0"/>
              <a:t>Highlight specific concerns</a:t>
            </a:r>
          </a:p>
          <a:p>
            <a:pPr lvl="1"/>
            <a:r>
              <a:rPr lang="en-US" dirty="0"/>
              <a:t>Hide low-level complexity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9411F-77D8-3A45-4E16-72A12CF4E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546EE-FC38-F088-0922-2509A8B33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388150-D041-023B-E9F2-935B57796CDD}"/>
              </a:ext>
            </a:extLst>
          </p:cNvPr>
          <p:cNvSpPr txBox="1"/>
          <p:nvPr/>
        </p:nvSpPr>
        <p:spPr>
          <a:xfrm>
            <a:off x="730973" y="5530632"/>
            <a:ext cx="107300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ISO/IEC/IEEE (2017). ISO/IEC/IEEE International Standard - Systems and software engineering–Vocabulary. </a:t>
            </a:r>
            <a:br>
              <a:rPr lang="en-GB" dirty="0"/>
            </a:br>
            <a:r>
              <a:rPr lang="en-GB" dirty="0"/>
              <a:t>ISO/IEC/IEEE 24765:2017(E), pp. 1–541 (cit. on pp. 202, 204, 207). </a:t>
            </a:r>
          </a:p>
        </p:txBody>
      </p:sp>
    </p:spTree>
    <p:extLst>
      <p:ext uri="{BB962C8B-B14F-4D97-AF65-F5344CB8AC3E}">
        <p14:creationId xmlns:p14="http://schemas.microsoft.com/office/powerpoint/2010/main" val="1247096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EE604-7132-FC86-63F7-93F96BDAA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Surveillance system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F6446-57F7-F3D3-B0A8-DC580E6C4C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3526" y="1825625"/>
            <a:ext cx="5030273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Description suitable for analyzing high-level concerns:</a:t>
            </a:r>
          </a:p>
          <a:p>
            <a:pPr lvl="1"/>
            <a:r>
              <a:rPr lang="en-US" dirty="0"/>
              <a:t>The need to interface cameras and sensors with the software components</a:t>
            </a:r>
          </a:p>
          <a:p>
            <a:pPr lvl="1"/>
            <a:r>
              <a:rPr lang="en-US" dirty="0"/>
              <a:t>The need to define proper communication mechanisms</a:t>
            </a:r>
          </a:p>
          <a:p>
            <a:r>
              <a:rPr lang="en-US" dirty="0"/>
              <a:t>Not suitable for lower-level tasks, e.g.</a:t>
            </a:r>
          </a:p>
          <a:p>
            <a:pPr lvl="1"/>
            <a:r>
              <a:rPr lang="en-GB" dirty="0"/>
              <a:t>The algorithm that detects unauthorized entry into the building 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E10D4-483E-3113-2B53-59164F460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23A6B1-B93B-D95C-DE91-631559E40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10</a:t>
            </a:fld>
            <a:endParaRPr lang="en-US"/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C94F6FFE-90D6-6348-E48D-0249A443B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833" y="1825625"/>
            <a:ext cx="5181600" cy="211974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6411669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F31D9-6CDF-4498-1EC6-2F014973D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abstraction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CFF9C-1237-4BD9-9A8C-FFA5F1B793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Manages complexity</a:t>
            </a:r>
          </a:p>
          <a:p>
            <a:r>
              <a:rPr lang="en-US" dirty="0"/>
              <a:t>Allows focus on the task at hand</a:t>
            </a:r>
          </a:p>
          <a:p>
            <a:r>
              <a:rPr lang="en-US" dirty="0"/>
              <a:t>Prevents premature concern with details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FB715D-7AEE-9B5C-367A-BF6380D6F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5566E-7DF4-B7CE-6CD4-0D382B0FC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576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F6726-F0DE-0D57-BEA7-7ECDB7AB7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F93C5-9E81-1201-3170-072A6E9DE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728"/>
            <a:ext cx="10515600" cy="1079654"/>
          </a:xfrm>
          <a:ln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000" i="1" dirty="0"/>
              <a:t>Maintain the highest possible level of abstraction for a given task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1B5D63-3D7B-9A33-9B38-6EADB6201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A21BA8-E3F0-B134-AF30-BABC23EFD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843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360AC-3E94-0DA0-D35C-B956B1B94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related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D0D65-EE91-8E68-20C2-9105455FF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Cohesion → inside a module</a:t>
            </a:r>
          </a:p>
          <a:p>
            <a:r>
              <a:rPr lang="en-US" dirty="0"/>
              <a:t>Encapsulation → module boundaries</a:t>
            </a:r>
          </a:p>
          <a:p>
            <a:r>
              <a:rPr lang="en-US" dirty="0"/>
              <a:t>Coupling → interactions between modules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76870-01F2-60A3-E70C-CA8BB2B6F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FFC7A-9D64-396D-D8DB-977605F40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0453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BF23A-6CF2-F054-4C15-1B8407F90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Cohesion -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914EE-A148-C63D-CA80-AB8017A9B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module is cohesive if its parts are logically related</a:t>
            </a:r>
          </a:p>
          <a:p>
            <a:r>
              <a:rPr lang="en-US" dirty="0"/>
              <a:t>Each module should represent a single, clear responsibility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C7637-255F-EFD8-50A4-A9A085814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667240-BBD3-71C3-9D09-78C958957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2944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A31F0-DD93-30D9-51E2-56011E02D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poor cohesion</a:t>
            </a:r>
          </a:p>
        </p:txBody>
      </p:sp>
      <p:pic>
        <p:nvPicPr>
          <p:cNvPr id="7" name="Content Placeholder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991A23C9-508C-23BC-69C0-A1D04D0E3A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199" y="2513424"/>
            <a:ext cx="6291702" cy="2583464"/>
          </a:xfrm>
          <a:ln>
            <a:solidFill>
              <a:schemeClr val="tx1"/>
            </a:solidFill>
          </a:ln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EF366B7-FA61-A958-6D8A-259C7B63E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17036" y="2598976"/>
            <a:ext cx="4036764" cy="1660047"/>
          </a:xfrm>
        </p:spPr>
        <p:txBody>
          <a:bodyPr/>
          <a:lstStyle/>
          <a:p>
            <a:r>
              <a:rPr lang="en-US" dirty="0"/>
              <a:t>Leads to: </a:t>
            </a:r>
          </a:p>
          <a:p>
            <a:pPr lvl="1"/>
            <a:r>
              <a:rPr lang="en-US" dirty="0"/>
              <a:t>Duplication</a:t>
            </a:r>
          </a:p>
          <a:p>
            <a:pPr lvl="1"/>
            <a:r>
              <a:rPr lang="en-US" dirty="0"/>
              <a:t>Maintenance problems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BD42B-1B30-0BEA-0E51-9FA8E4F7A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C3C617-87AE-05DB-FF08-EFB9C235E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6141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947AE-39F6-3536-8E83-BE0EE2222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good cohesion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3AEC0C5-34CB-4666-C41F-6A2AD20E5DE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04900" y="2661443"/>
            <a:ext cx="5181600" cy="2987207"/>
          </a:xfrm>
          <a:ln>
            <a:solidFill>
              <a:schemeClr val="tx1"/>
            </a:solidFill>
          </a:ln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4D8372-928B-4935-5D02-B5AAA11E8E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80959" y="3660632"/>
            <a:ext cx="5181600" cy="988827"/>
          </a:xfrm>
        </p:spPr>
        <p:txBody>
          <a:bodyPr/>
          <a:lstStyle/>
          <a:p>
            <a:r>
              <a:rPr lang="en-US" dirty="0"/>
              <a:t>Clear responsibility boundaries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EF0FF-D6B1-3733-228D-373DA7D78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942F5-9109-F3CE-B6F4-76CECF1A0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595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6362F-9290-4B4F-1701-2EED96759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22AD9-3D97-8903-FA69-BF3F4EA1B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87259-8EE8-F2FE-7DC7-D902A9FB6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728"/>
            <a:ext cx="10515600" cy="1079654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000" i="1" dirty="0"/>
              <a:t>Keep all modules as cohesive as possible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3F460-0AA8-3602-E389-AE6ACEC1A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46EC35-D7B9-1DEC-A009-5C77EE686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3653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E87A0-1A6A-2F19-4347-819D9FA13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 -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5B4DC-2747-A82C-6C8E-7C14AEFE1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idea that a module [...] has an external interface and an internal implementation (ISO/IEC/IEEE 2017)</a:t>
            </a:r>
          </a:p>
          <a:p>
            <a:r>
              <a:rPr lang="en-US" dirty="0"/>
              <a:t>Also known as </a:t>
            </a:r>
            <a:r>
              <a:rPr lang="en-US" i="1" dirty="0"/>
              <a:t>information hiding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86B6C2-1DA4-69EB-D1C8-06497AE45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E352F9-6ADE-52DC-8172-51AD01C6C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18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0B2286-FEF2-C49C-D0B7-6E70383C6BED}"/>
              </a:ext>
            </a:extLst>
          </p:cNvPr>
          <p:cNvSpPr txBox="1"/>
          <p:nvPr/>
        </p:nvSpPr>
        <p:spPr>
          <a:xfrm>
            <a:off x="730973" y="5530632"/>
            <a:ext cx="107300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ISO/IEC/IEEE (2017). ISO/IEC/IEEE International Standard - Systems and software engineering–Vocabulary. </a:t>
            </a:r>
            <a:br>
              <a:rPr lang="en-GB" dirty="0"/>
            </a:br>
            <a:r>
              <a:rPr lang="en-GB" dirty="0"/>
              <a:t>ISO/IEC/IEEE 24765:2017(E), pp. 1–541 (cit. on pp. 202, 204, 207). </a:t>
            </a:r>
          </a:p>
        </p:txBody>
      </p:sp>
    </p:spTree>
    <p:extLst>
      <p:ext uri="{BB962C8B-B14F-4D97-AF65-F5344CB8AC3E}">
        <p14:creationId xmlns:p14="http://schemas.microsoft.com/office/powerpoint/2010/main" val="2730634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E63C2-048D-2D6A-BC21-3C548F8D5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encapsulation is important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F9936-D917-4C50-D722-FC8E99B5A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Protects internal state</a:t>
            </a:r>
          </a:p>
          <a:p>
            <a:r>
              <a:rPr lang="en-US" dirty="0"/>
              <a:t>Reduces interdependencies between modules (coupling)</a:t>
            </a:r>
          </a:p>
          <a:p>
            <a:r>
              <a:rPr lang="en-US" dirty="0"/>
              <a:t>Enables implementation changes without breaking users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5F164-7DEB-8DB3-9765-6725104D4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E19984-2592-3859-D1F6-4EA075686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9361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8B8A8-47F6-31A3-1A51-E2A10D4EC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 example…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E2308-DA2A-208F-B561-819762FA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29D1C9-586E-2223-CCA8-A7B9FD81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20</a:t>
            </a:fld>
            <a:endParaRPr lang="en-US"/>
          </a:p>
        </p:txBody>
      </p:sp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7213F07-88B7-9BED-1DF6-868720B1B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892" y="319024"/>
            <a:ext cx="4381500" cy="5994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CC169E5-0C29-2D9F-DAA4-26F664002280}"/>
              </a:ext>
            </a:extLst>
          </p:cNvPr>
          <p:cNvSpPr txBox="1">
            <a:spLocks/>
          </p:cNvSpPr>
          <p:nvPr/>
        </p:nvSpPr>
        <p:spPr>
          <a:xfrm>
            <a:off x="751372" y="1351334"/>
            <a:ext cx="1849324" cy="5597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olidFill>
                  <a:srgbClr val="C00000"/>
                </a:solidFill>
              </a:rPr>
              <a:t>Interface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2D87F84-3BC8-BE1C-EBC3-2357D482481B}"/>
              </a:ext>
            </a:extLst>
          </p:cNvPr>
          <p:cNvSpPr txBox="1">
            <a:spLocks/>
          </p:cNvSpPr>
          <p:nvPr/>
        </p:nvSpPr>
        <p:spPr>
          <a:xfrm>
            <a:off x="4531883" y="4583775"/>
            <a:ext cx="2547752" cy="5597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olidFill>
                  <a:srgbClr val="C00000"/>
                </a:solidFill>
              </a:rPr>
              <a:t>Implementation</a:t>
            </a:r>
          </a:p>
        </p:txBody>
      </p:sp>
      <p:pic>
        <p:nvPicPr>
          <p:cNvPr id="18" name="Picture 17" descr="A close-up of a text&#10;&#10;AI-generated content may be incorrect.">
            <a:extLst>
              <a:ext uri="{FF2B5EF4-FFF2-40B4-BE49-F238E27FC236}">
                <a16:creationId xmlns:a16="http://schemas.microsoft.com/office/drawing/2014/main" id="{EF01BC81-8455-D5FF-1E50-8DBB0423B3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372" y="2072350"/>
            <a:ext cx="5099914" cy="202474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7538F21A-3761-0BE5-1B19-294D75C2DB09}"/>
              </a:ext>
            </a:extLst>
          </p:cNvPr>
          <p:cNvCxnSpPr>
            <a:cxnSpLocks/>
            <a:stCxn id="10" idx="3"/>
            <a:endCxn id="18" idx="0"/>
          </p:cNvCxnSpPr>
          <p:nvPr/>
        </p:nvCxnSpPr>
        <p:spPr>
          <a:xfrm>
            <a:off x="2600696" y="1631217"/>
            <a:ext cx="700633" cy="44113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F1199FEF-A862-6603-A170-268F7364F884}"/>
              </a:ext>
            </a:extLst>
          </p:cNvPr>
          <p:cNvCxnSpPr>
            <a:stCxn id="11" idx="3"/>
            <a:endCxn id="9" idx="1"/>
          </p:cNvCxnSpPr>
          <p:nvPr/>
        </p:nvCxnSpPr>
        <p:spPr>
          <a:xfrm flipV="1">
            <a:off x="7079635" y="3316224"/>
            <a:ext cx="312257" cy="1547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0994E420-D701-C667-EE47-E93A5488BCF7}"/>
              </a:ext>
            </a:extLst>
          </p:cNvPr>
          <p:cNvSpPr txBox="1">
            <a:spLocks/>
          </p:cNvSpPr>
          <p:nvPr/>
        </p:nvSpPr>
        <p:spPr>
          <a:xfrm>
            <a:off x="639091" y="4258342"/>
            <a:ext cx="4168196" cy="216937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Public interface defines allowed operations</a:t>
            </a:r>
            <a:endParaRPr lang="en-US" dirty="0"/>
          </a:p>
          <a:p>
            <a:r>
              <a:rPr lang="en-GB" dirty="0"/>
              <a:t>Internal state is private</a:t>
            </a:r>
            <a:endParaRPr lang="en-US" dirty="0"/>
          </a:p>
          <a:p>
            <a:r>
              <a:rPr lang="en-GB" dirty="0"/>
              <a:t>Input validation ensures consistency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2962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CD22D-7AC7-6B3D-1236-2BEED4F98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Encapsulation example</a:t>
            </a:r>
          </a:p>
        </p:txBody>
      </p:sp>
      <p:pic>
        <p:nvPicPr>
          <p:cNvPr id="7" name="Content Placeholder 6" descr="A computer code with text&#10;&#10;AI-generated content may be incorrect.">
            <a:extLst>
              <a:ext uri="{FF2B5EF4-FFF2-40B4-BE49-F238E27FC236}">
                <a16:creationId xmlns:a16="http://schemas.microsoft.com/office/drawing/2014/main" id="{701D77EF-ABD7-EDF3-1C94-08F48A104B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07138" y="1424066"/>
            <a:ext cx="5210309" cy="4724216"/>
          </a:xfrm>
          <a:ln>
            <a:solidFill>
              <a:schemeClr val="tx1"/>
            </a:solidFill>
          </a:ln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40628A-3CC5-7558-ACEC-BCF8DE522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131DE8-67B0-AB29-5740-3ED156CA9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21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915CDE1-D80F-7021-E25E-4779A3A64BE0}"/>
              </a:ext>
            </a:extLst>
          </p:cNvPr>
          <p:cNvSpPr txBox="1">
            <a:spLocks/>
          </p:cNvSpPr>
          <p:nvPr/>
        </p:nvSpPr>
        <p:spPr>
          <a:xfrm>
            <a:off x="1641500" y="1898756"/>
            <a:ext cx="2978002" cy="10332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C00000"/>
                </a:solidFill>
              </a:rPr>
              <a:t>Alternative 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implementation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5824BB-AB0B-9918-E070-8C2B9F687F64}"/>
              </a:ext>
            </a:extLst>
          </p:cNvPr>
          <p:cNvSpPr txBox="1">
            <a:spLocks/>
          </p:cNvSpPr>
          <p:nvPr/>
        </p:nvSpPr>
        <p:spPr>
          <a:xfrm>
            <a:off x="838200" y="3269525"/>
            <a:ext cx="4168196" cy="21693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Internal representation can change</a:t>
            </a:r>
          </a:p>
          <a:p>
            <a:r>
              <a:rPr lang="en-US" dirty="0"/>
              <a:t>Interface remains stable</a:t>
            </a:r>
          </a:p>
          <a:p>
            <a:r>
              <a:rPr lang="en-US" dirty="0"/>
              <a:t>Users unaffected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EC754A8E-30F9-2118-D6BF-490EB339183D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>
            <a:off x="4619502" y="2415404"/>
            <a:ext cx="887636" cy="1370770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503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CF4C9-5E88-E1FF-4B96-704EBE380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A24B1-2350-6697-BFD7-68EB55EAC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80677-9B9C-D2A1-64E4-9A37513AE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728"/>
            <a:ext cx="10515600" cy="1079654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4000" i="1" dirty="0"/>
              <a:t>Expose the minimum amount of resources</a:t>
            </a:r>
            <a:endParaRPr lang="en-US" sz="4000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5D56F-B3D0-ADE7-DAB0-C19F0BCB5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C21ED-F462-AD5C-4989-88E467DB4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6412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C5DF9-2027-D575-7A2C-F8D45D308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encapsulation and visibility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5DABF-F590-C97B-82A2-B381F99AF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all operations need to be public</a:t>
            </a:r>
          </a:p>
          <a:p>
            <a:r>
              <a:rPr lang="en-US" dirty="0"/>
              <a:t>Example: </a:t>
            </a:r>
          </a:p>
          <a:p>
            <a:pPr lvl="1"/>
            <a:r>
              <a:rPr lang="en-US" dirty="0"/>
              <a:t>Observer pattern</a:t>
            </a:r>
          </a:p>
          <a:p>
            <a:pPr lvl="1"/>
            <a:r>
              <a:rPr lang="en-US" dirty="0"/>
              <a:t>Internal notification methods should remain private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9B021C-42BA-967B-CE40-FBEA6507A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393CBD-EE81-C383-4570-985E72AA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7323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119C4-56C7-2C05-E12A-85F642DD4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Coupling -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041CB-4D1E-4628-09F6-3F52AD930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manner and degree of interdependence between software mod- ules (ISO/IEC/IEEE 2017) </a:t>
            </a:r>
          </a:p>
          <a:p>
            <a:endParaRPr lang="en-GB" dirty="0"/>
          </a:p>
          <a:p>
            <a:r>
              <a:rPr lang="en-GB" dirty="0"/>
              <a:t>Some coupling is necessary</a:t>
            </a:r>
          </a:p>
          <a:p>
            <a:r>
              <a:rPr lang="en-GB" dirty="0"/>
              <a:t>Excessive coupling is harmful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5150D-BDC4-A1A1-EC1C-5B7E37DC6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7ACD3-7C04-C18D-8A35-CDAE64E57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24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504570-047C-EDFD-84DF-416B28FC1450}"/>
              </a:ext>
            </a:extLst>
          </p:cNvPr>
          <p:cNvSpPr txBox="1"/>
          <p:nvPr/>
        </p:nvSpPr>
        <p:spPr>
          <a:xfrm>
            <a:off x="730973" y="5530632"/>
            <a:ext cx="107300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ISO/IEC/IEEE (2017). ISO/IEC/IEEE International Standard - Systems and software engineering–Vocabulary. </a:t>
            </a:r>
            <a:br>
              <a:rPr lang="en-GB" dirty="0"/>
            </a:br>
            <a:r>
              <a:rPr lang="en-GB" dirty="0"/>
              <a:t>ISO/IEC/IEEE 24765:2017(E), pp. 1–541 (cit. on pp. 202, 204, 207). </a:t>
            </a:r>
          </a:p>
        </p:txBody>
      </p:sp>
    </p:spTree>
    <p:extLst>
      <p:ext uri="{BB962C8B-B14F-4D97-AF65-F5344CB8AC3E}">
        <p14:creationId xmlns:p14="http://schemas.microsoft.com/office/powerpoint/2010/main" val="23091840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9FF92-3E48-24E2-0E56-E2FF1AED5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5972C-5A4A-DF0C-93BC-A968A3089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Communication coupling</a:t>
            </a:r>
          </a:p>
          <a:p>
            <a:r>
              <a:rPr lang="en-US" dirty="0"/>
              <a:t>Content coupling</a:t>
            </a:r>
          </a:p>
          <a:p>
            <a:r>
              <a:rPr lang="en-US" dirty="0"/>
              <a:t>Control coupling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C2F6A-ECD1-875A-84D8-03024EB94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EC6007-ED93-1120-01C6-3C6E6C0A5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599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C6435-3AC6-7C1C-EE8B-1F6472AA7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Coupling Example</a:t>
            </a:r>
            <a:endParaRPr lang="en-US" dirty="0"/>
          </a:p>
        </p:txBody>
      </p:sp>
      <p:pic>
        <p:nvPicPr>
          <p:cNvPr id="7" name="Content Placeholder 6" descr="A computer code with text&#10;&#10;AI-generated content may be incorrect.">
            <a:extLst>
              <a:ext uri="{FF2B5EF4-FFF2-40B4-BE49-F238E27FC236}">
                <a16:creationId xmlns:a16="http://schemas.microsoft.com/office/drawing/2014/main" id="{B8C65EA5-8ECC-A63E-485B-2D59A9A42C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8" y="1690687"/>
            <a:ext cx="4826331" cy="434218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5F183-1A9C-A40A-0272-195222424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50C2CE-D3FE-E113-CD94-DD41A8735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26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953886C-47F1-CEB3-BEF4-DFDA80D28F2E}"/>
              </a:ext>
            </a:extLst>
          </p:cNvPr>
          <p:cNvSpPr txBox="1">
            <a:spLocks/>
          </p:cNvSpPr>
          <p:nvPr/>
        </p:nvSpPr>
        <p:spPr>
          <a:xfrm>
            <a:off x="6096000" y="2743200"/>
            <a:ext cx="5257800" cy="24599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err="1"/>
              <a:t>Behavior</a:t>
            </a:r>
            <a:r>
              <a:rPr lang="en-GB" dirty="0"/>
              <a:t> of one module depends on control flags</a:t>
            </a:r>
            <a:endParaRPr lang="en-US" dirty="0"/>
          </a:p>
          <a:p>
            <a:r>
              <a:rPr lang="en-GB" dirty="0"/>
              <a:t>Requires knowledge of internal logic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1010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50BB0-2132-E3C7-C6F0-121A14CC8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high 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40A62-37CA-16CA-11DE-10AF02D0F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Harder to maintain</a:t>
            </a:r>
          </a:p>
          <a:p>
            <a:r>
              <a:rPr lang="en-US" dirty="0"/>
              <a:t>Changes propagate</a:t>
            </a:r>
          </a:p>
          <a:p>
            <a:r>
              <a:rPr lang="en-US" dirty="0"/>
              <a:t>Breaks encapsulation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9AC5EE-3C2D-61D1-56EC-BAFB975B4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AA3388-A3F8-228F-293E-AA2F2B711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7298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650C2-6E75-B887-093E-6D9ECEDD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766E-8CB5-5571-57D5-CD211B5C6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96975D-F656-4D46-80BB-9C7477329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728"/>
            <a:ext cx="10515600" cy="1079654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4000" i="1" dirty="0"/>
              <a:t>Reduce coupling where possible</a:t>
            </a:r>
            <a:endParaRPr lang="en-US" sz="4000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EF632B-C296-E6E6-DB08-1306437BD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D8574-B8CE-D834-F498-AB21B9A51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7078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C292A-93A3-38F0-B3D5-7ABE7F8CE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Reuse vs reusability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58692-C122-C9F4-5E87-4C59CAA6B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Reuse</a:t>
            </a:r>
            <a:r>
              <a:rPr lang="en-GB" dirty="0"/>
              <a:t>: using existing components</a:t>
            </a:r>
          </a:p>
          <a:p>
            <a:r>
              <a:rPr lang="en-GB" b="1" dirty="0"/>
              <a:t>Reusability</a:t>
            </a:r>
            <a:r>
              <a:rPr lang="en-GB" dirty="0"/>
              <a:t>: designing components to be reused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5D5054-93BC-ACBB-151C-CA8AD9EC8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384649-BCBD-9A54-8D94-B858C5DF3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4309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9C21D-8AE5-D7BA-9C01-FA1445A67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reuse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DF2F2-34E7-707B-CF0D-474052C81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Saves development time</a:t>
            </a:r>
          </a:p>
          <a:p>
            <a:r>
              <a:rPr lang="en-GB" dirty="0"/>
              <a:t>Often improves quality</a:t>
            </a:r>
          </a:p>
          <a:p>
            <a:r>
              <a:rPr lang="en-GB" dirty="0"/>
              <a:t>Leverages proven solutions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1E808-A0D3-5B73-52EA-FBB146AF8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F2AB7-3C1E-63CE-78DC-1ABC38E15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6511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B581E-EEB5-8931-59A6-91C03BCB9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of reuse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1B666-2327-9C3C-9DDD-9D8C65A91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Component selection</a:t>
            </a:r>
          </a:p>
          <a:p>
            <a:r>
              <a:rPr lang="en-GB" dirty="0"/>
              <a:t>Documentation quality</a:t>
            </a:r>
          </a:p>
          <a:p>
            <a:r>
              <a:rPr lang="en-GB" dirty="0"/>
              <a:t>Compatibility</a:t>
            </a:r>
          </a:p>
          <a:p>
            <a:r>
              <a:rPr lang="en-GB" dirty="0"/>
              <a:t>Independent evolution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3B01-43BC-DED3-7E16-F9270B5BB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8D43BE-BA4A-A6C8-A065-C9B73EDA3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667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08062-82C3-C13A-32D7-637DEF4C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32342-7FD5-F1BE-FD8F-8FD82F0B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333560-4BF2-1374-46CA-6161F393B1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727"/>
            <a:ext cx="10515600" cy="2077896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i="1" dirty="0"/>
              <a:t>Apply reuse whenever possible. </a:t>
            </a:r>
          </a:p>
          <a:p>
            <a:pPr marL="0" indent="0" algn="ctr">
              <a:buNone/>
            </a:pPr>
            <a:r>
              <a:rPr lang="en-GB" i="1" dirty="0"/>
              <a:t>Take advantage of investments in reusable components, but …</a:t>
            </a:r>
          </a:p>
          <a:p>
            <a:pPr marL="0" indent="0" algn="ctr">
              <a:buNone/>
            </a:pPr>
            <a:r>
              <a:rPr lang="en-GB" i="1" dirty="0"/>
              <a:t>always account for the need to align your system with changes in the reused components. </a:t>
            </a:r>
            <a:endParaRPr lang="en-GB" sz="4000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19BA88-A57D-E7F2-F29F-6AFB87E21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C1F876-000B-AEB1-2D6C-C1C5906A3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9067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A8C4E-D8D1-741A-D822-342B64116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DE6A0-EB38-4702-C193-72F8849A7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7AE89-9C3E-1A9B-4BB0-D260E5E20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727"/>
            <a:ext cx="10515600" cy="99427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i="1" dirty="0"/>
              <a:t>Design for reusability, both at the system level and for individual components. </a:t>
            </a:r>
            <a:endParaRPr lang="en-GB" sz="4000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9668C-5F38-8342-D401-231EF5D2E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70F357-8352-4E6C-B4F7-05BA93DEC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9488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D27A0-912F-548B-BF0E-3DD8B70A9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Designing for Change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3369A-FFDB-7CB3-0A64-FF95BDF625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Software must evolve</a:t>
            </a:r>
          </a:p>
          <a:p>
            <a:r>
              <a:rPr lang="en-GB" dirty="0"/>
              <a:t>Anticipate future requirements and design shifts</a:t>
            </a:r>
          </a:p>
          <a:p>
            <a:r>
              <a:rPr lang="en-GB" dirty="0"/>
              <a:t>Avoid rigid assumptions and hard-coded values</a:t>
            </a:r>
          </a:p>
          <a:p>
            <a:r>
              <a:rPr lang="en-GB" dirty="0"/>
              <a:t>Apply the other principles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2B5182-4386-B594-29C8-C5E08CE94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F681ED-28CC-5B00-7600-B79D62E7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67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93B9C-F092-DD73-A7E2-1516F21C8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D122C-A422-F820-B829-C9099BE6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46248-7D1C-FC57-9C19-B3165C6EA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727"/>
            <a:ext cx="10515600" cy="99427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i="1" dirty="0"/>
              <a:t>Design for future changes in mind. </a:t>
            </a:r>
            <a:endParaRPr lang="en-GB" sz="4000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D1669-7988-315F-FAB2-7D7F23320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0DACF8-F9D7-D89E-1413-3A28BB220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3492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FB444-9E84-D1C5-BD1B-D5F2EFF02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Obsolescence Risks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33B773-E7D8-E02A-2F6E-BD3A575001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Technologies evolve</a:t>
            </a:r>
          </a:p>
          <a:p>
            <a:r>
              <a:rPr lang="en-GB" dirty="0"/>
              <a:t>APIs, platforms, regulations change</a:t>
            </a:r>
          </a:p>
          <a:p>
            <a:r>
              <a:rPr lang="en-GB" dirty="0"/>
              <a:t>Example: impact of European GDPR regulations on software systems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F6BCF-336F-F46B-3722-5BBAA9D89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BE42D7-8FF1-B560-7693-AF60A588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0132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1D00F-3EB1-4F3C-260B-A6EF9CCEF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056EE-91F8-ADBB-217A-02138233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B5E6F-1893-E8AD-7CDC-582D975E7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727"/>
            <a:ext cx="10515600" cy="2077896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i="1" dirty="0"/>
              <a:t>Anticipate obsolescence.</a:t>
            </a:r>
          </a:p>
          <a:p>
            <a:pPr marL="0" indent="0" algn="ctr">
              <a:buNone/>
            </a:pPr>
            <a:r>
              <a:rPr lang="en-GB" i="1" dirty="0"/>
              <a:t>Avoid immature or vendor-specific technologies.</a:t>
            </a:r>
          </a:p>
          <a:p>
            <a:pPr marL="0" indent="0" algn="ctr">
              <a:buNone/>
            </a:pPr>
            <a:r>
              <a:rPr lang="en-GB" i="1" dirty="0"/>
              <a:t>Prefer stable standards.</a:t>
            </a:r>
          </a:p>
          <a:p>
            <a:pPr marL="0" indent="0" algn="ctr">
              <a:buNone/>
            </a:pPr>
            <a:r>
              <a:rPr lang="en-GB" i="1" dirty="0"/>
              <a:t> </a:t>
            </a:r>
            <a:endParaRPr lang="en-GB" sz="4000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BD416-7F3E-82F3-7F9A-6993A14C9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C39EF1-6121-DF70-4D33-4EBD53A1B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4494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5770B-BD06-1E8C-CDE6-7738F7CD2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E1156-349D-F308-9209-925B5A47C1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Run software across platforms</a:t>
            </a:r>
          </a:p>
          <a:p>
            <a:r>
              <a:rPr lang="en-GB" dirty="0"/>
              <a:t>Avoid platform-specific features</a:t>
            </a:r>
          </a:p>
          <a:p>
            <a:r>
              <a:rPr lang="en-GB" dirty="0"/>
              <a:t>Test on multiple environments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5489C-A401-5D03-E3BF-BFCB72BF6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5F441C-A9A4-1544-002E-0704BED40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1943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F5AE-9414-F25E-7F49-34AF67FD1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97FCD-86BC-9A9F-0166-25F19B021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FA2AF-B76A-E24A-B3EC-7F259ED5F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202" y="2859270"/>
            <a:ext cx="10515600" cy="905208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i="1" dirty="0"/>
              <a:t>Design software to be portable from the start. </a:t>
            </a:r>
            <a:endParaRPr lang="en-GB" sz="4000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B6C47-4987-DFCF-F16E-CFAEEF252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A2634-24C8-7C5F-EC6E-B2844B4DD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8744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01A30-61E2-39D7-4746-A09E94CA6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 for Testability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AA10A-1050-F3C8-19D0-9C10A5A12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Objective: maintain </a:t>
            </a:r>
            <a:r>
              <a:rPr lang="en-GB" dirty="0"/>
              <a:t>confidence in software correctness and stability </a:t>
            </a:r>
          </a:p>
          <a:p>
            <a:r>
              <a:rPr lang="en-GB" dirty="0"/>
              <a:t>Approach: design software to facilitate efficient and comprehensive testing </a:t>
            </a:r>
          </a:p>
          <a:p>
            <a:r>
              <a:rPr lang="en-GB" dirty="0"/>
              <a:t>Key practices</a:t>
            </a:r>
          </a:p>
          <a:p>
            <a:pPr lvl="1"/>
            <a:r>
              <a:rPr lang="en-GB" dirty="0"/>
              <a:t>Structure code in a modular and reliable way to facilitate unit testing</a:t>
            </a:r>
          </a:p>
          <a:p>
            <a:pPr lvl="1"/>
            <a:r>
              <a:rPr lang="en-GB" dirty="0"/>
              <a:t>Support automated verification by adopting testing frameworks</a:t>
            </a:r>
          </a:p>
          <a:p>
            <a:pPr lvl="1"/>
            <a:r>
              <a:rPr lang="en-GB" dirty="0"/>
              <a:t>Decouple business logic for UI to enable automated testing of business logic in isolation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B7F68-ECD3-5809-31D8-B78CFDFA0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51ACC1-2B7E-E955-D86D-B4F6D583B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8103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41CED-28B3-ED15-E9C8-2CD8DDB3E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400C9-9A7C-7FEF-B389-F97E5020F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BB5D7-B71F-5DED-BBD0-E82E02A94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202" y="2859270"/>
            <a:ext cx="10515600" cy="905208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i="1" dirty="0"/>
              <a:t>Design for testability – make software easier to test. </a:t>
            </a:r>
            <a:endParaRPr lang="en-GB" sz="4000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9A1D64-245D-77A1-83A8-9653F4F3D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73D164-47E1-9EB1-5611-2D694AF96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7603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9682B-E859-B7B2-B85A-BF1A0B091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Defensive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EB80C-0CBB-90F3-FAA4-FEB08CB23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Objective: </a:t>
            </a:r>
            <a:r>
              <a:rPr lang="en-GB" dirty="0"/>
              <a:t>build components that behave predictably and fail gracefully under adverse conditions. </a:t>
            </a:r>
          </a:p>
          <a:p>
            <a:r>
              <a:rPr lang="en-US" dirty="0"/>
              <a:t>Approach: assume that </a:t>
            </a:r>
            <a:r>
              <a:rPr lang="en-GB" dirty="0"/>
              <a:t>other components, or external users, may misuse the module </a:t>
            </a:r>
          </a:p>
          <a:p>
            <a:pPr lvl="1"/>
            <a:r>
              <a:rPr lang="en-US" dirty="0"/>
              <a:t>Validate inputs</a:t>
            </a:r>
          </a:p>
          <a:p>
            <a:pPr lvl="1"/>
            <a:r>
              <a:rPr lang="en-US" dirty="0"/>
              <a:t>Handle errors gracefully</a:t>
            </a:r>
          </a:p>
          <a:p>
            <a:pPr lvl="1"/>
            <a:r>
              <a:rPr lang="en-US" dirty="0"/>
              <a:t>Anticipate edge cases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40462-E184-DA98-8770-BC00E5A6D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8EF12A-8B5E-CA11-3237-24FAAED4D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5739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548A7-EADF-65FC-BF07-2B2AC63F0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Balance in defensive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C16D8-0C03-E66E-810C-0DAE213182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Avoid excessive checks</a:t>
            </a:r>
          </a:p>
          <a:p>
            <a:r>
              <a:rPr lang="en-GB" dirty="0"/>
              <a:t>Apply defensive measures at module boundaries and public interfaces</a:t>
            </a:r>
          </a:p>
          <a:p>
            <a:r>
              <a:rPr lang="en-GB" dirty="0"/>
              <a:t>Take into account the criticality of your software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E6CFA-F4D7-3568-4105-13A5627BF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75A718-CA3F-DDFC-B32B-EA3BEE8A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582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696AD-CBB9-A1F5-83C3-770D2EDF9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68993-DCE4-5771-67A8-44F8DB57C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 12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F8FBE-7409-B6F3-1001-E04BD9D19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202" y="2859270"/>
            <a:ext cx="10515600" cy="905208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i="1" dirty="0"/>
              <a:t>Design defensively, but strike the right balance with </a:t>
            </a:r>
            <a:r>
              <a:rPr lang="en-GB" i="1" dirty="0" err="1"/>
              <a:t>clar</a:t>
            </a:r>
            <a:r>
              <a:rPr lang="en-GB" i="1" dirty="0"/>
              <a:t>- </a:t>
            </a:r>
            <a:r>
              <a:rPr lang="en-GB" i="1" dirty="0" err="1"/>
              <a:t>ity</a:t>
            </a:r>
            <a:r>
              <a:rPr lang="en-GB" i="1" dirty="0"/>
              <a:t> and efficiency.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239CC-3B08-DD22-A4E4-494F516C9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2ADF9C-BBF3-2148-4C0C-3219C8A16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4573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DEAE4-3B0B-ADF6-AC1E-2CFAA83A1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design and design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019EC-29FD-DD3A-CF68-8B157117B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Role of interfaces</a:t>
            </a:r>
          </a:p>
          <a:p>
            <a:pPr lvl="1"/>
            <a:r>
              <a:rPr lang="en-GB" dirty="0"/>
              <a:t>Define component boundaries</a:t>
            </a:r>
          </a:p>
          <a:p>
            <a:pPr lvl="1"/>
            <a:r>
              <a:rPr lang="en-GB" dirty="0"/>
              <a:t>Establish long-term contracts</a:t>
            </a:r>
          </a:p>
          <a:p>
            <a:pPr lvl="1"/>
            <a:r>
              <a:rPr lang="en-GB" dirty="0"/>
              <a:t>Affect maintainability and evolution</a:t>
            </a:r>
          </a:p>
          <a:p>
            <a:r>
              <a:rPr lang="en-GB" dirty="0"/>
              <a:t>Important general principles</a:t>
            </a:r>
          </a:p>
          <a:p>
            <a:pPr lvl="1"/>
            <a:r>
              <a:rPr lang="en-GB" dirty="0"/>
              <a:t>Encapsulation</a:t>
            </a:r>
          </a:p>
          <a:p>
            <a:pPr lvl="1"/>
            <a:r>
              <a:rPr lang="en-GB" dirty="0"/>
              <a:t>Low coupling</a:t>
            </a:r>
          </a:p>
          <a:p>
            <a:r>
              <a:rPr lang="en-GB" dirty="0"/>
              <a:t>Specific principles</a:t>
            </a:r>
          </a:p>
          <a:p>
            <a:pPr lvl="1"/>
            <a:r>
              <a:rPr lang="en-GB" dirty="0"/>
              <a:t>Contract principle</a:t>
            </a:r>
          </a:p>
          <a:p>
            <a:pPr lvl="1"/>
            <a:r>
              <a:rPr lang="en-GB" dirty="0"/>
              <a:t>Least surprise </a:t>
            </a:r>
          </a:p>
          <a:p>
            <a:pPr lvl="1"/>
            <a:r>
              <a:rPr lang="en-GB" dirty="0"/>
              <a:t>Small interfaces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1AC9CD-0D46-966F-EC75-ECE69F89B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4A6380-982B-AB65-A02C-BB9D4AB21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911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3C015-E66B-2B31-9206-5F184FC7D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development: key technical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3A639-ED89-59A3-01C0-FA39C0702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Interaction style (e.g., RPC, REST, sockets)</a:t>
            </a:r>
          </a:p>
          <a:p>
            <a:r>
              <a:rPr lang="en-US" dirty="0"/>
              <a:t>Data representation (e.g., XML, JSON, Protocol Buffers)</a:t>
            </a:r>
          </a:p>
          <a:p>
            <a:r>
              <a:rPr lang="en-US" dirty="0"/>
              <a:t>Error handling mechanism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6333D-B42E-DADB-B6F2-FB4BA9A9E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1E147-5013-6FCA-132C-7786889E0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0702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D592D-4FAC-5CCD-3ED0-5AEE0511D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representation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10D28-21DB-D66E-4311-0AEA39CA3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0068A9-8414-4D00-001A-261C99D1A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47</a:t>
            </a:fld>
            <a:endParaRPr lang="en-US"/>
          </a:p>
        </p:txBody>
      </p:sp>
      <p:graphicFrame>
        <p:nvGraphicFramePr>
          <p:cNvPr id="6" name="Content Placeholder 8">
            <a:extLst>
              <a:ext uri="{FF2B5EF4-FFF2-40B4-BE49-F238E27FC236}">
                <a16:creationId xmlns:a16="http://schemas.microsoft.com/office/drawing/2014/main" id="{77A4D0C5-53C2-E472-6FBF-919BDA7108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998346"/>
              </p:ext>
            </p:extLst>
          </p:nvPr>
        </p:nvGraphicFramePr>
        <p:xfrm>
          <a:off x="838200" y="2173968"/>
          <a:ext cx="10515600" cy="29362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443935620"/>
                    </a:ext>
                  </a:extLst>
                </a:gridCol>
                <a:gridCol w="2301240">
                  <a:extLst>
                    <a:ext uri="{9D8B030D-6E8A-4147-A177-3AD203B41FA5}">
                      <a16:colId xmlns:a16="http://schemas.microsoft.com/office/drawing/2014/main" val="134164895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9934958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322853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89336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/>
                        <a:t>XML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/>
                        <a:t>JSON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/>
                        <a:t>Protocol Buffers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Java serialization</a:t>
                      </a:r>
                      <a:endParaRPr lang="en-IT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13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T" sz="1800" b="1"/>
                        <a:t>Expressiveness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 sz="1800"/>
                        <a:t>Good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 sz="1800"/>
                        <a:t>Good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 sz="1800"/>
                        <a:t>Good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Excellent</a:t>
                      </a:r>
                      <a:endParaRPr lang="en-IT" sz="18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8844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/>
                        <a:t>Implementation independence</a:t>
                      </a:r>
                      <a:endParaRPr lang="en-IT" sz="1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 sz="1800"/>
                        <a:t>Good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 sz="1800"/>
                        <a:t>Good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 sz="1800"/>
                        <a:t>Good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Low</a:t>
                      </a:r>
                      <a:endParaRPr lang="en-IT" sz="18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6662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T" sz="1800" b="1"/>
                        <a:t>Performance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 sz="1800"/>
                        <a:t>Verbose, requires multiple parsing passes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 sz="1800"/>
                        <a:t>More compact that XML, single pass parsing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 sz="1800"/>
                        <a:t>The most compact 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Between JSON and Protocol Buffer</a:t>
                      </a:r>
                      <a:endParaRPr lang="en-IT" sz="18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2262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T" sz="1800" b="1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/>
                        <a:t>G</a:t>
                      </a:r>
                      <a:r>
                        <a:rPr lang="en-IT" sz="1800"/>
                        <a:t>ood, data passed as text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/>
                        <a:t>G</a:t>
                      </a:r>
                      <a:r>
                        <a:rPr lang="en-IT" sz="1800"/>
                        <a:t>ood, data passed as text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T" sz="1800"/>
                        <a:t>Binary format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Bytecode</a:t>
                      </a:r>
                      <a:endParaRPr lang="en-IT" sz="18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5085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6637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DC480-597A-5F0A-4EB2-F887D13B9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Multiple interfaces and separation of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4E6DC-6E3F-EA76-B88D-5582E6427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T"/>
              <a:t>A server can offer multiple interfaces at the same time</a:t>
            </a:r>
          </a:p>
          <a:p>
            <a:r>
              <a:rPr lang="en-IT"/>
              <a:t>This enables</a:t>
            </a:r>
          </a:p>
          <a:p>
            <a:pPr lvl="1"/>
            <a:r>
              <a:rPr lang="en-IT"/>
              <a:t>Separation of concerns</a:t>
            </a:r>
          </a:p>
          <a:p>
            <a:pPr lvl="1"/>
            <a:r>
              <a:rPr lang="en-IT"/>
              <a:t>Different levels of access rights</a:t>
            </a:r>
          </a:p>
          <a:p>
            <a:pPr lvl="1"/>
            <a:r>
              <a:rPr lang="en-IT"/>
              <a:t>Support to interface evolution (see next)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2F5BE-D57F-7940-E0CB-082F1626A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IT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Architectural styles</a:t>
            </a:r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54849A-8A71-3F36-C09F-9C9D6029A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0DCBF-6A0F-2A4A-812C-7CF1FBB50149}" type="slidenum">
              <a:rPr lang="en-IT" smtClean="0"/>
              <a:t>48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7568419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309EF-66F6-BE26-5FAB-034838F85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Interface evolution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3CAD4-61D6-F22D-3FD7-A72088745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T"/>
              <a:t>Interfaces constitute the contract between servers and clients</a:t>
            </a:r>
          </a:p>
          <a:p>
            <a:r>
              <a:rPr lang="en-IT"/>
              <a:t>Sometimes interfaces need to evolve (e.g., to support new requirements)</a:t>
            </a:r>
          </a:p>
          <a:p>
            <a:r>
              <a:rPr lang="en-IT"/>
              <a:t>Strategies to support continuity</a:t>
            </a:r>
          </a:p>
          <a:p>
            <a:pPr lvl="1"/>
            <a:r>
              <a:rPr lang="en-IT" b="1"/>
              <a:t>Deprecation</a:t>
            </a:r>
            <a:r>
              <a:rPr lang="en-IT"/>
              <a:t>: declare well in advance that an interface version will be eliminated by a certain date</a:t>
            </a:r>
          </a:p>
          <a:p>
            <a:pPr lvl="1"/>
            <a:r>
              <a:rPr lang="en-IT" b="1"/>
              <a:t>Versioning</a:t>
            </a:r>
            <a:r>
              <a:rPr lang="en-IT"/>
              <a:t>: maintain multiple active versions of the interface</a:t>
            </a:r>
          </a:p>
          <a:p>
            <a:pPr lvl="1"/>
            <a:r>
              <a:rPr lang="en-IT" b="1"/>
              <a:t>Extension</a:t>
            </a:r>
            <a:r>
              <a:rPr lang="en-IT"/>
              <a:t>: a new version extends the previous one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A8729A-F7AB-6F8C-7499-F3DCE59C7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IT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Architectural styles</a:t>
            </a:r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E5453A-6359-F414-44FC-765CA7BFD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0DCBF-6A0F-2A4A-812C-7CF1FBB50149}" type="slidenum">
              <a:rPr lang="en-IT" smtClean="0"/>
              <a:t>49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5920985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3DF9-2B58-93E1-BA82-0583C68BC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documentation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E74D5-9DDE-7B2B-6E93-A032D3287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r>
              <a:rPr lang="en-US" dirty="0"/>
              <a:t>Focuses on usage, not internals</a:t>
            </a:r>
            <a:endParaRPr lang="en-IT">
              <a:solidFill>
                <a:srgbClr val="FF0000"/>
              </a:solidFill>
            </a:endParaRPr>
          </a:p>
          <a:p>
            <a:r>
              <a:rPr lang="en-IT"/>
              <a:t>Audience of an interface documentation</a:t>
            </a:r>
          </a:p>
          <a:p>
            <a:pPr lvl="1"/>
            <a:r>
              <a:rPr lang="en-IT" b="1"/>
              <a:t>Developers</a:t>
            </a:r>
            <a:r>
              <a:rPr lang="en-IT"/>
              <a:t> and maintainers of the component </a:t>
            </a:r>
            <a:r>
              <a:rPr lang="en-IT" b="1"/>
              <a:t>offering</a:t>
            </a:r>
            <a:r>
              <a:rPr lang="en-IT"/>
              <a:t> the interface</a:t>
            </a:r>
          </a:p>
          <a:p>
            <a:pPr lvl="1"/>
            <a:r>
              <a:rPr lang="en-IT" b="1"/>
              <a:t>Developers</a:t>
            </a:r>
            <a:r>
              <a:rPr lang="en-IT"/>
              <a:t> and maintainers of the component </a:t>
            </a:r>
            <a:r>
              <a:rPr lang="en-IT" b="1"/>
              <a:t>using</a:t>
            </a:r>
            <a:r>
              <a:rPr lang="en-IT"/>
              <a:t> the interface</a:t>
            </a:r>
          </a:p>
          <a:p>
            <a:pPr lvl="1"/>
            <a:r>
              <a:rPr lang="en-IT" b="1"/>
              <a:t>QA teams </a:t>
            </a:r>
            <a:r>
              <a:rPr lang="en-IT"/>
              <a:t>for system </a:t>
            </a:r>
            <a:r>
              <a:rPr lang="en-IT" b="1"/>
              <a:t>integration and testing</a:t>
            </a:r>
          </a:p>
          <a:p>
            <a:pPr lvl="1"/>
            <a:r>
              <a:rPr lang="en-IT" b="1"/>
              <a:t>Software architects </a:t>
            </a:r>
            <a:r>
              <a:rPr lang="en-IT"/>
              <a:t>(including those looking for reusable components) </a:t>
            </a:r>
          </a:p>
          <a:p>
            <a:pPr marL="457200" lvl="1" indent="0">
              <a:buNone/>
            </a:pPr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CDA1A-A480-C6B2-7680-A4C86CFF9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IT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Architectural styles</a:t>
            </a:r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73E01C-1E3A-6DFD-58FD-52DC5D714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0DCBF-6A0F-2A4A-812C-7CF1FBB50149}" type="slidenum">
              <a:rPr lang="en-IT" smtClean="0"/>
              <a:t>50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367741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5A72D-0562-E721-F3C8-838DE5369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Final Takeaways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EACE7-B9F3-97A8-EBE7-8F7B8183A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Design principles are not rules, but guidance</a:t>
            </a:r>
          </a:p>
          <a:p>
            <a:r>
              <a:rPr lang="en-GB" dirty="0"/>
              <a:t>Trade-offs are unavoidable</a:t>
            </a:r>
          </a:p>
          <a:p>
            <a:r>
              <a:rPr lang="en-GB" dirty="0"/>
              <a:t>Good design enables:</a:t>
            </a:r>
          </a:p>
          <a:p>
            <a:pPr lvl="1"/>
            <a:r>
              <a:rPr lang="en-GB" dirty="0"/>
              <a:t>Maintainability</a:t>
            </a:r>
          </a:p>
          <a:p>
            <a:pPr lvl="1"/>
            <a:r>
              <a:rPr lang="en-GB" dirty="0"/>
              <a:t>Evolution</a:t>
            </a:r>
          </a:p>
          <a:p>
            <a:pPr lvl="1"/>
            <a:r>
              <a:rPr lang="en-GB" dirty="0"/>
              <a:t>Long-term value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1C31E-58E6-6BCB-3D99-DEC7634D1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Chapter 12 - M. Camilli, E. Di Nitto, A. Fuggetta, A. Margara, M.G. Rossi, D.A. Tamburri.  Software Engineering: a Structured Journey from Inception to Delivery. BUP 2025.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16D062-BDAD-A065-ED9F-38F49CED8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4BADD-F420-F54C-BEF5-604E8EEED02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413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11231</TotalTime>
  <Words>3668</Words>
  <Application>Microsoft Macintosh PowerPoint</Application>
  <PresentationFormat>Widescreen</PresentationFormat>
  <Paragraphs>365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6" baseType="lpstr">
      <vt:lpstr>Aptos</vt:lpstr>
      <vt:lpstr>Aptos Display</vt:lpstr>
      <vt:lpstr>Arial</vt:lpstr>
      <vt:lpstr>Office Theme</vt:lpstr>
      <vt:lpstr>Chapter 12:  Design Principles</vt:lpstr>
      <vt:lpstr>Design Principles</vt:lpstr>
      <vt:lpstr>Why Design Principles Matter</vt:lpstr>
      <vt:lpstr>Some important principles</vt:lpstr>
      <vt:lpstr>Divide and conquer</vt:lpstr>
      <vt:lpstr>Programming-level example</vt:lpstr>
      <vt:lpstr>Design-level example</vt:lpstr>
      <vt:lpstr>Benefits of divide and conquer</vt:lpstr>
      <vt:lpstr>Design principle 1</vt:lpstr>
      <vt:lpstr>Abstraction</vt:lpstr>
      <vt:lpstr>Surveillance system example</vt:lpstr>
      <vt:lpstr>Why abstraction matters</vt:lpstr>
      <vt:lpstr>Design principle 2</vt:lpstr>
      <vt:lpstr>Three related concepts</vt:lpstr>
      <vt:lpstr>Cohesion - definition</vt:lpstr>
      <vt:lpstr>Example of poor cohesion</vt:lpstr>
      <vt:lpstr>Example of good cohesion</vt:lpstr>
      <vt:lpstr>Design principle 3</vt:lpstr>
      <vt:lpstr>Encapsulation - definition</vt:lpstr>
      <vt:lpstr>Why encapsulation is important</vt:lpstr>
      <vt:lpstr>Encapsulation example…</vt:lpstr>
      <vt:lpstr>… Encapsulation example</vt:lpstr>
      <vt:lpstr>Design principle 4</vt:lpstr>
      <vt:lpstr>A note on encapsulation and visibility</vt:lpstr>
      <vt:lpstr>Coupling - definition</vt:lpstr>
      <vt:lpstr>Types of coupling</vt:lpstr>
      <vt:lpstr>Control Coupling Example</vt:lpstr>
      <vt:lpstr>Problems with high coupling</vt:lpstr>
      <vt:lpstr>Design principle 5</vt:lpstr>
      <vt:lpstr>Reuse vs reusability</vt:lpstr>
      <vt:lpstr>Benefits of reuse</vt:lpstr>
      <vt:lpstr>Challenges of reuse</vt:lpstr>
      <vt:lpstr>Design principle 6</vt:lpstr>
      <vt:lpstr>Design principle 7</vt:lpstr>
      <vt:lpstr>Designing for Change</vt:lpstr>
      <vt:lpstr>Design principle 8</vt:lpstr>
      <vt:lpstr>Obsolescence Risks</vt:lpstr>
      <vt:lpstr>Design principle 9</vt:lpstr>
      <vt:lpstr>Portability</vt:lpstr>
      <vt:lpstr>Design principle 10</vt:lpstr>
      <vt:lpstr>Design for Testability</vt:lpstr>
      <vt:lpstr>Design principle 11</vt:lpstr>
      <vt:lpstr>Defensive design</vt:lpstr>
      <vt:lpstr>Balance in defensive design</vt:lpstr>
      <vt:lpstr>Design principle 12</vt:lpstr>
      <vt:lpstr>Interface design and design principles</vt:lpstr>
      <vt:lpstr>Interface development: key technical elements</vt:lpstr>
      <vt:lpstr>Data representation</vt:lpstr>
      <vt:lpstr>Multiple interfaces and separation of concerns</vt:lpstr>
      <vt:lpstr>Interface evolution</vt:lpstr>
      <vt:lpstr>Interface documentation</vt:lpstr>
      <vt:lpstr>Final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Elisabetta Di Nitto</dc:creator>
  <cp:lastModifiedBy>Elisabetta Di Nitto</cp:lastModifiedBy>
  <cp:revision>15</cp:revision>
  <dcterms:created xsi:type="dcterms:W3CDTF">2025-05-15T11:20:47Z</dcterms:created>
  <dcterms:modified xsi:type="dcterms:W3CDTF">2026-01-23T16:56:00Z</dcterms:modified>
</cp:coreProperties>
</file>