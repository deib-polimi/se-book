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9" r:id="rId3"/>
    <p:sldId id="2134805308" r:id="rId4"/>
    <p:sldId id="2134805309" r:id="rId5"/>
    <p:sldId id="2134805310" r:id="rId6"/>
    <p:sldId id="2134805311" r:id="rId7"/>
    <p:sldId id="2134805312" r:id="rId8"/>
    <p:sldId id="2134805313" r:id="rId9"/>
    <p:sldId id="2134805318" r:id="rId10"/>
    <p:sldId id="2134805314" r:id="rId11"/>
    <p:sldId id="2134805315" r:id="rId12"/>
    <p:sldId id="2134805316" r:id="rId13"/>
    <p:sldId id="2134805317" r:id="rId14"/>
    <p:sldId id="2134805319" r:id="rId15"/>
    <p:sldId id="2134805320" r:id="rId16"/>
    <p:sldId id="2134805321" r:id="rId17"/>
    <p:sldId id="2134805322" r:id="rId18"/>
    <p:sldId id="2134805323" r:id="rId19"/>
    <p:sldId id="2134805324" r:id="rId20"/>
    <p:sldId id="2134805325" r:id="rId21"/>
    <p:sldId id="2134805326" r:id="rId22"/>
    <p:sldId id="2134805327" r:id="rId23"/>
    <p:sldId id="2134805328" r:id="rId24"/>
    <p:sldId id="2134805329" r:id="rId25"/>
    <p:sldId id="2134805330" r:id="rId26"/>
    <p:sldId id="2134805331" r:id="rId27"/>
    <p:sldId id="2134805332" r:id="rId28"/>
    <p:sldId id="2134805333" r:id="rId29"/>
    <p:sldId id="2134805334" r:id="rId30"/>
    <p:sldId id="2134805335" r:id="rId31"/>
    <p:sldId id="2134805336" r:id="rId32"/>
    <p:sldId id="2134805337" r:id="rId33"/>
    <p:sldId id="2134805339" r:id="rId34"/>
    <p:sldId id="2134805340" r:id="rId35"/>
    <p:sldId id="2134805338" r:id="rId36"/>
    <p:sldId id="2134805341" r:id="rId37"/>
    <p:sldId id="2134805342" r:id="rId38"/>
    <p:sldId id="2134805343" r:id="rId39"/>
    <p:sldId id="2134805344" r:id="rId40"/>
    <p:sldId id="2134805345" r:id="rId41"/>
    <p:sldId id="2134805346" r:id="rId42"/>
    <p:sldId id="2134805347" r:id="rId43"/>
    <p:sldId id="2134805348" r:id="rId44"/>
    <p:sldId id="2134805349" r:id="rId45"/>
    <p:sldId id="2134805350" r:id="rId46"/>
    <p:sldId id="2134805351" r:id="rId47"/>
    <p:sldId id="2134805352" r:id="rId48"/>
    <p:sldId id="2134805353" r:id="rId49"/>
    <p:sldId id="2134805301" r:id="rId50"/>
    <p:sldId id="2134805302" r:id="rId51"/>
    <p:sldId id="2134805306" r:id="rId52"/>
    <p:sldId id="2134805354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684"/>
  </p:normalViewPr>
  <p:slideViewPr>
    <p:cSldViewPr snapToGrid="0">
      <p:cViewPr varScale="1">
        <p:scale>
          <a:sx n="110" d="100"/>
          <a:sy n="110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5E4A305-5980-51C4-00CE-A1E53A478C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708C23-44BA-83EE-805A-FA7D5AC43C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74D2014-878F-FF20-787E-1D8B6C11D5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2EB2575-90E9-434C-12F2-9D91826682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5503364-8263-0069-3E15-E53AA0FF60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E864F53-95E2-27F6-7EA4-B017856047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8B43AA4-1E44-6DFE-BF73-0153DA219E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46854FA-170D-685D-1287-0C3212C8DC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E73371F-ED2D-3D2D-E868-196FF8A3C5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9 -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88B0B06-D280-3222-7446-AB54F002D4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9 -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207AFF0-B925-74CB-DFC0-13BDE847C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 dirty="0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Chapter 12: </a:t>
            </a:r>
            <a:br>
              <a:rPr lang="en-GB" dirty="0"/>
            </a:br>
            <a:r>
              <a:rPr lang="en-GB" dirty="0"/>
              <a:t>Design Principles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118268" cy="4351338"/>
          </a:xfrm>
        </p:spPr>
        <p:txBody>
          <a:bodyPr/>
          <a:lstStyle/>
          <a:p>
            <a:r>
              <a:rPr lang="en-GB" b="1" dirty="0"/>
              <a:t>Chapter 12</a:t>
            </a:r>
          </a:p>
          <a:p>
            <a:r>
              <a:rPr lang="en-GB" b="1" dirty="0"/>
              <a:t>Focus</a:t>
            </a:r>
            <a:r>
              <a:rPr lang="en-GB" dirty="0"/>
              <a:t>: Principles to consider during design of </a:t>
            </a:r>
          </a:p>
          <a:p>
            <a:pPr lvl="1"/>
            <a:r>
              <a:rPr lang="en-GB" dirty="0"/>
              <a:t>software components </a:t>
            </a:r>
          </a:p>
          <a:p>
            <a:pPr lvl="1"/>
            <a:r>
              <a:rPr lang="en-GB" dirty="0"/>
              <a:t>interfaces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A63C-1FBB-4436-9082-3A2E9D51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12 -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46A0E-47BD-D559-F37B-1AAC951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663F6-D297-735B-CDC9-1594449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17" y="1803177"/>
            <a:ext cx="2997872" cy="426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E580-7456-E56E-3A40-C937E93AF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Design Principles Matter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6F2BB-4924-A39D-945D-2BF61DAB6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Architectural decisions should be guided by principles</a:t>
            </a:r>
          </a:p>
          <a:p>
            <a:r>
              <a:rPr lang="en-US" dirty="0"/>
              <a:t>Influence:</a:t>
            </a:r>
          </a:p>
          <a:p>
            <a:pPr lvl="1"/>
            <a:r>
              <a:rPr lang="en-US" dirty="0"/>
              <a:t>Software structure</a:t>
            </a:r>
          </a:p>
          <a:p>
            <a:pPr lvl="1"/>
            <a:r>
              <a:rPr lang="en-US" dirty="0"/>
              <a:t>Decision-making processes</a:t>
            </a:r>
          </a:p>
          <a:p>
            <a:pPr lvl="1"/>
            <a:r>
              <a:rPr lang="en-US" dirty="0"/>
              <a:t>Organization of development teams</a:t>
            </a:r>
          </a:p>
          <a:p>
            <a:r>
              <a:rPr lang="en-US" dirty="0"/>
              <a:t>Principles apply across:</a:t>
            </a:r>
          </a:p>
          <a:p>
            <a:pPr lvl="1"/>
            <a:r>
              <a:rPr lang="en-US" dirty="0"/>
              <a:t>Design</a:t>
            </a:r>
          </a:p>
          <a:p>
            <a:pPr lvl="1"/>
            <a:r>
              <a:rPr lang="en-US" dirty="0"/>
              <a:t>Implementation</a:t>
            </a:r>
          </a:p>
          <a:p>
            <a:pPr lvl="1"/>
            <a:r>
              <a:rPr lang="en-US" dirty="0"/>
              <a:t>Maintenance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4B225-CE0F-C3BF-56E1-46D818FE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0DF89-CEBD-2C7A-3F9B-25523F5E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19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7BA7-7CC8-2C1A-24EE-D8F8ADCC7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important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42B06-D101-86E5-84F5-64AE5D4C4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Divide and conquer</a:t>
            </a:r>
          </a:p>
          <a:p>
            <a:r>
              <a:rPr lang="en-US" dirty="0"/>
              <a:t>Abstraction</a:t>
            </a:r>
          </a:p>
          <a:p>
            <a:r>
              <a:rPr lang="en-US" dirty="0"/>
              <a:t>High cohesion</a:t>
            </a:r>
          </a:p>
          <a:p>
            <a:r>
              <a:rPr lang="en-US" dirty="0"/>
              <a:t>Encapsulation</a:t>
            </a:r>
          </a:p>
          <a:p>
            <a:r>
              <a:rPr lang="en-US" dirty="0"/>
              <a:t>Low coupling</a:t>
            </a:r>
          </a:p>
          <a:p>
            <a:r>
              <a:rPr lang="en-US" dirty="0"/>
              <a:t>Reuse</a:t>
            </a:r>
          </a:p>
          <a:p>
            <a:r>
              <a:rPr lang="en-US" dirty="0"/>
              <a:t>Reusability</a:t>
            </a:r>
          </a:p>
          <a:p>
            <a:r>
              <a:rPr lang="en-US" dirty="0"/>
              <a:t>Flexibility</a:t>
            </a:r>
          </a:p>
          <a:p>
            <a:r>
              <a:rPr lang="en-US" dirty="0"/>
              <a:t>Obsolescence planning</a:t>
            </a:r>
          </a:p>
          <a:p>
            <a:r>
              <a:rPr lang="en-US" dirty="0"/>
              <a:t>Portability</a:t>
            </a:r>
          </a:p>
          <a:p>
            <a:r>
              <a:rPr lang="en-US" dirty="0"/>
              <a:t>Testability</a:t>
            </a:r>
          </a:p>
          <a:p>
            <a:r>
              <a:rPr lang="en-US" dirty="0"/>
              <a:t>Defensive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E4FEC-555B-3F90-3147-347162D7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5BA526-C0B6-20F7-6C5D-696499ED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9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11371-B0D9-106F-374A-9B426243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5DB37-7CE9-4EAC-49EB-125F308F8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a complex problem into smaller subproblems</a:t>
            </a:r>
          </a:p>
          <a:p>
            <a:r>
              <a:rPr lang="en-US" dirty="0"/>
              <a:t>Solve each subproblem independently</a:t>
            </a:r>
          </a:p>
          <a:p>
            <a:r>
              <a:rPr lang="en-US" dirty="0"/>
              <a:t>Combine partial solutions</a:t>
            </a:r>
          </a:p>
          <a:p>
            <a:endParaRPr lang="en-US" dirty="0"/>
          </a:p>
          <a:p>
            <a:r>
              <a:rPr lang="en-US" dirty="0"/>
              <a:t>Applicable both at the programming and design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296D3-396A-8B8E-7036-A2E0DED7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17CEB-B5B9-7C7E-A03E-81AB4999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00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5FDA-52DE-D672-6710-1ABC83A2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Programming-level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D7CDC-293A-561E-EB15-BF15B9216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search:</a:t>
            </a:r>
          </a:p>
          <a:p>
            <a:pPr lvl="1"/>
            <a:r>
              <a:rPr lang="en-US" dirty="0"/>
              <a:t>Works on sorted data</a:t>
            </a:r>
          </a:p>
          <a:p>
            <a:pPr lvl="1"/>
            <a:r>
              <a:rPr lang="en-US" dirty="0"/>
              <a:t>Reduces search space by half each step</a:t>
            </a:r>
          </a:p>
          <a:p>
            <a:pPr lvl="1"/>
            <a:r>
              <a:rPr lang="en-US" dirty="0"/>
              <a:t>Time complexity: O(log 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DC2F5-3E49-869F-B5A5-BFC9B3322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5FBDD-737F-D03F-44EE-75D899C4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6F15045-7EF4-CDCA-C889-A571F8EC2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578" y="3322749"/>
            <a:ext cx="5923451" cy="261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92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78EB3-F58D-301F-38FF-AA178835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Design-level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40EF2-7BED-DEB8-7B40-D2C001A24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an e-commerce system to support: UC1: search for product, UC2: check product availability in the warehouse, UC3: purchase and pay, and UC4: package and deliver</a:t>
            </a:r>
          </a:p>
          <a:p>
            <a:r>
              <a:rPr lang="en-US" dirty="0"/>
              <a:t>Can lead to the identification of the components:</a:t>
            </a:r>
          </a:p>
          <a:p>
            <a:pPr lvl="1"/>
            <a:r>
              <a:rPr lang="en-GB" dirty="0" err="1"/>
              <a:t>ProductCatalogService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WarehouseService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PurchaseManager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DeliveryManager</a:t>
            </a:r>
            <a:r>
              <a:rPr lang="en-GB" dirty="0"/>
              <a:t> </a:t>
            </a:r>
          </a:p>
          <a:p>
            <a:r>
              <a:rPr lang="en-US" dirty="0"/>
              <a:t>… each focusing on a specific concern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0A183-AB3C-1291-E3AF-645F7F44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0F062-E4D4-8192-56DF-9C13B408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6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2FA5E-E8A3-7BB7-4841-73A5C73F5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divide and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C92FA-1FDB-EF31-0B19-A49E3EC81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Simplifies analysis</a:t>
            </a:r>
          </a:p>
          <a:p>
            <a:r>
              <a:rPr lang="en-US" dirty="0"/>
              <a:t>Improves maintainability</a:t>
            </a:r>
          </a:p>
          <a:p>
            <a:r>
              <a:rPr lang="en-US" dirty="0"/>
              <a:t>Supports modularity</a:t>
            </a:r>
          </a:p>
          <a:p>
            <a:r>
              <a:rPr lang="en-US" dirty="0"/>
              <a:t>Enables parallel development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4D336-30EF-983B-8D38-BE94F0A2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D4E03-5A5B-E018-7EC0-8A94AEA6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95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8C2D4-DD04-D4F0-9911-0237BC78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F2151-B6E8-DAB4-361D-38DCECF6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57830-28F6-799D-CDAA-EAD01D5EF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728"/>
            <a:ext cx="10515600" cy="1079654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000" i="1" dirty="0"/>
              <a:t>Divide a problem in smaller subproblems both during design and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CEFE6-0432-ED92-25EC-F17F0A25B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ACA42-6BC4-412C-1909-74B6DB2F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72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829B1-7E1D-57E7-CEE5-08F421C1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114C5-C96B-0D97-69F5-5175F7B0C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view of an object that focuses on the information relevant to a particular purpose and ignores the remainder of the information (</a:t>
            </a:r>
            <a:r>
              <a:rPr lang="en-GB" dirty="0"/>
              <a:t>ISO/IEC/IEEE (2017)</a:t>
            </a:r>
            <a:r>
              <a:rPr lang="en-US" dirty="0"/>
              <a:t>).</a:t>
            </a:r>
          </a:p>
          <a:p>
            <a:r>
              <a:rPr lang="en-US" dirty="0"/>
              <a:t>Software can be described at different levels to:</a:t>
            </a:r>
          </a:p>
          <a:p>
            <a:pPr lvl="1"/>
            <a:r>
              <a:rPr lang="en-US" dirty="0"/>
              <a:t>Highlight specific concerns</a:t>
            </a:r>
          </a:p>
          <a:p>
            <a:pPr lvl="1"/>
            <a:r>
              <a:rPr lang="en-US" dirty="0"/>
              <a:t>Hide low-level complexity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9411F-77D8-3A45-4E16-72A12CF4E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546EE-FC38-F088-0922-2509A8B3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388150-D041-023B-E9F2-935B57796CDD}"/>
              </a:ext>
            </a:extLst>
          </p:cNvPr>
          <p:cNvSpPr txBox="1"/>
          <p:nvPr/>
        </p:nvSpPr>
        <p:spPr>
          <a:xfrm>
            <a:off x="730973" y="5530632"/>
            <a:ext cx="10730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ISO/IEC/IEEE (2017). ISO/IEC/IEEE International Standard - Systems and software engineering–Vocabulary. </a:t>
            </a:r>
            <a:br>
              <a:rPr lang="en-GB" dirty="0"/>
            </a:br>
            <a:r>
              <a:rPr lang="en-GB" dirty="0"/>
              <a:t>ISO/IEC/IEEE 24765:2017(E), pp. 1–541 (cit. on pp. 202, 204, 207). </a:t>
            </a:r>
          </a:p>
        </p:txBody>
      </p:sp>
    </p:spTree>
    <p:extLst>
      <p:ext uri="{BB962C8B-B14F-4D97-AF65-F5344CB8AC3E}">
        <p14:creationId xmlns:p14="http://schemas.microsoft.com/office/powerpoint/2010/main" val="1247096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E604-7132-FC86-63F7-93F96BDA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Surveillance system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F6446-57F7-F3D3-B0A8-DC580E6C4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3526" y="1825625"/>
            <a:ext cx="503027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Description suitable for analyzing high-level concerns:</a:t>
            </a:r>
          </a:p>
          <a:p>
            <a:pPr lvl="1"/>
            <a:r>
              <a:rPr lang="en-US" dirty="0"/>
              <a:t>The need to interface cameras and sensors with the software components</a:t>
            </a:r>
          </a:p>
          <a:p>
            <a:pPr lvl="1"/>
            <a:r>
              <a:rPr lang="en-US" dirty="0"/>
              <a:t>The need to define proper communication mechanisms</a:t>
            </a:r>
          </a:p>
          <a:p>
            <a:r>
              <a:rPr lang="en-US" dirty="0"/>
              <a:t>Not suitable for lower-level tasks, e.g.</a:t>
            </a:r>
          </a:p>
          <a:p>
            <a:pPr lvl="1"/>
            <a:r>
              <a:rPr lang="en-GB" dirty="0"/>
              <a:t>The algorithm that detects unauthorized entry into the building 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E10D4-483E-3113-2B53-59164F46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3A6B1-B93B-D95C-DE91-631559E4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94F6FFE-90D6-6348-E48D-0249A443B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33" y="1825625"/>
            <a:ext cx="5181600" cy="21197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41166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31D9-6CDF-4498-1EC6-2F014973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abstraction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FF9C-1237-4BD9-9A8C-FFA5F1B79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Manages complexity</a:t>
            </a:r>
          </a:p>
          <a:p>
            <a:r>
              <a:rPr lang="en-US" dirty="0"/>
              <a:t>Allows focus on the task at hand</a:t>
            </a:r>
          </a:p>
          <a:p>
            <a:r>
              <a:rPr lang="en-US" dirty="0"/>
              <a:t>Prevents premature concern with details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715D-7AEE-9B5C-367A-BF6380D6F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5566E-7DF4-B7CE-6CD4-0D382B0F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76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6726-F0DE-0D57-BEA7-7ECDB7AB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F93C5-9E81-1201-3170-072A6E9DE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728"/>
            <a:ext cx="10515600" cy="1079654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000" i="1" dirty="0"/>
              <a:t>Maintain the highest possible level of abstraction for a given task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B5D63-3D7B-9A33-9B38-6EADB6201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21BA8-E3F0-B134-AF30-BABC23EFD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43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60AC-3E94-0DA0-D35C-B956B1B94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related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D0D65-EE91-8E68-20C2-9105455FF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Cohesion → inside a module</a:t>
            </a:r>
          </a:p>
          <a:p>
            <a:r>
              <a:rPr lang="en-US" dirty="0"/>
              <a:t>Encapsulation → module boundaries</a:t>
            </a:r>
          </a:p>
          <a:p>
            <a:r>
              <a:rPr lang="en-US" dirty="0"/>
              <a:t>Coupling → interactions between modules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76870-01F2-60A3-E70C-CA8BB2B6F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FFC7A-9D64-396D-D8DB-977605F4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45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F23A-6CF2-F054-4C15-1B8407F9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Cohesion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914EE-A148-C63D-CA80-AB8017A9B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module is cohesive if its parts are logically related</a:t>
            </a:r>
          </a:p>
          <a:p>
            <a:r>
              <a:rPr lang="en-US" dirty="0"/>
              <a:t>Each module should represent a single, clear responsibility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C7637-255F-EFD8-50A4-A9A08581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67240-BBD3-71C3-9D09-78C95895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94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31F0-DD93-30D9-51E2-56011E02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poor cohesion</a:t>
            </a:r>
          </a:p>
        </p:txBody>
      </p:sp>
      <p:pic>
        <p:nvPicPr>
          <p:cNvPr id="7" name="Content Placeholder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91A23C9-508C-23BC-69C0-A1D04D0E3A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199" y="2513424"/>
            <a:ext cx="6291702" cy="2583464"/>
          </a:xfrm>
          <a:ln>
            <a:solidFill>
              <a:schemeClr val="tx1"/>
            </a:solidFill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F366B7-FA61-A958-6D8A-259C7B63E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7036" y="2598976"/>
            <a:ext cx="4036764" cy="1660047"/>
          </a:xfrm>
        </p:spPr>
        <p:txBody>
          <a:bodyPr/>
          <a:lstStyle/>
          <a:p>
            <a:r>
              <a:rPr lang="en-US" dirty="0"/>
              <a:t>Leads to: </a:t>
            </a:r>
          </a:p>
          <a:p>
            <a:pPr lvl="1"/>
            <a:r>
              <a:rPr lang="en-US" dirty="0"/>
              <a:t>Duplication</a:t>
            </a:r>
          </a:p>
          <a:p>
            <a:pPr lvl="1"/>
            <a:r>
              <a:rPr lang="en-US" dirty="0"/>
              <a:t>Maintenance problems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BD42B-1B30-0BEA-0E51-9FA8E4F7A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C3C617-87AE-05DB-FF08-EFB9C235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14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47AE-39F6-3536-8E83-BE0EE2222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good cohesion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3AEC0C5-34CB-4666-C41F-6A2AD20E5D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4900" y="2661443"/>
            <a:ext cx="5181600" cy="2987207"/>
          </a:xfrm>
          <a:ln>
            <a:solidFill>
              <a:schemeClr val="tx1"/>
            </a:solidFill>
          </a:ln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D8372-928B-4935-5D02-B5AAA11E8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0959" y="3660632"/>
            <a:ext cx="5181600" cy="988827"/>
          </a:xfrm>
        </p:spPr>
        <p:txBody>
          <a:bodyPr/>
          <a:lstStyle/>
          <a:p>
            <a:r>
              <a:rPr lang="en-US" dirty="0"/>
              <a:t>Clear responsibility boundaries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EF0FF-D6B1-3733-228D-373DA7D78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942F5-9109-F3CE-B6F4-76CECF1A0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95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6362F-9290-4B4F-1701-2EED9675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2AD9-3D97-8903-FA69-BF3F4EA1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87259-8EE8-F2FE-7DC7-D902A9FB6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728"/>
            <a:ext cx="10515600" cy="1079654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i="1" dirty="0"/>
              <a:t>Keep all modules as cohesive as possible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3F460-0AA8-3602-E389-AE6ACEC1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6EC35-D7B9-1DEC-A009-5C77EE68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65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87A0-1A6A-2F19-4347-819D9FA13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5B4DC-2747-A82C-6C8E-7C14AEFE1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idea that a module [...] has an external interface and an internal implementation (ISO/IEC/IEEE 2017)</a:t>
            </a:r>
          </a:p>
          <a:p>
            <a:r>
              <a:rPr lang="en-US" dirty="0"/>
              <a:t>Also known as </a:t>
            </a:r>
            <a:r>
              <a:rPr lang="en-US" i="1" dirty="0"/>
              <a:t>information hiding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6B6C2-1DA4-69EB-D1C8-06497AE45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352F9-6ADE-52DC-8172-51AD01C6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B2286-FEF2-C49C-D0B7-6E70383C6BED}"/>
              </a:ext>
            </a:extLst>
          </p:cNvPr>
          <p:cNvSpPr txBox="1"/>
          <p:nvPr/>
        </p:nvSpPr>
        <p:spPr>
          <a:xfrm>
            <a:off x="730973" y="5530632"/>
            <a:ext cx="10730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ISO/IEC/IEEE (2017). ISO/IEC/IEEE International Standard - Systems and software engineering–Vocabulary. </a:t>
            </a:r>
            <a:br>
              <a:rPr lang="en-GB" dirty="0"/>
            </a:br>
            <a:r>
              <a:rPr lang="en-GB" dirty="0"/>
              <a:t>ISO/IEC/IEEE 24765:2017(E), pp. 1–541 (cit. on pp. 202, 204, 207). </a:t>
            </a:r>
          </a:p>
        </p:txBody>
      </p:sp>
    </p:spTree>
    <p:extLst>
      <p:ext uri="{BB962C8B-B14F-4D97-AF65-F5344CB8AC3E}">
        <p14:creationId xmlns:p14="http://schemas.microsoft.com/office/powerpoint/2010/main" val="2730634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63C2-048D-2D6A-BC21-3C548F8D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encapsulation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9936-D917-4C50-D722-FC8E99B5A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Protects internal state</a:t>
            </a:r>
          </a:p>
          <a:p>
            <a:r>
              <a:rPr lang="en-US" dirty="0"/>
              <a:t>Reduces interdependencies between modules (coupling)</a:t>
            </a:r>
          </a:p>
          <a:p>
            <a:r>
              <a:rPr lang="en-US" dirty="0"/>
              <a:t>Enables implementation changes without breaking users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5F164-7DEB-8DB3-9765-6725104D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19984-2592-3859-D1F6-4EA075686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36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8B8A8-47F6-31A3-1A51-E2A10D4E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example…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E2308-DA2A-208F-B561-819762FA7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9D1C9-586E-2223-CCA8-A7B9FD81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7213F07-88B7-9BED-1DF6-868720B1B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892" y="319024"/>
            <a:ext cx="4381500" cy="5994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CC169E5-0C29-2D9F-DAA4-26F664002280}"/>
              </a:ext>
            </a:extLst>
          </p:cNvPr>
          <p:cNvSpPr txBox="1">
            <a:spLocks/>
          </p:cNvSpPr>
          <p:nvPr/>
        </p:nvSpPr>
        <p:spPr>
          <a:xfrm>
            <a:off x="751372" y="1351334"/>
            <a:ext cx="1849324" cy="559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C00000"/>
                </a:solidFill>
              </a:rPr>
              <a:t>Interface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2D87F84-3BC8-BE1C-EBC3-2357D482481B}"/>
              </a:ext>
            </a:extLst>
          </p:cNvPr>
          <p:cNvSpPr txBox="1">
            <a:spLocks/>
          </p:cNvSpPr>
          <p:nvPr/>
        </p:nvSpPr>
        <p:spPr>
          <a:xfrm>
            <a:off x="4531883" y="4583775"/>
            <a:ext cx="2547752" cy="559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C00000"/>
                </a:solidFill>
              </a:rPr>
              <a:t>Implementation</a:t>
            </a: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7538F21A-3761-0BE5-1B19-294D75C2DB09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600696" y="1631217"/>
            <a:ext cx="700633" cy="441133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F1199FEF-A862-6603-A170-268F7364F884}"/>
              </a:ext>
            </a:extLst>
          </p:cNvPr>
          <p:cNvCxnSpPr>
            <a:stCxn id="11" idx="3"/>
            <a:endCxn id="9" idx="1"/>
          </p:cNvCxnSpPr>
          <p:nvPr/>
        </p:nvCxnSpPr>
        <p:spPr>
          <a:xfrm flipV="1">
            <a:off x="7079635" y="3316224"/>
            <a:ext cx="312257" cy="1547434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0994E420-D701-C667-EE47-E93A5488BCF7}"/>
              </a:ext>
            </a:extLst>
          </p:cNvPr>
          <p:cNvSpPr txBox="1">
            <a:spLocks/>
          </p:cNvSpPr>
          <p:nvPr/>
        </p:nvSpPr>
        <p:spPr>
          <a:xfrm>
            <a:off x="639091" y="4258342"/>
            <a:ext cx="4168196" cy="21693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Public interface defines allowed operations</a:t>
            </a:r>
            <a:endParaRPr lang="en-US" dirty="0"/>
          </a:p>
          <a:p>
            <a:r>
              <a:rPr lang="en-GB" dirty="0"/>
              <a:t>Internal state is private</a:t>
            </a:r>
            <a:endParaRPr lang="en-US" dirty="0"/>
          </a:p>
          <a:p>
            <a:r>
              <a:rPr lang="en-GB" dirty="0"/>
              <a:t>Input validation ensures consistency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64667C-1DA6-0E11-06E3-66352E247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346" y="2110583"/>
            <a:ext cx="4242774" cy="16781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9296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CD22D-7AC7-6B3D-1236-2BEED4F9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Encapsulation example</a:t>
            </a:r>
          </a:p>
        </p:txBody>
      </p:sp>
      <p:pic>
        <p:nvPicPr>
          <p:cNvPr id="7" name="Content Placeholder 6" descr="A computer code with text&#10;&#10;AI-generated content may be incorrect.">
            <a:extLst>
              <a:ext uri="{FF2B5EF4-FFF2-40B4-BE49-F238E27FC236}">
                <a16:creationId xmlns:a16="http://schemas.microsoft.com/office/drawing/2014/main" id="{701D77EF-ABD7-EDF3-1C94-08F48A104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7138" y="1424066"/>
            <a:ext cx="5210309" cy="4724216"/>
          </a:xfrm>
          <a:ln>
            <a:solidFill>
              <a:schemeClr val="tx1"/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0628A-3CC5-7558-ACEC-BCF8DE522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31DE8-67B0-AB29-5740-3ED156CA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21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15CDE1-D80F-7021-E25E-4779A3A64BE0}"/>
              </a:ext>
            </a:extLst>
          </p:cNvPr>
          <p:cNvSpPr txBox="1">
            <a:spLocks/>
          </p:cNvSpPr>
          <p:nvPr/>
        </p:nvSpPr>
        <p:spPr>
          <a:xfrm>
            <a:off x="1641500" y="1898756"/>
            <a:ext cx="2978002" cy="1033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Alternative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implementation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5824BB-AB0B-9918-E070-8C2B9F687F64}"/>
              </a:ext>
            </a:extLst>
          </p:cNvPr>
          <p:cNvSpPr txBox="1">
            <a:spLocks/>
          </p:cNvSpPr>
          <p:nvPr/>
        </p:nvSpPr>
        <p:spPr>
          <a:xfrm>
            <a:off x="838200" y="3269525"/>
            <a:ext cx="4168196" cy="2169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Internal representation can change</a:t>
            </a:r>
          </a:p>
          <a:p>
            <a:r>
              <a:rPr lang="en-US" dirty="0"/>
              <a:t>Interface remains stable</a:t>
            </a:r>
          </a:p>
          <a:p>
            <a:r>
              <a:rPr lang="en-US" dirty="0"/>
              <a:t>Users unaffected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EC754A8E-30F9-2118-D6BF-490EB339183D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4619502" y="2415404"/>
            <a:ext cx="887636" cy="1370770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503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CF4C9-5E88-E1FF-4B96-704EBE380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24B1-2350-6697-BFD7-68EB55EA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80677-9B9C-D2A1-64E4-9A37513AE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728"/>
            <a:ext cx="10515600" cy="1079654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i="1" dirty="0"/>
              <a:t>Expose the minimum amount of resources</a:t>
            </a:r>
            <a:endParaRPr lang="en-US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5D56F-B3D0-ADE7-DAB0-C19F0BCB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C21ED-F462-AD5C-4989-88E467DB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41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5DF9-2027-D575-7A2C-F8D45D30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encapsulation and visibility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5DABF-F590-C97B-82A2-B381F99AF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all operations need to be public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Observer pattern</a:t>
            </a:r>
          </a:p>
          <a:p>
            <a:pPr lvl="1"/>
            <a:r>
              <a:rPr lang="en-US" dirty="0"/>
              <a:t>Internal notification methods should remain private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B021C-42BA-967B-CE40-FBEA6507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93CBD-EE81-C383-4570-985E72AA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32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119C4-56C7-2C05-E12A-85F642DD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Coupling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041CB-4D1E-4628-09F6-3F52AD930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manner and degree of interdependence between software mod- ules (ISO/IEC/IEEE 2017) </a:t>
            </a:r>
          </a:p>
          <a:p>
            <a:endParaRPr lang="en-GB" dirty="0"/>
          </a:p>
          <a:p>
            <a:r>
              <a:rPr lang="en-GB" dirty="0"/>
              <a:t>Some coupling is necessary</a:t>
            </a:r>
          </a:p>
          <a:p>
            <a:r>
              <a:rPr lang="en-GB" dirty="0"/>
              <a:t>Excessive coupling is harmful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5150D-BDC4-A1A1-EC1C-5B7E37DC6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7ACD3-7C04-C18D-8A35-CDAE64E5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04570-047C-EDFD-84DF-416B28FC1450}"/>
              </a:ext>
            </a:extLst>
          </p:cNvPr>
          <p:cNvSpPr txBox="1"/>
          <p:nvPr/>
        </p:nvSpPr>
        <p:spPr>
          <a:xfrm>
            <a:off x="730973" y="5530632"/>
            <a:ext cx="10730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ISO/IEC/IEEE (2017). ISO/IEC/IEEE International Standard - Systems and software engineering–Vocabulary. </a:t>
            </a:r>
            <a:br>
              <a:rPr lang="en-GB" dirty="0"/>
            </a:br>
            <a:r>
              <a:rPr lang="en-GB" dirty="0"/>
              <a:t>ISO/IEC/IEEE 24765:2017(E), pp. 1–541 (cit. on pp. 202, 204, 207). </a:t>
            </a:r>
          </a:p>
        </p:txBody>
      </p:sp>
    </p:spTree>
    <p:extLst>
      <p:ext uri="{BB962C8B-B14F-4D97-AF65-F5344CB8AC3E}">
        <p14:creationId xmlns:p14="http://schemas.microsoft.com/office/powerpoint/2010/main" val="2309184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FF92-3E48-24E2-0E56-E2FF1AED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5972C-5A4A-DF0C-93BC-A968A3089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coupling</a:t>
            </a:r>
          </a:p>
          <a:p>
            <a:r>
              <a:rPr lang="en-US" dirty="0"/>
              <a:t>Content coupling</a:t>
            </a:r>
          </a:p>
          <a:p>
            <a:r>
              <a:rPr lang="en-US" dirty="0"/>
              <a:t>Control coupling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2F6A-ECD1-875A-84D8-03024EB94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C6007-ED93-1120-01C6-3C6E6C0A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9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6435-3AC6-7C1C-EE8B-1F6472AA7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Coupling Example</a:t>
            </a:r>
            <a:endParaRPr lang="en-US" dirty="0"/>
          </a:p>
        </p:txBody>
      </p:sp>
      <p:pic>
        <p:nvPicPr>
          <p:cNvPr id="7" name="Content Placeholder 6" descr="A computer code with text&#10;&#10;AI-generated content may be incorrect.">
            <a:extLst>
              <a:ext uri="{FF2B5EF4-FFF2-40B4-BE49-F238E27FC236}">
                <a16:creationId xmlns:a16="http://schemas.microsoft.com/office/drawing/2014/main" id="{B8C65EA5-8ECC-A63E-485B-2D59A9A42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8" y="1690687"/>
            <a:ext cx="4826331" cy="434218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5F183-1A9C-A40A-0272-195222424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0C2CE-D3FE-E113-CD94-DD41A873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26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53886C-47F1-CEB3-BEF4-DFDA80D28F2E}"/>
              </a:ext>
            </a:extLst>
          </p:cNvPr>
          <p:cNvSpPr txBox="1">
            <a:spLocks/>
          </p:cNvSpPr>
          <p:nvPr/>
        </p:nvSpPr>
        <p:spPr>
          <a:xfrm>
            <a:off x="6096000" y="2743200"/>
            <a:ext cx="5257800" cy="2459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Behavior</a:t>
            </a:r>
            <a:r>
              <a:rPr lang="en-GB" dirty="0"/>
              <a:t> of one module depends on control flags</a:t>
            </a:r>
            <a:endParaRPr lang="en-US" dirty="0"/>
          </a:p>
          <a:p>
            <a:r>
              <a:rPr lang="en-GB" dirty="0"/>
              <a:t>Requires knowledge of internal logic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010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50BB0-2132-E3C7-C6F0-121A14CC8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high 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40A62-37CA-16CA-11DE-10AF02D0F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Harder to maintain</a:t>
            </a:r>
          </a:p>
          <a:p>
            <a:r>
              <a:rPr lang="en-US" dirty="0"/>
              <a:t>Changes propagate</a:t>
            </a:r>
          </a:p>
          <a:p>
            <a:r>
              <a:rPr lang="en-US" dirty="0"/>
              <a:t>Breaks encapsulation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AC5EE-3C2D-61D1-56EC-BAFB975B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A3388-A3F8-228F-293E-AA2F2B711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29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650C2-6E75-B887-093E-6D9ECEDD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1766E-8CB5-5571-57D5-CD211B5C6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6975D-F656-4D46-80BB-9C7477329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728"/>
            <a:ext cx="10515600" cy="1079654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i="1" dirty="0"/>
              <a:t>Reduce coupling where possible</a:t>
            </a:r>
            <a:endParaRPr lang="en-US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F632B-C296-E6E6-DB08-1306437B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D8574-B8CE-D834-F498-AB21B9A5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07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292A-93A3-38F0-B3D5-7ABE7F8C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Reuse vs reusability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58692-C122-C9F4-5E87-4C59CAA6B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Reuse</a:t>
            </a:r>
            <a:r>
              <a:rPr lang="en-GB" dirty="0"/>
              <a:t>: using existing components</a:t>
            </a:r>
          </a:p>
          <a:p>
            <a:r>
              <a:rPr lang="en-GB" b="1" dirty="0"/>
              <a:t>Reusability</a:t>
            </a:r>
            <a:r>
              <a:rPr lang="en-GB" dirty="0"/>
              <a:t>: designing components to be reused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D5054-93BC-ACBB-151C-CA8AD9EC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84649-BCBD-9A54-8D94-B858C5DF3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30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9C21D-8AE5-D7BA-9C01-FA1445A67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reuse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DF2F2-34E7-707B-CF0D-474052C81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Saves development time</a:t>
            </a:r>
          </a:p>
          <a:p>
            <a:r>
              <a:rPr lang="en-GB" dirty="0"/>
              <a:t>Often improves quality</a:t>
            </a:r>
          </a:p>
          <a:p>
            <a:r>
              <a:rPr lang="en-GB" dirty="0"/>
              <a:t>Leverages proven solutions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1E808-A0D3-5B73-52EA-FBB146AF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F2AB7-3C1E-63CE-78DC-1ABC38E1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51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B581E-EEB5-8931-59A6-91C03BCB9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reuse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B666-2327-9C3C-9DDD-9D8C65A91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Component selection</a:t>
            </a:r>
          </a:p>
          <a:p>
            <a:r>
              <a:rPr lang="en-GB" dirty="0"/>
              <a:t>Documentation quality</a:t>
            </a:r>
          </a:p>
          <a:p>
            <a:r>
              <a:rPr lang="en-GB" dirty="0"/>
              <a:t>Compatibility</a:t>
            </a:r>
          </a:p>
          <a:p>
            <a:r>
              <a:rPr lang="en-GB" dirty="0"/>
              <a:t>Independent evolution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B3B01-43BC-DED3-7E16-F9270B5BB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8D43BE-BA4A-A6C8-A065-C9B73EDA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67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08062-82C3-C13A-32D7-637DEF4C0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32342-7FD5-F1BE-FD8F-8FD82F0B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33560-4BF2-1374-46CA-6161F393B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727"/>
            <a:ext cx="10515600" cy="2077896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i="1" dirty="0"/>
              <a:t>Apply reuse whenever possible. </a:t>
            </a:r>
          </a:p>
          <a:p>
            <a:pPr marL="0" indent="0" algn="ctr">
              <a:buNone/>
            </a:pPr>
            <a:r>
              <a:rPr lang="en-GB" i="1" dirty="0"/>
              <a:t>Take advantage of investments in reusable components, but …</a:t>
            </a:r>
          </a:p>
          <a:p>
            <a:pPr marL="0" indent="0" algn="ctr">
              <a:buNone/>
            </a:pPr>
            <a:r>
              <a:rPr lang="en-GB" i="1" dirty="0"/>
              <a:t>always account for the need to align your system with changes in the reused components. </a:t>
            </a:r>
            <a:endParaRPr lang="en-GB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9BA88-A57D-E7F2-F29F-6AFB87E2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1F876-000B-AEB1-2D6C-C1C5906A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06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8C4E-D8D1-741A-D822-342B64116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DE6A0-EB38-4702-C193-72F8849A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7AE89-9C3E-1A9B-4BB0-D260E5E20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727"/>
            <a:ext cx="10515600" cy="99427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i="1" dirty="0"/>
              <a:t>Design for reusability, both at the system level and for individual components. </a:t>
            </a:r>
            <a:endParaRPr lang="en-GB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9668C-5F38-8342-D401-231EF5D2E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0F357-8352-4E6C-B4F7-05BA93DE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488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D27A0-912F-548B-BF0E-3DD8B70A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Designing for Change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3369A-FFDB-7CB3-0A64-FF95BDF62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must evolve</a:t>
            </a:r>
          </a:p>
          <a:p>
            <a:r>
              <a:rPr lang="en-GB" dirty="0"/>
              <a:t>Anticipate future requirements and design shifts</a:t>
            </a:r>
          </a:p>
          <a:p>
            <a:r>
              <a:rPr lang="en-GB" dirty="0"/>
              <a:t>Avoid rigid assumptions and hard-coded values</a:t>
            </a:r>
          </a:p>
          <a:p>
            <a:r>
              <a:rPr lang="en-GB" dirty="0"/>
              <a:t>Apply the other principles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B5182-4386-B594-29C8-C5E08CE9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681ED-28CC-5B00-7600-B79D62E7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67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3B9C-F092-DD73-A7E2-1516F21C8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D122C-A422-F820-B829-C9099BE6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46248-7D1C-FC57-9C19-B3165C6EA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727"/>
            <a:ext cx="10515600" cy="99427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i="1" dirty="0"/>
              <a:t>Design for future changes in mind. </a:t>
            </a:r>
            <a:endParaRPr lang="en-GB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1669-7988-315F-FAB2-7D7F2332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DACF8-F9D7-D89E-1413-3A28BB22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492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B444-9E84-D1C5-BD1B-D5F2EFF02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Obsolescence Risks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B773-E7D8-E02A-2F6E-BD3A57500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Technologies evolve</a:t>
            </a:r>
          </a:p>
          <a:p>
            <a:r>
              <a:rPr lang="en-GB" dirty="0"/>
              <a:t>APIs, platforms, regulations change</a:t>
            </a:r>
          </a:p>
          <a:p>
            <a:r>
              <a:rPr lang="en-GB" dirty="0"/>
              <a:t>Example: impact of European GDPR regulations on software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F6BCF-336F-F46B-3722-5BBAA9D8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E42D7-8FF1-B560-7693-AF60A588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132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1D00F-3EB1-4F3C-260B-A6EF9CCEF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056EE-91F8-ADBB-217A-02138233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B5E6F-1893-E8AD-7CDC-582D975E7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727"/>
            <a:ext cx="10515600" cy="2077896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i="1" dirty="0"/>
              <a:t>Anticipate obsolescence.</a:t>
            </a:r>
          </a:p>
          <a:p>
            <a:pPr marL="0" indent="0" algn="ctr">
              <a:buNone/>
            </a:pPr>
            <a:r>
              <a:rPr lang="en-GB" i="1" dirty="0"/>
              <a:t>Avoid immature or vendor-specific technologies.</a:t>
            </a:r>
          </a:p>
          <a:p>
            <a:pPr marL="0" indent="0" algn="ctr">
              <a:buNone/>
            </a:pPr>
            <a:r>
              <a:rPr lang="en-GB" i="1" dirty="0"/>
              <a:t>Prefer stable standards.</a:t>
            </a:r>
          </a:p>
          <a:p>
            <a:pPr marL="0" indent="0" algn="ctr">
              <a:buNone/>
            </a:pPr>
            <a:r>
              <a:rPr lang="en-GB" i="1" dirty="0"/>
              <a:t> </a:t>
            </a:r>
            <a:endParaRPr lang="en-GB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BD416-7F3E-82F3-7F9A-6993A14C9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39EF1-6121-DF70-4D33-4EBD53A1B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494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770B-BD06-1E8C-CDE6-7738F7CD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E1156-349D-F308-9209-925B5A47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Run software across platforms</a:t>
            </a:r>
          </a:p>
          <a:p>
            <a:r>
              <a:rPr lang="en-GB" dirty="0"/>
              <a:t>Avoid platform-specific features</a:t>
            </a:r>
          </a:p>
          <a:p>
            <a:r>
              <a:rPr lang="en-GB" dirty="0"/>
              <a:t>Test on multiple environments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5489C-A401-5D03-E3BF-BFCB72BF6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F441C-A9A4-1544-002E-0704BED40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943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AF5AE-9414-F25E-7F49-34AF67FD1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97FCD-86BC-9A9F-0166-25F19B02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FA2AF-B76A-E24A-B3EC-7F259ED5F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202" y="2859270"/>
            <a:ext cx="10515600" cy="90520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i="1" dirty="0"/>
              <a:t>Design software to be portable from the start. </a:t>
            </a:r>
            <a:endParaRPr lang="en-GB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B6C47-4987-DFCF-F16E-CFAEEF252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A2634-24C8-7C5F-EC6E-B2844B4D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744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1A30-61E2-39D7-4746-A09E94CA6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for Testability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A10A-1050-F3C8-19D0-9C10A5A12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Objective: maintain </a:t>
            </a:r>
            <a:r>
              <a:rPr lang="en-GB" dirty="0"/>
              <a:t>confidence in software correctness and stability </a:t>
            </a:r>
          </a:p>
          <a:p>
            <a:r>
              <a:rPr lang="en-GB" dirty="0"/>
              <a:t>Approach: design software to facilitate efficient and comprehensive testing </a:t>
            </a:r>
          </a:p>
          <a:p>
            <a:r>
              <a:rPr lang="en-GB" dirty="0"/>
              <a:t>Key practices</a:t>
            </a:r>
          </a:p>
          <a:p>
            <a:pPr lvl="1"/>
            <a:r>
              <a:rPr lang="en-GB" dirty="0"/>
              <a:t>Structure code in a modular and reliable way to facilitate unit testing</a:t>
            </a:r>
          </a:p>
          <a:p>
            <a:pPr lvl="1"/>
            <a:r>
              <a:rPr lang="en-GB" dirty="0"/>
              <a:t>Support automated verification by adopting testing frameworks</a:t>
            </a:r>
          </a:p>
          <a:p>
            <a:pPr lvl="1"/>
            <a:r>
              <a:rPr lang="en-GB" dirty="0"/>
              <a:t>Decouple business logic for UI to enable automated testing of business logic in isolation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B7F68-ECD3-5809-31D8-B78CFDFA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1ACC1-2B7E-E955-D86D-B4F6D583B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103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41CED-28B3-ED15-E9C8-2CD8DDB3E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400C9-9A7C-7FEF-B389-F97E5020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BB5D7-B71F-5DED-BBD0-E82E02A94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202" y="2859270"/>
            <a:ext cx="10515600" cy="90520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i="1" dirty="0"/>
              <a:t>Design for testability – make software easier to test. </a:t>
            </a:r>
            <a:endParaRPr lang="en-GB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A1D64-245D-77A1-83A8-9653F4F3D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3D164-47E1-9EB1-5611-2D694AF9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603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9682B-E859-B7B2-B85A-BF1A0B091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Defensive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EB80C-0CBB-90F3-FAA4-FEB08CB23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Objective: </a:t>
            </a:r>
            <a:r>
              <a:rPr lang="en-GB" dirty="0"/>
              <a:t>build components that behave predictably and fail gracefully under adverse conditions. </a:t>
            </a:r>
          </a:p>
          <a:p>
            <a:r>
              <a:rPr lang="en-US" dirty="0"/>
              <a:t>Approach: assume that </a:t>
            </a:r>
            <a:r>
              <a:rPr lang="en-GB" dirty="0"/>
              <a:t>other components, or external users, may misuse the module </a:t>
            </a:r>
          </a:p>
          <a:p>
            <a:pPr lvl="1"/>
            <a:r>
              <a:rPr lang="en-US" dirty="0"/>
              <a:t>Validate inputs</a:t>
            </a:r>
          </a:p>
          <a:p>
            <a:pPr lvl="1"/>
            <a:r>
              <a:rPr lang="en-US" dirty="0"/>
              <a:t>Handle errors gracefully</a:t>
            </a:r>
          </a:p>
          <a:p>
            <a:pPr lvl="1"/>
            <a:r>
              <a:rPr lang="en-US" dirty="0"/>
              <a:t>Anticipate edge cases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40462-E184-DA98-8770-BC00E5A6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8EF12A-8B5E-CA11-3237-24FAAED4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739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548A7-EADF-65FC-BF07-2B2AC63F0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 in defensive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C16D8-0C03-E66E-810C-0DAE21318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Avoid excessive checks</a:t>
            </a:r>
          </a:p>
          <a:p>
            <a:r>
              <a:rPr lang="en-GB" dirty="0"/>
              <a:t>Apply defensive measures at module boundaries and public interfaces</a:t>
            </a:r>
          </a:p>
          <a:p>
            <a:r>
              <a:rPr lang="en-GB" dirty="0"/>
              <a:t>Take into account the criticality of your software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E6CFA-F4D7-3568-4105-13A5627B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5A718-CA3F-DDFC-B32B-EA3BEE8A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582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696AD-CBB9-A1F5-83C3-770D2EDF9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68993-DCE4-5771-67A8-44F8DB57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 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F8FBE-7409-B6F3-1001-E04BD9D19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202" y="2859270"/>
            <a:ext cx="10515600" cy="90520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i="1" dirty="0"/>
              <a:t>Design defensively, but strike the right balance with </a:t>
            </a:r>
            <a:r>
              <a:rPr lang="en-GB" i="1" dirty="0" err="1"/>
              <a:t>clar</a:t>
            </a:r>
            <a:r>
              <a:rPr lang="en-GB" i="1" dirty="0"/>
              <a:t>- </a:t>
            </a:r>
            <a:r>
              <a:rPr lang="en-GB" i="1" dirty="0" err="1"/>
              <a:t>ity</a:t>
            </a:r>
            <a:r>
              <a:rPr lang="en-GB" i="1" dirty="0"/>
              <a:t> and efficiency.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239CC-3B08-DD22-A4E4-494F516C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ADF9C-BBF3-2148-4C0C-3219C8A1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573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EAE4-3B0B-ADF6-AC1E-2CFAA83A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design and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019EC-29FD-DD3A-CF68-8B157117B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Role of interfaces</a:t>
            </a:r>
          </a:p>
          <a:p>
            <a:pPr lvl="1"/>
            <a:r>
              <a:rPr lang="en-GB" dirty="0"/>
              <a:t>Define component boundaries</a:t>
            </a:r>
          </a:p>
          <a:p>
            <a:pPr lvl="1"/>
            <a:r>
              <a:rPr lang="en-GB" dirty="0"/>
              <a:t>Establish long-term contracts</a:t>
            </a:r>
          </a:p>
          <a:p>
            <a:pPr lvl="1"/>
            <a:r>
              <a:rPr lang="en-GB" dirty="0"/>
              <a:t>Affect maintainability and evolution</a:t>
            </a:r>
          </a:p>
          <a:p>
            <a:r>
              <a:rPr lang="en-GB" dirty="0"/>
              <a:t>Important general principles</a:t>
            </a:r>
          </a:p>
          <a:p>
            <a:pPr lvl="1"/>
            <a:r>
              <a:rPr lang="en-GB" dirty="0"/>
              <a:t>Encapsulation</a:t>
            </a:r>
          </a:p>
          <a:p>
            <a:pPr lvl="1"/>
            <a:r>
              <a:rPr lang="en-GB" dirty="0"/>
              <a:t>Low coupling</a:t>
            </a:r>
          </a:p>
          <a:p>
            <a:r>
              <a:rPr lang="en-GB" dirty="0"/>
              <a:t>Specific principles</a:t>
            </a:r>
          </a:p>
          <a:p>
            <a:pPr lvl="1"/>
            <a:r>
              <a:rPr lang="en-GB" dirty="0"/>
              <a:t>Contract principle</a:t>
            </a:r>
          </a:p>
          <a:p>
            <a:pPr lvl="1"/>
            <a:r>
              <a:rPr lang="en-GB" dirty="0"/>
              <a:t>Least surprise </a:t>
            </a:r>
          </a:p>
          <a:p>
            <a:pPr lvl="1"/>
            <a:r>
              <a:rPr lang="en-GB" dirty="0"/>
              <a:t>Small interfaces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AC9CD-0D46-966F-EC75-ECE69F89B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A6380-982B-AB65-A02C-BB9D4AB2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11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C015-E66B-2B31-9206-5F184FC7D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development: key technical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A639-ED89-59A3-01C0-FA39C0702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Interaction style (e.g., RPC, REST, sockets)</a:t>
            </a:r>
          </a:p>
          <a:p>
            <a:r>
              <a:rPr lang="en-US" dirty="0"/>
              <a:t>Data representation (e.g., XML, JSON, Protocol Buffers)</a:t>
            </a:r>
          </a:p>
          <a:p>
            <a:r>
              <a:rPr lang="en-US" dirty="0"/>
              <a:t>Error handling mechanism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6333D-B42E-DADB-B6F2-FB4BA9A9E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1E147-5013-6FCA-132C-7786889E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702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592D-4FAC-5CCD-3ED0-5AEE0511D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10D28-21DB-D66E-4311-0AEA39CA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068A9-8414-4D00-001A-261C99D1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47</a:t>
            </a:fld>
            <a:endParaRPr lang="en-US"/>
          </a:p>
        </p:txBody>
      </p:sp>
      <p:graphicFrame>
        <p:nvGraphicFramePr>
          <p:cNvPr id="6" name="Content Placeholder 8">
            <a:extLst>
              <a:ext uri="{FF2B5EF4-FFF2-40B4-BE49-F238E27FC236}">
                <a16:creationId xmlns:a16="http://schemas.microsoft.com/office/drawing/2014/main" id="{77A4D0C5-53C2-E472-6FBF-919BDA7108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998346"/>
              </p:ext>
            </p:extLst>
          </p:nvPr>
        </p:nvGraphicFramePr>
        <p:xfrm>
          <a:off x="838200" y="2173968"/>
          <a:ext cx="10515600" cy="293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443935620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13416489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993495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322853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89336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XML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Protocol Buffers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Java serialization</a:t>
                      </a:r>
                      <a:endParaRPr lang="en-IT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13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T" sz="1800" b="1"/>
                        <a:t>Expressiveness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80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80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80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Excellent</a:t>
                      </a:r>
                      <a:endParaRPr lang="en-IT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844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Implementation independence</a:t>
                      </a:r>
                      <a:endParaRPr lang="en-IT" sz="1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80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80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80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Low</a:t>
                      </a:r>
                      <a:endParaRPr lang="en-IT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66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T" sz="1800" b="1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800"/>
                        <a:t>Verbose, requires multiple parsing passes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800"/>
                        <a:t>More compact that XML, single pass parsing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800"/>
                        <a:t>The most compact 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Between JSON and Protocol Buffer</a:t>
                      </a:r>
                      <a:endParaRPr lang="en-IT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262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T" sz="1800" b="1"/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/>
                        <a:t>G</a:t>
                      </a:r>
                      <a:r>
                        <a:rPr lang="en-IT" sz="1800"/>
                        <a:t>ood, data passed as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/>
                        <a:t>G</a:t>
                      </a:r>
                      <a:r>
                        <a:rPr lang="en-IT" sz="1800"/>
                        <a:t>ood, data passed as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800"/>
                        <a:t>Binary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Bytecode</a:t>
                      </a:r>
                      <a:endParaRPr lang="en-IT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5085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6377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DC480-597A-5F0A-4EB2-F887D13B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Multiple interfaces and separation of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4E6DC-6E3F-EA76-B88D-5582E6427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/>
              <a:t>A server can offer multiple interfaces at the same time</a:t>
            </a:r>
          </a:p>
          <a:p>
            <a:r>
              <a:rPr lang="en-IT"/>
              <a:t>This enables</a:t>
            </a:r>
          </a:p>
          <a:p>
            <a:pPr lvl="1"/>
            <a:r>
              <a:rPr lang="en-IT"/>
              <a:t>Separation of concerns</a:t>
            </a:r>
          </a:p>
          <a:p>
            <a:pPr lvl="1"/>
            <a:r>
              <a:rPr lang="en-IT"/>
              <a:t>Different levels of access rights</a:t>
            </a:r>
          </a:p>
          <a:p>
            <a:pPr lvl="1"/>
            <a:r>
              <a:rPr lang="en-IT"/>
              <a:t>Support to interface evolution (see next)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2F5BE-D57F-7940-E0CB-082F1626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Architectural styles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4849A-8A71-3F36-C09F-9C9D6029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48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568419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09EF-66F6-BE26-5FAB-034838F85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Interface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3CAD4-61D6-F22D-3FD7-A72088745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/>
              <a:t>Interfaces constitute the contract between servers and clients</a:t>
            </a:r>
          </a:p>
          <a:p>
            <a:r>
              <a:rPr lang="en-IT"/>
              <a:t>Sometimes interfaces need to evolve (e.g., to support new requirements)</a:t>
            </a:r>
          </a:p>
          <a:p>
            <a:r>
              <a:rPr lang="en-IT"/>
              <a:t>Strategies to support continuity</a:t>
            </a:r>
          </a:p>
          <a:p>
            <a:pPr lvl="1"/>
            <a:r>
              <a:rPr lang="en-IT" b="1"/>
              <a:t>Deprecation</a:t>
            </a:r>
            <a:r>
              <a:rPr lang="en-IT"/>
              <a:t>: declare well in advance that an interface version will be eliminated by a certain date</a:t>
            </a:r>
          </a:p>
          <a:p>
            <a:pPr lvl="1"/>
            <a:r>
              <a:rPr lang="en-IT" b="1"/>
              <a:t>Versioning</a:t>
            </a:r>
            <a:r>
              <a:rPr lang="en-IT"/>
              <a:t>: maintain multiple active versions of the interface</a:t>
            </a:r>
          </a:p>
          <a:p>
            <a:pPr lvl="1"/>
            <a:r>
              <a:rPr lang="en-IT" b="1"/>
              <a:t>Extension</a:t>
            </a:r>
            <a:r>
              <a:rPr lang="en-IT"/>
              <a:t>: a new version extends the previous one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8729A-F7AB-6F8C-7499-F3DCE59C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Architectural styles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5453A-6359-F414-44FC-765CA7BF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49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920985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3DF9-2B58-93E1-BA82-0583C68B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documentation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E74D5-9DDE-7B2B-6E93-A032D3287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dirty="0"/>
              <a:t>Focuses on usage, not internals</a:t>
            </a:r>
            <a:endParaRPr lang="en-IT">
              <a:solidFill>
                <a:srgbClr val="FF0000"/>
              </a:solidFill>
            </a:endParaRPr>
          </a:p>
          <a:p>
            <a:r>
              <a:rPr lang="en-IT"/>
              <a:t>Audience of an interface documentation</a:t>
            </a:r>
          </a:p>
          <a:p>
            <a:pPr lvl="1"/>
            <a:r>
              <a:rPr lang="en-IT" b="1"/>
              <a:t>Developers</a:t>
            </a:r>
            <a:r>
              <a:rPr lang="en-IT"/>
              <a:t> and maintainers of the component </a:t>
            </a:r>
            <a:r>
              <a:rPr lang="en-IT" b="1"/>
              <a:t>offering</a:t>
            </a:r>
            <a:r>
              <a:rPr lang="en-IT"/>
              <a:t> the interface</a:t>
            </a:r>
          </a:p>
          <a:p>
            <a:pPr lvl="1"/>
            <a:r>
              <a:rPr lang="en-IT" b="1"/>
              <a:t>Developers</a:t>
            </a:r>
            <a:r>
              <a:rPr lang="en-IT"/>
              <a:t> and maintainers of the component </a:t>
            </a:r>
            <a:r>
              <a:rPr lang="en-IT" b="1"/>
              <a:t>using</a:t>
            </a:r>
            <a:r>
              <a:rPr lang="en-IT"/>
              <a:t> the interface</a:t>
            </a:r>
          </a:p>
          <a:p>
            <a:pPr lvl="1"/>
            <a:r>
              <a:rPr lang="en-IT" b="1"/>
              <a:t>QA teams </a:t>
            </a:r>
            <a:r>
              <a:rPr lang="en-IT"/>
              <a:t>for system </a:t>
            </a:r>
            <a:r>
              <a:rPr lang="en-IT" b="1"/>
              <a:t>integration and testing</a:t>
            </a:r>
          </a:p>
          <a:p>
            <a:pPr lvl="1"/>
            <a:r>
              <a:rPr lang="en-IT" b="1"/>
              <a:t>Software architects </a:t>
            </a:r>
            <a:r>
              <a:rPr lang="en-IT"/>
              <a:t>(including those looking for reusable components) </a:t>
            </a:r>
          </a:p>
          <a:p>
            <a:pPr marL="457200" lvl="1" indent="0">
              <a:buNone/>
            </a:pP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CDA1A-A480-C6B2-7680-A4C86CFF9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Architectural styles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3E01C-1E3A-6DFD-58FD-52DC5D71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50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367741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A72D-0562-E721-F3C8-838DE536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EACE7-B9F3-97A8-EBE7-8F7B8183A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 principles are not rules, but guidance</a:t>
            </a:r>
          </a:p>
          <a:p>
            <a:r>
              <a:rPr lang="en-GB" dirty="0"/>
              <a:t>Trade-offs are unavoidable</a:t>
            </a:r>
          </a:p>
          <a:p>
            <a:r>
              <a:rPr lang="en-GB" dirty="0"/>
              <a:t>Good design enables:</a:t>
            </a:r>
          </a:p>
          <a:p>
            <a:pPr lvl="1"/>
            <a:r>
              <a:rPr lang="en-GB" dirty="0"/>
              <a:t>Maintainability</a:t>
            </a:r>
          </a:p>
          <a:p>
            <a:pPr lvl="1"/>
            <a:r>
              <a:rPr lang="en-GB" dirty="0"/>
              <a:t>Evolution</a:t>
            </a:r>
          </a:p>
          <a:p>
            <a:pPr lvl="1"/>
            <a:r>
              <a:rPr lang="en-GB" dirty="0"/>
              <a:t>Long-term value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1C31E-58E6-6BCB-3D99-DEC7634D1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16D062-BDAD-A065-ED9F-38F49CED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13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21269</TotalTime>
  <Words>3668</Words>
  <Application>Microsoft Macintosh PowerPoint</Application>
  <PresentationFormat>Widescreen</PresentationFormat>
  <Paragraphs>365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Aptos</vt:lpstr>
      <vt:lpstr>Aptos Display</vt:lpstr>
      <vt:lpstr>Arial</vt:lpstr>
      <vt:lpstr>Office Theme</vt:lpstr>
      <vt:lpstr>Chapter 12:  Design Principles</vt:lpstr>
      <vt:lpstr>Design Principles</vt:lpstr>
      <vt:lpstr>Why Design Principles Matter</vt:lpstr>
      <vt:lpstr>Some important principles</vt:lpstr>
      <vt:lpstr>Divide and conquer</vt:lpstr>
      <vt:lpstr>Programming-level example</vt:lpstr>
      <vt:lpstr>Design-level example</vt:lpstr>
      <vt:lpstr>Benefits of divide and conquer</vt:lpstr>
      <vt:lpstr>Design principle 1</vt:lpstr>
      <vt:lpstr>Abstraction</vt:lpstr>
      <vt:lpstr>Surveillance system example</vt:lpstr>
      <vt:lpstr>Why abstraction matters</vt:lpstr>
      <vt:lpstr>Design principle 2</vt:lpstr>
      <vt:lpstr>Three related concepts</vt:lpstr>
      <vt:lpstr>Cohesion - definition</vt:lpstr>
      <vt:lpstr>Example of poor cohesion</vt:lpstr>
      <vt:lpstr>Example of good cohesion</vt:lpstr>
      <vt:lpstr>Design principle 3</vt:lpstr>
      <vt:lpstr>Encapsulation - definition</vt:lpstr>
      <vt:lpstr>Why encapsulation is important</vt:lpstr>
      <vt:lpstr>Encapsulation example…</vt:lpstr>
      <vt:lpstr>… Encapsulation example</vt:lpstr>
      <vt:lpstr>Design principle 4</vt:lpstr>
      <vt:lpstr>A note on encapsulation and visibility</vt:lpstr>
      <vt:lpstr>Coupling - definition</vt:lpstr>
      <vt:lpstr>Types of coupling</vt:lpstr>
      <vt:lpstr>Control Coupling Example</vt:lpstr>
      <vt:lpstr>Problems with high coupling</vt:lpstr>
      <vt:lpstr>Design principle 5</vt:lpstr>
      <vt:lpstr>Reuse vs reusability</vt:lpstr>
      <vt:lpstr>Benefits of reuse</vt:lpstr>
      <vt:lpstr>Challenges of reuse</vt:lpstr>
      <vt:lpstr>Design principle 6</vt:lpstr>
      <vt:lpstr>Design principle 7</vt:lpstr>
      <vt:lpstr>Designing for Change</vt:lpstr>
      <vt:lpstr>Design principle 8</vt:lpstr>
      <vt:lpstr>Obsolescence Risks</vt:lpstr>
      <vt:lpstr>Design principle 9</vt:lpstr>
      <vt:lpstr>Portability</vt:lpstr>
      <vt:lpstr>Design principle 10</vt:lpstr>
      <vt:lpstr>Design for Testability</vt:lpstr>
      <vt:lpstr>Design principle 11</vt:lpstr>
      <vt:lpstr>Defensive design</vt:lpstr>
      <vt:lpstr>Balance in defensive design</vt:lpstr>
      <vt:lpstr>Design principle 12</vt:lpstr>
      <vt:lpstr>Interface design and design principles</vt:lpstr>
      <vt:lpstr>Interface development: key technical elements</vt:lpstr>
      <vt:lpstr>Data representation</vt:lpstr>
      <vt:lpstr>Multiple interfaces and separation of concerns</vt:lpstr>
      <vt:lpstr>Interface evolution</vt:lpstr>
      <vt:lpstr>Interface documentation</vt:lpstr>
      <vt:lpstr>Final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Elisabetta Di Nitto</cp:lastModifiedBy>
  <cp:revision>16</cp:revision>
  <dcterms:created xsi:type="dcterms:W3CDTF">2025-05-15T11:20:47Z</dcterms:created>
  <dcterms:modified xsi:type="dcterms:W3CDTF">2026-03-29T20:55:34Z</dcterms:modified>
</cp:coreProperties>
</file>