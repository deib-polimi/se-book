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8" r:id="rId10"/>
    <p:sldId id="264" r:id="rId11"/>
    <p:sldId id="265" r:id="rId12"/>
    <p:sldId id="266" r:id="rId13"/>
    <p:sldId id="289" r:id="rId14"/>
    <p:sldId id="267" r:id="rId15"/>
    <p:sldId id="268" r:id="rId16"/>
    <p:sldId id="269" r:id="rId17"/>
    <p:sldId id="270" r:id="rId18"/>
    <p:sldId id="290" r:id="rId19"/>
    <p:sldId id="271" r:id="rId20"/>
    <p:sldId id="272" r:id="rId21"/>
    <p:sldId id="273" r:id="rId22"/>
    <p:sldId id="291" r:id="rId23"/>
    <p:sldId id="274" r:id="rId24"/>
    <p:sldId id="275" r:id="rId25"/>
    <p:sldId id="276" r:id="rId26"/>
    <p:sldId id="277" r:id="rId27"/>
    <p:sldId id="292" r:id="rId28"/>
    <p:sldId id="278" r:id="rId29"/>
    <p:sldId id="279" r:id="rId30"/>
    <p:sldId id="280" r:id="rId31"/>
    <p:sldId id="293" r:id="rId32"/>
    <p:sldId id="281" r:id="rId33"/>
    <p:sldId id="282" r:id="rId34"/>
    <p:sldId id="283" r:id="rId35"/>
    <p:sldId id="284" r:id="rId36"/>
    <p:sldId id="294" r:id="rId37"/>
    <p:sldId id="285" r:id="rId38"/>
    <p:sldId id="286" r:id="rId39"/>
    <p:sldId id="28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54"/>
    <p:restoredTop sz="94614"/>
  </p:normalViewPr>
  <p:slideViewPr>
    <p:cSldViewPr snapToGrid="0">
      <p:cViewPr varScale="1">
        <p:scale>
          <a:sx n="76" d="100"/>
          <a:sy n="76" d="100"/>
        </p:scale>
        <p:origin x="224" y="3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betta Di Nitto" userId="74793f27-d828-489b-9fa1-89209989f427" providerId="ADAL" clId="{5D8F43CA-DF8D-1A4F-9C3F-11C2DD809C50}"/>
    <pc:docChg chg="undo custSel addSld modSld">
      <pc:chgData name="Elisabetta Di Nitto" userId="74793f27-d828-489b-9fa1-89209989f427" providerId="ADAL" clId="{5D8F43CA-DF8D-1A4F-9C3F-11C2DD809C50}" dt="2025-05-16T12:27:00.596" v="342" actId="20577"/>
      <pc:docMkLst>
        <pc:docMk/>
      </pc:docMkLst>
      <pc:sldChg chg="modSp mod">
        <pc:chgData name="Elisabetta Di Nitto" userId="74793f27-d828-489b-9fa1-89209989f427" providerId="ADAL" clId="{5D8F43CA-DF8D-1A4F-9C3F-11C2DD809C50}" dt="2025-05-16T12:18:27.992" v="0" actId="113"/>
        <pc:sldMkLst>
          <pc:docMk/>
          <pc:sldMk cId="2672788615" sldId="257"/>
        </pc:sldMkLst>
      </pc:sldChg>
      <pc:sldChg chg="modSp mod">
        <pc:chgData name="Elisabetta Di Nitto" userId="74793f27-d828-489b-9fa1-89209989f427" providerId="ADAL" clId="{5D8F43CA-DF8D-1A4F-9C3F-11C2DD809C50}" dt="2025-05-16T12:26:49.904" v="340" actId="5793"/>
        <pc:sldMkLst>
          <pc:docMk/>
          <pc:sldMk cId="438142904" sldId="259"/>
        </pc:sldMkLst>
      </pc:sldChg>
      <pc:sldChg chg="addSp delSp modSp new mod">
        <pc:chgData name="Elisabetta Di Nitto" userId="74793f27-d828-489b-9fa1-89209989f427" providerId="ADAL" clId="{5D8F43CA-DF8D-1A4F-9C3F-11C2DD809C50}" dt="2025-05-16T12:27:00.596" v="342" actId="20577"/>
        <pc:sldMkLst>
          <pc:docMk/>
          <pc:sldMk cId="3602114308" sldId="267"/>
        </pc:sldMkLst>
      </pc:sldChg>
    </pc:docChg>
  </pc:docChgLst>
  <pc:docChgLst>
    <pc:chgData name="Elisabetta Di Nitto" userId="74793f27-d828-489b-9fa1-89209989f427" providerId="ADAL" clId="{C53B7DDF-975F-5433-8BA0-7A6449C044C8}"/>
    <pc:docChg chg="custSel modMainMaster">
      <pc:chgData name="Elisabetta Di Nitto" userId="74793f27-d828-489b-9fa1-89209989f427" providerId="ADAL" clId="{C53B7DDF-975F-5433-8BA0-7A6449C044C8}" dt="2025-10-14T11:49:30.279" v="0" actId="478"/>
      <pc:docMkLst>
        <pc:docMk/>
      </pc:docMkLst>
      <pc:sldMasterChg chg="modSldLayout">
        <pc:chgData name="Elisabetta Di Nitto" userId="74793f27-d828-489b-9fa1-89209989f427" providerId="ADAL" clId="{C53B7DDF-975F-5433-8BA0-7A6449C044C8}" dt="2025-10-14T11:49:30.279" v="0" actId="478"/>
        <pc:sldMasterMkLst>
          <pc:docMk/>
          <pc:sldMasterMk cId="3830785740" sldId="2147483648"/>
        </pc:sldMasterMkLst>
        <pc:sldLayoutChg chg="delSp mod">
          <pc:chgData name="Elisabetta Di Nitto" userId="74793f27-d828-489b-9fa1-89209989f427" providerId="ADAL" clId="{C53B7DDF-975F-5433-8BA0-7A6449C044C8}" dt="2025-10-14T11:49:30.279" v="0" actId="478"/>
          <pc:sldLayoutMkLst>
            <pc:docMk/>
            <pc:sldMasterMk cId="3830785740" sldId="2147483648"/>
            <pc:sldLayoutMk cId="2747765950" sldId="2147483649"/>
          </pc:sldLayoutMkLst>
          <pc:spChg chg="del">
            <ac:chgData name="Elisabetta Di Nitto" userId="74793f27-d828-489b-9fa1-89209989f427" providerId="ADAL" clId="{C53B7DDF-975F-5433-8BA0-7A6449C044C8}" dt="2025-10-14T11:49:30.279" v="0" actId="478"/>
            <ac:spMkLst>
              <pc:docMk/>
              <pc:sldMasterMk cId="3830785740" sldId="2147483648"/>
              <pc:sldLayoutMk cId="2747765950" sldId="2147483649"/>
              <ac:spMk id="5" creationId="{E81806C1-88EC-C042-4EBA-94F299406B1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11:</a:t>
            </a:r>
            <a:br>
              <a:rPr lang="en-US" dirty="0"/>
            </a:br>
            <a:r>
              <a:rPr lang="en-US" dirty="0"/>
              <a:t>Design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Architectural styles guide high-level system structure</a:t>
            </a:r>
          </a:p>
          <a:p>
            <a:r>
              <a:rPr lang="en-US" dirty="0"/>
              <a:t>Design patterns address the internal structure of components</a:t>
            </a:r>
          </a:p>
          <a:p>
            <a:r>
              <a:rPr lang="en-US" dirty="0"/>
              <a:t>They provide reusable solutions to recurring design problems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Focus of this chapter:</a:t>
            </a:r>
          </a:p>
          <a:p>
            <a:r>
              <a:rPr lang="en-US" dirty="0"/>
              <a:t>What design patterns are</a:t>
            </a:r>
          </a:p>
          <a:p>
            <a:r>
              <a:rPr lang="en-US" dirty="0"/>
              <a:t>How they are classified</a:t>
            </a:r>
          </a:p>
          <a:p>
            <a:r>
              <a:rPr lang="en-US" dirty="0"/>
              <a:t>Representative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821FF-2BC0-9EA9-D66B-8F8E3CA4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E472-C5A0-2112-B330-15E936157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Design Pattern?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D9DA-1B5D-33F9-9536-759362A32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design pattern is a template for solving a recurring design problem</a:t>
            </a:r>
          </a:p>
          <a:p>
            <a:r>
              <a:rPr lang="en-US" dirty="0"/>
              <a:t>It is:</a:t>
            </a:r>
          </a:p>
          <a:p>
            <a:pPr lvl="1"/>
            <a:r>
              <a:rPr lang="en-US" dirty="0"/>
              <a:t>Abstract enough to be reusable</a:t>
            </a:r>
          </a:p>
          <a:p>
            <a:pPr lvl="1"/>
            <a:r>
              <a:rPr lang="en-US" dirty="0"/>
              <a:t>Concrete enough to be recognizable</a:t>
            </a:r>
          </a:p>
          <a:p>
            <a:r>
              <a:rPr lang="en-US" dirty="0"/>
              <a:t>Helps express design intent clearly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3F69-6434-8610-9E89-790ACC9C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4E3C1-94A8-B217-04C9-BC31C2C9D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67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22C0-DD79-A2FF-CFCC-93F7205B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4765-F61F-ED26-F96A-615F3F25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Origins of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1E609-3469-B616-EC41-81BBA5B55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Popularized by </a:t>
            </a:r>
            <a:r>
              <a:rPr lang="en-US" i="1" dirty="0"/>
              <a:t>Design Patterns: Elements of Reusable Object-Oriented Software </a:t>
            </a:r>
            <a:r>
              <a:rPr lang="en-US" dirty="0"/>
              <a:t>[Gamma et al., 1995]</a:t>
            </a:r>
          </a:p>
          <a:p>
            <a:r>
              <a:rPr lang="en-US" dirty="0"/>
              <a:t>Introduced a shared vocabulary for object-oriented design</a:t>
            </a:r>
          </a:p>
          <a:p>
            <a:r>
              <a:rPr lang="en-US" dirty="0"/>
              <a:t>This chapter adopts their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6AC54-C290-DCE5-FBAA-240AEBF3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BDBBB-7423-7310-62A2-06EA0DB6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72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B0DA-37A8-D764-C49C-EDB841050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B540-DE95-11BA-9BBC-248F2620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3B3B1-77FB-93E7-8E71-20081BC12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design pattern consists of:</a:t>
            </a:r>
          </a:p>
          <a:p>
            <a:r>
              <a:rPr lang="en-US" dirty="0"/>
              <a:t>Name: shared vocabulary</a:t>
            </a:r>
          </a:p>
          <a:p>
            <a:r>
              <a:rPr lang="en-US" dirty="0"/>
              <a:t>Problem: recurring design issue</a:t>
            </a:r>
          </a:p>
          <a:p>
            <a:r>
              <a:rPr lang="en-US" dirty="0"/>
              <a:t>Solution: structure of components and interactions</a:t>
            </a:r>
          </a:p>
          <a:p>
            <a:r>
              <a:rPr lang="en-US" dirty="0"/>
              <a:t>Consequences: benefits and trade-offs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Patterns support informed design decisions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AAA49-53A7-5E86-3A76-0E98631F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883B5-D1B8-B741-9AEA-194D91CF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51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17BD-3BDB-CC64-2DC7-8D529809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44CD8-56CF-58B6-C1CB-60B0BC19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166A8-5E3A-5CA8-DFD1-1D5BE7F94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Patterns are classified by the problem they address:</a:t>
            </a:r>
          </a:p>
          <a:p>
            <a:r>
              <a:rPr lang="en-US" dirty="0"/>
              <a:t>Creational: object creation</a:t>
            </a:r>
          </a:p>
          <a:p>
            <a:r>
              <a:rPr lang="en-US" dirty="0"/>
              <a:t>Structural: object composition</a:t>
            </a:r>
          </a:p>
          <a:p>
            <a:r>
              <a:rPr lang="en-US" dirty="0"/>
              <a:t>Behavioral: interaction and control flow</a:t>
            </a:r>
          </a:p>
          <a:p>
            <a:r>
              <a:rPr lang="en-US" dirty="0"/>
              <a:t>Concurrency: safe and efficient parallel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D144B-5339-9DFE-D247-C8BC49E7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373D4-2347-09D1-8057-60B7165C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5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D194E-F19E-25CE-F82F-21FFE309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48D4-D25F-884A-EBB2-70C69D30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5D029-BF36-89B0-9C42-D1D5ED55C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on how objects are created</a:t>
            </a:r>
          </a:p>
          <a:p>
            <a:r>
              <a:rPr lang="en-US" dirty="0"/>
              <a:t>Decouple object creation from usage</a:t>
            </a:r>
          </a:p>
          <a:p>
            <a:r>
              <a:rPr lang="en-US" dirty="0"/>
              <a:t>Hide concrete classes from client code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Examples in this chapter:</a:t>
            </a:r>
          </a:p>
          <a:p>
            <a:r>
              <a:rPr lang="en-US" dirty="0"/>
              <a:t>Factory Method</a:t>
            </a:r>
          </a:p>
          <a:p>
            <a:r>
              <a:rPr lang="en-US" dirty="0"/>
              <a:t>Abstract Factory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5B25F-39C1-E939-5559-3FAECD74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F91B2-8798-6B88-0AA7-0A9D7A000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79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919B-CDC5-16E0-979E-38E789BC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EF82-3FE5-D293-0797-4CB7964E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8C40E-FDD3-AC0E-BE4A-B8DB8CB89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Solves the problem of creating objects without knowing their exact class</a:t>
            </a:r>
          </a:p>
          <a:p>
            <a:r>
              <a:rPr lang="en-US" dirty="0"/>
              <a:t>Defines a factory method in a base class</a:t>
            </a:r>
          </a:p>
          <a:p>
            <a:r>
              <a:rPr lang="en-US" dirty="0"/>
              <a:t>Subclasses decide which concrete object to instantiate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benefit:</a:t>
            </a:r>
          </a:p>
          <a:p>
            <a:r>
              <a:rPr lang="en-US" dirty="0"/>
              <a:t>Extensibility without modifying client code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39A3B-F93E-1F56-9896-5E63288C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66CCB-8D2B-2935-1966-A8886074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26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B23D5-E20B-C916-4B9E-DD95F8F2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13F8-F8A6-321E-8653-7A0B1625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 Method: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6F4A3-DE0E-3AC1-C313-EE09009DD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Context: mobile applications generating notifications</a:t>
            </a:r>
          </a:p>
          <a:p>
            <a:r>
              <a:rPr lang="en-US" dirty="0"/>
              <a:t>Different apps require different notification types</a:t>
            </a:r>
          </a:p>
          <a:p>
            <a:r>
              <a:rPr lang="en-US" dirty="0"/>
              <a:t>Client code should not depend on concrete notification classes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structure:</a:t>
            </a:r>
          </a:p>
          <a:p>
            <a:r>
              <a:rPr lang="en-US" dirty="0"/>
              <a:t>App defines a factory method </a:t>
            </a:r>
            <a:r>
              <a:rPr lang="en-US" dirty="0" err="1"/>
              <a:t>createNotification</a:t>
            </a:r>
            <a:r>
              <a:rPr lang="en-US" dirty="0"/>
              <a:t>()</a:t>
            </a:r>
          </a:p>
          <a:p>
            <a:r>
              <a:rPr lang="en-US" dirty="0"/>
              <a:t>Subclasses (e.g., Game) override it</a:t>
            </a:r>
          </a:p>
          <a:p>
            <a:r>
              <a:rPr lang="en-US" dirty="0"/>
              <a:t>Concrete products (e.g., </a:t>
            </a:r>
            <a:r>
              <a:rPr lang="en-US" dirty="0" err="1"/>
              <a:t>GameNotification</a:t>
            </a:r>
            <a:r>
              <a:rPr lang="en-US" dirty="0"/>
              <a:t>) are instantiated transparently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A3A73-FC4A-9511-0B4C-AD58DFDC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978A9-8196-2C5A-958E-7C11341FF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03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4454-E43F-EA28-0BA3-A29E8A1BB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630-143F-638D-CF0A-A6D58FC8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 Method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4858BC-D999-3E4F-606D-18F96D51C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136" y="2465519"/>
            <a:ext cx="9557727" cy="1926961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507EA-C0E2-4855-1AF1-82C95150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97515-92A4-81FA-D891-3D7CC23C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67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238E-BF5E-0820-C602-D8349D25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EF51-A7DE-7B60-52CC-F9959F0A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 Method: Consequences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21FAE-C444-324A-B8AF-789B5B9D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8CC8-F853-1FFF-F82B-0104D16F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5C844-6B39-CE2B-8D60-D74F69B73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Promotes loose coupling</a:t>
            </a:r>
          </a:p>
          <a:p>
            <a:r>
              <a:rPr lang="en-US" dirty="0"/>
              <a:t>Supports open–closed principle</a:t>
            </a:r>
          </a:p>
          <a:p>
            <a:r>
              <a:rPr lang="en-US" dirty="0"/>
              <a:t>May increase the number of classes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Used when:</a:t>
            </a:r>
          </a:p>
          <a:p>
            <a:r>
              <a:rPr lang="en-US" dirty="0"/>
              <a:t>Object type depends on subclass</a:t>
            </a:r>
          </a:p>
        </p:txBody>
      </p:sp>
    </p:spTree>
    <p:extLst>
      <p:ext uri="{BB962C8B-B14F-4D97-AF65-F5344CB8AC3E}">
        <p14:creationId xmlns:p14="http://schemas.microsoft.com/office/powerpoint/2010/main" val="1102176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4A26-8256-273B-BE4A-6A41D5AB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F087-43D0-C39A-40A2-9168A1BCF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Factory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4283F-67E1-8673-11C1-9DD231F7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E94FD-7096-4571-9503-FF2165FF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928D13-D0A5-A207-1DAE-E26ED99F3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families of related objects</a:t>
            </a:r>
          </a:p>
          <a:p>
            <a:r>
              <a:rPr lang="en-US" dirty="0"/>
              <a:t>Ensures consistency among created objects</a:t>
            </a:r>
          </a:p>
          <a:p>
            <a:r>
              <a:rPr lang="en-US" dirty="0"/>
              <a:t>Client code depends only on abstract interfaces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 case:</a:t>
            </a:r>
          </a:p>
          <a:p>
            <a:r>
              <a:rPr lang="en-US" dirty="0"/>
              <a:t>Interchangeable product families (e.g., UI themes)</a:t>
            </a:r>
          </a:p>
        </p:txBody>
      </p:sp>
    </p:spTree>
    <p:extLst>
      <p:ext uri="{BB962C8B-B14F-4D97-AF65-F5344CB8AC3E}">
        <p14:creationId xmlns:p14="http://schemas.microsoft.com/office/powerpoint/2010/main" val="2140145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4F38-ED47-2F94-077B-209DA83F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D5D0-A98B-FDE7-DB63-EBD8CA28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Factory: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6B0BF-8257-D1BC-05F9-30B499AE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9CC47-E9CC-5F33-1BA2-14F245FB1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4EA64-3654-09A8-5D1F-36E31FD05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graphical user interface with multiple themes</a:t>
            </a:r>
          </a:p>
          <a:p>
            <a:r>
              <a:rPr lang="en-US" dirty="0"/>
              <a:t>Each theme requires a consistent set of components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structure:</a:t>
            </a:r>
          </a:p>
          <a:p>
            <a:r>
              <a:rPr lang="en-US" dirty="0"/>
              <a:t>Abstract factory defines creation methods (e.g., buttons, frames)</a:t>
            </a:r>
          </a:p>
          <a:p>
            <a:r>
              <a:rPr lang="en-US" dirty="0"/>
              <a:t>Concrete factories implement a specific theme (light, dark)</a:t>
            </a:r>
          </a:p>
          <a:p>
            <a:r>
              <a:rPr lang="en-US" dirty="0"/>
              <a:t>Client code depends only on abstract interfaces</a:t>
            </a:r>
          </a:p>
        </p:txBody>
      </p:sp>
    </p:spTree>
    <p:extLst>
      <p:ext uri="{BB962C8B-B14F-4D97-AF65-F5344CB8AC3E}">
        <p14:creationId xmlns:p14="http://schemas.microsoft.com/office/powerpoint/2010/main" val="2796674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712D-0311-14CB-6936-5882E8D3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23330-F134-FE4A-C976-7D565C1D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Factory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BA342-7D4C-F01B-1172-1285BD44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C6A3E-8616-8E7B-EFF6-55E02316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72F63C-BE7E-9457-7255-07AC2E1C4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958" y="1811867"/>
            <a:ext cx="9956084" cy="3234266"/>
          </a:xfrm>
        </p:spPr>
      </p:pic>
    </p:spTree>
    <p:extLst>
      <p:ext uri="{BB962C8B-B14F-4D97-AF65-F5344CB8AC3E}">
        <p14:creationId xmlns:p14="http://schemas.microsoft.com/office/powerpoint/2010/main" val="4043500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6508-C5F8-225D-547E-02825352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E3FF-DE36-DB77-56C0-D32263A8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Factory: Consequences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12A4C-C410-EF95-DD55-CA13A01A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30E80-0CA6-98BF-E1B1-70D379E8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D5F02-48E5-2AFE-4F48-3FE997F41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Enforces consistency among related objects</a:t>
            </a:r>
          </a:p>
          <a:p>
            <a:r>
              <a:rPr lang="en-US" dirty="0"/>
              <a:t>Makes switching product families easy</a:t>
            </a:r>
          </a:p>
          <a:p>
            <a:r>
              <a:rPr lang="en-US" dirty="0"/>
              <a:t>Harder to extend with new product types</a:t>
            </a:r>
          </a:p>
        </p:txBody>
      </p:sp>
    </p:spTree>
    <p:extLst>
      <p:ext uri="{BB962C8B-B14F-4D97-AF65-F5344CB8AC3E}">
        <p14:creationId xmlns:p14="http://schemas.microsoft.com/office/powerpoint/2010/main" val="2264868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9A36-A703-CE90-A82B-A1176CAB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C34E1-099B-5C3F-8343-1A657A7C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Patterns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48191-E11A-ED43-D162-E02CC1A8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46593-19BA-E9CB-751F-D3B46B7C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8F03E-B401-C913-E3A6-022BDE99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how classes and objects are composed</a:t>
            </a:r>
          </a:p>
          <a:p>
            <a:r>
              <a:rPr lang="en-US" dirty="0"/>
              <a:t>Build larger structures from simpler ones</a:t>
            </a:r>
          </a:p>
          <a:p>
            <a:r>
              <a:rPr lang="en-US" dirty="0"/>
              <a:t>Promote flexibility and reuse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Examples in this chapter:</a:t>
            </a:r>
          </a:p>
          <a:p>
            <a:r>
              <a:rPr lang="en-US" dirty="0"/>
              <a:t>Adapter</a:t>
            </a:r>
          </a:p>
          <a:p>
            <a:r>
              <a:rPr lang="en-US" dirty="0"/>
              <a:t>Decorator</a:t>
            </a:r>
          </a:p>
        </p:txBody>
      </p:sp>
    </p:spTree>
    <p:extLst>
      <p:ext uri="{BB962C8B-B14F-4D97-AF65-F5344CB8AC3E}">
        <p14:creationId xmlns:p14="http://schemas.microsoft.com/office/powerpoint/2010/main" val="1876235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7809-306F-53A6-31CF-2FBE3AD08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5D38-383E-FBAC-1962-E9405755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BD07F-91F7-E47B-B91E-7548A34B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D55A7-47D2-A1A9-C994-8407C19B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670C0-BACC-4BB9-CE4C-FC2EE4D78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Integrates components with incompatible interfaces</a:t>
            </a:r>
          </a:p>
          <a:p>
            <a:r>
              <a:rPr lang="en-US" dirty="0"/>
              <a:t>Wraps an existing class with a new interface</a:t>
            </a:r>
          </a:p>
          <a:p>
            <a:r>
              <a:rPr lang="en-US" dirty="0"/>
              <a:t>Avoids modifying existing or external code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scenario:</a:t>
            </a:r>
          </a:p>
          <a:p>
            <a:r>
              <a:rPr lang="en-US" dirty="0"/>
              <a:t>Integrating third-party components</a:t>
            </a:r>
          </a:p>
        </p:txBody>
      </p:sp>
    </p:spTree>
    <p:extLst>
      <p:ext uri="{BB962C8B-B14F-4D97-AF65-F5344CB8AC3E}">
        <p14:creationId xmlns:p14="http://schemas.microsoft.com/office/powerpoint/2010/main" val="4155142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6EED-BA79-1F5E-CFEF-111715EE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0B41-019D-0E78-01AC-A6CDB4B5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Adapter: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677B9-82A9-9DEC-6EBE-72CA01D5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02E49-CE37-C0A2-730B-6C3BDE44E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DD8DA-E585-D698-4CA9-A3FB115E7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rendering documents with incompatible interfaces</a:t>
            </a:r>
          </a:p>
          <a:p>
            <a:r>
              <a:rPr lang="en-US" dirty="0"/>
              <a:t>System expects objects implementing Drawable</a:t>
            </a:r>
          </a:p>
          <a:p>
            <a:r>
              <a:rPr lang="en-US" dirty="0"/>
              <a:t>External PDF component exposes a different interface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structure:</a:t>
            </a:r>
          </a:p>
          <a:p>
            <a:r>
              <a:rPr lang="en-US" dirty="0" err="1"/>
              <a:t>PDFDocumentAdapter</a:t>
            </a:r>
            <a:r>
              <a:rPr lang="en-US" dirty="0"/>
              <a:t> wraps </a:t>
            </a:r>
            <a:r>
              <a:rPr lang="en-US" dirty="0" err="1"/>
              <a:t>PDFDocument</a:t>
            </a:r>
            <a:endParaRPr lang="en-US" dirty="0"/>
          </a:p>
          <a:p>
            <a:r>
              <a:rPr lang="en-US" dirty="0"/>
              <a:t>Translates draw() calls into </a:t>
            </a:r>
            <a:r>
              <a:rPr lang="en-US" dirty="0" err="1"/>
              <a:t>getContent</a:t>
            </a:r>
            <a:r>
              <a:rPr lang="en-US" dirty="0"/>
              <a:t>() calls</a:t>
            </a:r>
          </a:p>
          <a:p>
            <a:r>
              <a:rPr lang="en-US" dirty="0"/>
              <a:t>Allows uniform treatment of PNG and PDF documents</a:t>
            </a:r>
          </a:p>
        </p:txBody>
      </p:sp>
    </p:spTree>
    <p:extLst>
      <p:ext uri="{BB962C8B-B14F-4D97-AF65-F5344CB8AC3E}">
        <p14:creationId xmlns:p14="http://schemas.microsoft.com/office/powerpoint/2010/main" val="1956366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8E99-6D31-5F4A-ED77-7584197E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FAAA-FDED-9F7E-8C42-CD063FE7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46C3F-BAC6-A8D3-FA01-24B793D6F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C76F9-7040-9055-7696-1DCFF3A5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469D50-C6DD-B451-BE16-2AEC13AAB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3582" y="2142066"/>
            <a:ext cx="8644835" cy="2573867"/>
          </a:xfrm>
        </p:spPr>
      </p:pic>
    </p:spTree>
    <p:extLst>
      <p:ext uri="{BB962C8B-B14F-4D97-AF65-F5344CB8AC3E}">
        <p14:creationId xmlns:p14="http://schemas.microsoft.com/office/powerpoint/2010/main" val="3596157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D404-9BD0-9914-C5FB-D442B410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87D5-4334-8897-8E15-7E699B787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Adapter: Consequences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B46F4-1B81-3BE2-98E4-A06ED58B0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7C300-7EBC-641E-89E0-E7DE1BF1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B074E-7AF7-F23E-D1AC-71A5606BD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Improves reuse of existing components</a:t>
            </a:r>
          </a:p>
          <a:p>
            <a:r>
              <a:rPr lang="en-US" dirty="0"/>
              <a:t>Increases flexibility</a:t>
            </a:r>
          </a:p>
          <a:p>
            <a:r>
              <a:rPr lang="en-US" dirty="0"/>
              <a:t>Adds an extra level of indirection</a:t>
            </a:r>
          </a:p>
        </p:txBody>
      </p:sp>
    </p:spTree>
    <p:extLst>
      <p:ext uri="{BB962C8B-B14F-4D97-AF65-F5344CB8AC3E}">
        <p14:creationId xmlns:p14="http://schemas.microsoft.com/office/powerpoint/2010/main" val="2263442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35C6-C0F3-3278-13FD-89FF6C3B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C335-CEE0-B46D-7FCE-CD4B3592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777F8-259C-91FA-82CA-69BA90B4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8AF5D-4448-B5C1-9D3A-11DA83F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04572-5CC2-71AE-7B78-E6A619F10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Adds responsibilities to objects dynamically</a:t>
            </a:r>
          </a:p>
          <a:p>
            <a:r>
              <a:rPr lang="en-US" dirty="0"/>
              <a:t>Avoids explosion of subclasses</a:t>
            </a:r>
          </a:p>
          <a:p>
            <a:r>
              <a:rPr lang="en-US" dirty="0"/>
              <a:t>Uses object composition instead of inheritance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 case:</a:t>
            </a:r>
          </a:p>
          <a:p>
            <a:r>
              <a:rPr lang="en-US" dirty="0"/>
              <a:t>Optional or combinable features</a:t>
            </a:r>
          </a:p>
        </p:txBody>
      </p:sp>
    </p:spTree>
    <p:extLst>
      <p:ext uri="{BB962C8B-B14F-4D97-AF65-F5344CB8AC3E}">
        <p14:creationId xmlns:p14="http://schemas.microsoft.com/office/powerpoint/2010/main" val="3435426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DCBD-4075-C476-880E-16B803F2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CE96-56B2-1ED1-A032-3F5F1D06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Decorator: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15763-341E-D39F-71CE-4F91E312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5BE9C-B986-4FDD-AF44-2B31B027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D9AD9-55C3-A5EE-E371-C22332438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printing text with optional formatting styles</a:t>
            </a:r>
          </a:p>
          <a:p>
            <a:r>
              <a:rPr lang="en-US" dirty="0"/>
              <a:t>Styles can be combined dynamically (bold, italics, underline)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structure:</a:t>
            </a:r>
          </a:p>
          <a:p>
            <a:r>
              <a:rPr lang="en-US" dirty="0"/>
              <a:t>Printer defines basic printing behavior</a:t>
            </a:r>
          </a:p>
          <a:p>
            <a:r>
              <a:rPr lang="en-US" dirty="0"/>
              <a:t>Decorators wrap a Printer instance</a:t>
            </a:r>
          </a:p>
          <a:p>
            <a:r>
              <a:rPr lang="en-US" dirty="0"/>
              <a:t>Each decorator adds a formatting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263635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683C-6AF5-7E2B-28FE-94D317BD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E4DC-7644-9FF5-38BD-39DF0289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A2643-2466-E1A4-8533-A38A555E5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A56D7-AA6D-1BFC-4117-D166813DE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41C1F0-CB38-6F63-870B-97EB5D783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157" y="1871133"/>
            <a:ext cx="9457686" cy="3115733"/>
          </a:xfrm>
        </p:spPr>
      </p:pic>
    </p:spTree>
    <p:extLst>
      <p:ext uri="{BB962C8B-B14F-4D97-AF65-F5344CB8AC3E}">
        <p14:creationId xmlns:p14="http://schemas.microsoft.com/office/powerpoint/2010/main" val="1671534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FC59-83F2-8E48-00C9-7E9356C0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F77B-DD5B-A245-62FB-2EE89E46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Decorator: Consequences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94D6F-E59E-6494-5624-6FDBCA7B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AAC63-D9A2-A1EB-6516-8D942032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91980-2F5F-F769-E947-E7259D97A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Highly flexible and extensible</a:t>
            </a:r>
          </a:p>
          <a:p>
            <a:r>
              <a:rPr lang="en-US" dirty="0"/>
              <a:t>Supports runtime composition of behavior</a:t>
            </a:r>
          </a:p>
          <a:p>
            <a:r>
              <a:rPr lang="en-US" dirty="0"/>
              <a:t>Can make object structure harder to understand</a:t>
            </a:r>
          </a:p>
        </p:txBody>
      </p:sp>
    </p:spTree>
    <p:extLst>
      <p:ext uri="{BB962C8B-B14F-4D97-AF65-F5344CB8AC3E}">
        <p14:creationId xmlns:p14="http://schemas.microsoft.com/office/powerpoint/2010/main" val="3674982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66D0-1B3E-DE10-AA4E-E57D9513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69AB-3BC4-2744-9FA9-28DE711E7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Patterns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5F5E2-1298-1B25-CD52-52BBD669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BF800-A61E-7205-F5AB-1E406CC2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7394C5-5AF0-B793-E80A-734F15C8E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communication and interaction between objects</a:t>
            </a:r>
          </a:p>
          <a:p>
            <a:r>
              <a:rPr lang="en-US" dirty="0"/>
              <a:t>Encapsulate control flow</a:t>
            </a:r>
          </a:p>
          <a:p>
            <a:r>
              <a:rPr lang="en-US" dirty="0"/>
              <a:t>Improve maintainability of complex behavior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Examples in this chapter:</a:t>
            </a:r>
          </a:p>
          <a:p>
            <a:r>
              <a:rPr lang="en-US" dirty="0"/>
              <a:t>State</a:t>
            </a:r>
          </a:p>
          <a:p>
            <a:r>
              <a:rPr lang="en-US" dirty="0"/>
              <a:t>Observer</a:t>
            </a:r>
          </a:p>
        </p:txBody>
      </p:sp>
    </p:spTree>
    <p:extLst>
      <p:ext uri="{BB962C8B-B14F-4D97-AF65-F5344CB8AC3E}">
        <p14:creationId xmlns:p14="http://schemas.microsoft.com/office/powerpoint/2010/main" val="1034746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7E08-3E0C-A4B2-CF6B-EB132E9D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1E29-6E8A-BDE3-7B56-1D8F07A6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48873-CA9B-30E4-9B87-B9997E585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EBED4-8304-5C37-CC98-B5023E66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C123C-620F-5DB1-184E-959D7647E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 depends on an object’s internal state</a:t>
            </a:r>
          </a:p>
          <a:p>
            <a:r>
              <a:rPr lang="en-US" dirty="0"/>
              <a:t>Encapsulates state-specific behavior in separate classes</a:t>
            </a:r>
          </a:p>
          <a:p>
            <a:r>
              <a:rPr lang="en-US" dirty="0"/>
              <a:t>Eliminates complex conditional logic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 case:</a:t>
            </a:r>
          </a:p>
          <a:p>
            <a:r>
              <a:rPr lang="en-US" dirty="0"/>
              <a:t>Objects with clearly defined states</a:t>
            </a:r>
          </a:p>
        </p:txBody>
      </p:sp>
    </p:spTree>
    <p:extLst>
      <p:ext uri="{BB962C8B-B14F-4D97-AF65-F5344CB8AC3E}">
        <p14:creationId xmlns:p14="http://schemas.microsoft.com/office/powerpoint/2010/main" val="1611934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ABB4-8524-0853-4740-30821485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F375-8058-DA79-18E1-109CD3BE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State: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1F115-B44F-DD09-AFCD-23B5E709B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62CB6-3292-47F8-B903-A33D22C40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B4C54-19D7-98BF-2256-ED898FB77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Context: mobile device notification handling</a:t>
            </a:r>
          </a:p>
          <a:p>
            <a:r>
              <a:rPr lang="en-US" dirty="0"/>
              <a:t>Device behavior depends on its current mode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states:</a:t>
            </a:r>
          </a:p>
          <a:p>
            <a:r>
              <a:rPr lang="en-US" dirty="0"/>
              <a:t>Normal, Work, Sleep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structure:</a:t>
            </a:r>
          </a:p>
          <a:p>
            <a:r>
              <a:rPr lang="en-US" dirty="0" err="1"/>
              <a:t>MobileDevice</a:t>
            </a:r>
            <a:r>
              <a:rPr lang="en-US" dirty="0"/>
              <a:t> delegates behavior to a </a:t>
            </a:r>
            <a:r>
              <a:rPr lang="en-US" dirty="0" err="1"/>
              <a:t>MobileState</a:t>
            </a:r>
            <a:endParaRPr lang="en-US" dirty="0"/>
          </a:p>
          <a:p>
            <a:r>
              <a:rPr lang="en-US" dirty="0"/>
              <a:t>State objects encapsulate mode-specific behavior</a:t>
            </a:r>
          </a:p>
        </p:txBody>
      </p:sp>
    </p:spTree>
    <p:extLst>
      <p:ext uri="{BB962C8B-B14F-4D97-AF65-F5344CB8AC3E}">
        <p14:creationId xmlns:p14="http://schemas.microsoft.com/office/powerpoint/2010/main" val="3530482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0BD6C-F84B-36B9-8947-08B49D88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4D6C-52EE-3A88-5D21-9EE49915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0E972-6888-3400-7F40-8FED3E8A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DEE6B-9441-8AD5-6AD1-E3EEBCC2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741295-4F40-E04F-C8B9-4FBD0448D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949" y="2057400"/>
            <a:ext cx="10620102" cy="2743200"/>
          </a:xfrm>
        </p:spPr>
      </p:pic>
    </p:spTree>
    <p:extLst>
      <p:ext uri="{BB962C8B-B14F-4D97-AF65-F5344CB8AC3E}">
        <p14:creationId xmlns:p14="http://schemas.microsoft.com/office/powerpoint/2010/main" val="3602735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ACD7-6FA8-1770-952D-06CBB192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6A4B-C446-D76E-47B2-08A4CE01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State: Consequences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8F63A-4369-FD55-1B3E-9A048EE9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4AB43-011A-8340-1B83-D06A1A28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93D6-9DEA-6BA3-74EB-ADDCFD801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Simplifies context logic</a:t>
            </a:r>
          </a:p>
          <a:p>
            <a:r>
              <a:rPr lang="en-US" dirty="0"/>
              <a:t>Makes adding new states easy</a:t>
            </a:r>
          </a:p>
          <a:p>
            <a:r>
              <a:rPr lang="en-US" dirty="0"/>
              <a:t>Behavior scattered across multiple classes</a:t>
            </a:r>
          </a:p>
        </p:txBody>
      </p:sp>
    </p:spTree>
    <p:extLst>
      <p:ext uri="{BB962C8B-B14F-4D97-AF65-F5344CB8AC3E}">
        <p14:creationId xmlns:p14="http://schemas.microsoft.com/office/powerpoint/2010/main" val="3037025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FA70-6D64-D1A9-FC5D-CF3C7822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139D-B5E4-68A6-32ED-8EDCDD8D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7CBA8-53D2-9437-7DBC-BBDB23890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9CF69-6541-801E-7A04-9FF1A6790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4659A-024F-DBE5-9177-F929A2309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a one-to-many dependency</a:t>
            </a:r>
          </a:p>
          <a:p>
            <a:r>
              <a:rPr lang="en-US" dirty="0"/>
              <a:t>Observers automatically notified of changes</a:t>
            </a:r>
          </a:p>
          <a:p>
            <a:r>
              <a:rPr lang="en-US" dirty="0"/>
              <a:t>Subject unaware of concrete observers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 case:</a:t>
            </a:r>
          </a:p>
          <a:p>
            <a:r>
              <a:rPr lang="en-US" dirty="0"/>
              <a:t>Event notification and UI updates</a:t>
            </a:r>
          </a:p>
        </p:txBody>
      </p:sp>
    </p:spTree>
    <p:extLst>
      <p:ext uri="{BB962C8B-B14F-4D97-AF65-F5344CB8AC3E}">
        <p14:creationId xmlns:p14="http://schemas.microsoft.com/office/powerpoint/2010/main" val="171877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AF4B-1DC0-EA06-20A2-E3B801B4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B5DF-78D7-C581-78BE-7F872385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Observer: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68207-3C8E-5A7B-7C1A-05013BA3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EA61E-E735-B0B7-A17C-4BBA8375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6429A-2D67-D8F6-33F6-102D421BD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chat application receiving messages</a:t>
            </a:r>
          </a:p>
          <a:p>
            <a:r>
              <a:rPr lang="en-US" dirty="0"/>
              <a:t>Multiple UI components must react to updates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structure:</a:t>
            </a:r>
          </a:p>
          <a:p>
            <a:r>
              <a:rPr lang="en-US" dirty="0" err="1"/>
              <a:t>ChatApp</a:t>
            </a:r>
            <a:r>
              <a:rPr lang="en-US" dirty="0"/>
              <a:t> acts as subject</a:t>
            </a:r>
          </a:p>
          <a:p>
            <a:r>
              <a:rPr lang="en-US" dirty="0"/>
              <a:t>Widgets implement </a:t>
            </a:r>
            <a:r>
              <a:rPr lang="en-US" dirty="0" err="1"/>
              <a:t>ChatObserver</a:t>
            </a:r>
            <a:endParaRPr lang="en-US" dirty="0"/>
          </a:p>
          <a:p>
            <a:r>
              <a:rPr lang="en-US" dirty="0"/>
              <a:t>Observers are notified when a new message arrives</a:t>
            </a:r>
          </a:p>
        </p:txBody>
      </p:sp>
    </p:spTree>
    <p:extLst>
      <p:ext uri="{BB962C8B-B14F-4D97-AF65-F5344CB8AC3E}">
        <p14:creationId xmlns:p14="http://schemas.microsoft.com/office/powerpoint/2010/main" val="3363430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EB12A-7605-B120-9E6F-40051AEF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0DD5-4C66-8EBF-026C-70AD1721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C99FD-0A65-95F2-E332-BD30DD3A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AFFFF-D8E8-902D-C624-E9A578D3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31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45762B-BA52-CE54-DB10-2BDE89DB4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857" y="2294467"/>
            <a:ext cx="9226285" cy="2269066"/>
          </a:xfrm>
        </p:spPr>
      </p:pic>
    </p:spTree>
    <p:extLst>
      <p:ext uri="{BB962C8B-B14F-4D97-AF65-F5344CB8AC3E}">
        <p14:creationId xmlns:p14="http://schemas.microsoft.com/office/powerpoint/2010/main" val="2663175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74EA-2540-A4B4-0542-C4C4FD8C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2770-B061-FCD9-D7F9-4A334B3E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Observer: Consequences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52222-3714-0EA6-1004-1304416F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8ABA9-14EE-187E-3E27-B1BCC37C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A342D-EB6F-4A75-B030-60FF44ED8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Promotes loose coupling</a:t>
            </a:r>
          </a:p>
          <a:p>
            <a:r>
              <a:rPr lang="en-US" dirty="0"/>
              <a:t>Supports dynamic subscription</a:t>
            </a:r>
          </a:p>
          <a:p>
            <a:r>
              <a:rPr lang="en-US" dirty="0"/>
              <a:t>Notification order and performance may be issues</a:t>
            </a:r>
          </a:p>
        </p:txBody>
      </p:sp>
    </p:spTree>
    <p:extLst>
      <p:ext uri="{BB962C8B-B14F-4D97-AF65-F5344CB8AC3E}">
        <p14:creationId xmlns:p14="http://schemas.microsoft.com/office/powerpoint/2010/main" val="3662692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B5C1C-9D26-71D6-3AA4-6F079866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C8E7-C650-F91E-37E1-8FF6C46B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Patterns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F18A9-0B97-6C97-0008-505F8366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66F02-3DB8-F46D-A7AE-14FF00B7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6581C-A1F4-BEB2-D092-0DB3F130A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 challenges of concurrent execution</a:t>
            </a:r>
          </a:p>
          <a:p>
            <a:r>
              <a:rPr lang="en-US" dirty="0"/>
              <a:t>Abstract low-level threading mechanisms</a:t>
            </a:r>
          </a:p>
          <a:p>
            <a:r>
              <a:rPr lang="en-US" dirty="0"/>
              <a:t>Improve safety and performance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in this chapter:</a:t>
            </a:r>
          </a:p>
          <a:p>
            <a:r>
              <a:rPr lang="en-US" dirty="0"/>
              <a:t>Thread Pool</a:t>
            </a:r>
          </a:p>
        </p:txBody>
      </p:sp>
    </p:spTree>
    <p:extLst>
      <p:ext uri="{BB962C8B-B14F-4D97-AF65-F5344CB8AC3E}">
        <p14:creationId xmlns:p14="http://schemas.microsoft.com/office/powerpoint/2010/main" val="3481753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C73F-543C-AC87-A1F6-9D7877AA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C628-26B7-F6DD-ACC0-1E98A2D2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Pool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F9B38-9F4B-EA77-830A-2B52D514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10537-6DE5-A5AB-1970-FE6F6442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31D2F-A638-0704-D7EC-C44F58349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Reuses a fixed set of worker threads</a:t>
            </a:r>
          </a:p>
          <a:p>
            <a:r>
              <a:rPr lang="en-US" dirty="0"/>
              <a:t>Tasks submitted to a shared queue</a:t>
            </a:r>
          </a:p>
          <a:p>
            <a:r>
              <a:rPr lang="en-US" dirty="0"/>
              <a:t>Controls resource usage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Typical use case:</a:t>
            </a:r>
          </a:p>
          <a:p>
            <a:r>
              <a:rPr lang="en-US" dirty="0"/>
              <a:t>Systems with many short-lived tasks</a:t>
            </a:r>
          </a:p>
        </p:txBody>
      </p:sp>
    </p:spTree>
    <p:extLst>
      <p:ext uri="{BB962C8B-B14F-4D97-AF65-F5344CB8AC3E}">
        <p14:creationId xmlns:p14="http://schemas.microsoft.com/office/powerpoint/2010/main" val="3768630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FF21-6EBD-416A-8A46-454A4FC3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4CBA-C344-14ED-E51D-5C4F0D92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Pool: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65063-7F68-D1B3-5837-BE5B99C7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258F2-5A91-35CC-B62A-7091F406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6745E0-1EEA-0FAD-FF6D-5E09FBE24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system executing many computational tasks</a:t>
            </a:r>
          </a:p>
          <a:p>
            <a:r>
              <a:rPr lang="en-US" dirty="0"/>
              <a:t>Creating a thread per task is inefficient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Example </a:t>
            </a:r>
            <a:r>
              <a:rPr lang="en-US" dirty="0"/>
              <a:t>structure:</a:t>
            </a:r>
          </a:p>
          <a:p>
            <a:r>
              <a:rPr lang="en-US" dirty="0"/>
              <a:t>Tasks implement </a:t>
            </a:r>
            <a:r>
              <a:rPr lang="en-US" dirty="0" err="1"/>
              <a:t>ComputeTask</a:t>
            </a:r>
            <a:endParaRPr lang="en-US" dirty="0"/>
          </a:p>
          <a:p>
            <a:r>
              <a:rPr lang="en-US" dirty="0"/>
              <a:t>Tasks submitted to a shared queue</a:t>
            </a:r>
          </a:p>
          <a:p>
            <a:r>
              <a:rPr lang="en-US" dirty="0"/>
              <a:t>Worker threads reuse resources to execute tasks</a:t>
            </a:r>
          </a:p>
        </p:txBody>
      </p:sp>
    </p:spTree>
    <p:extLst>
      <p:ext uri="{BB962C8B-B14F-4D97-AF65-F5344CB8AC3E}">
        <p14:creationId xmlns:p14="http://schemas.microsoft.com/office/powerpoint/2010/main" val="161109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BF8E-97A5-26CB-29A4-CA8EB62F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33A8-DEE1-9C7E-BCE5-73CA2E00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Pool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F305C-310A-A8D7-A0A9-CC33864F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2783C-3505-B6F9-C4A0-3DB4A0B0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F86CA8-1F2F-C3B7-3431-92D862781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0832" y="1905000"/>
            <a:ext cx="6770336" cy="3048000"/>
          </a:xfrm>
        </p:spPr>
      </p:pic>
    </p:spTree>
    <p:extLst>
      <p:ext uri="{BB962C8B-B14F-4D97-AF65-F5344CB8AC3E}">
        <p14:creationId xmlns:p14="http://schemas.microsoft.com/office/powerpoint/2010/main" val="3586156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A226-4BD6-E822-1D97-62289699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2D2E-8A2A-BE0F-CA24-920A1CDF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Pool: Consequences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340A9-28D6-B4E8-0769-7E3CD15E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7461C-43AD-24B7-C845-7A811439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E307E-3933-0919-1840-DAFBF6FA3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Efficient resource utilization</a:t>
            </a:r>
          </a:p>
          <a:p>
            <a:r>
              <a:rPr lang="en-US" dirty="0"/>
              <a:t>Improved responsiveness under load</a:t>
            </a:r>
          </a:p>
          <a:p>
            <a:r>
              <a:rPr lang="en-US" dirty="0"/>
              <a:t>Requires careful sizing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658665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DEFB-BB59-ACB3-C4D8-8D777F18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CB94-8C4D-02B9-611B-415D337C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7DF6E-EE8E-083C-D3FC-B062AC209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11 -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8888E-4758-9C47-5A79-293BDCA8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F5B61-B7E5-A2BA-EA7B-BA64EE9E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patterns capture proven design knowledge</a:t>
            </a:r>
          </a:p>
          <a:p>
            <a:r>
              <a:rPr lang="en-US" dirty="0"/>
              <a:t>They complement architectural styles</a:t>
            </a:r>
          </a:p>
          <a:p>
            <a:r>
              <a:rPr lang="en-US" dirty="0"/>
              <a:t>Provide a shared vocabulary for designers</a:t>
            </a:r>
          </a:p>
          <a:p>
            <a:r>
              <a:rPr lang="en-US" dirty="0"/>
              <a:t>Operate at different levels of abstraction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Patterns support clarity, reuse, and evolution</a:t>
            </a:r>
          </a:p>
        </p:txBody>
      </p:sp>
    </p:spTree>
    <p:extLst>
      <p:ext uri="{BB962C8B-B14F-4D97-AF65-F5344CB8AC3E}">
        <p14:creationId xmlns:p14="http://schemas.microsoft.com/office/powerpoint/2010/main" val="42026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2798</Words>
  <Application>Microsoft Macintosh PowerPoint</Application>
  <PresentationFormat>Widescreen</PresentationFormat>
  <Paragraphs>296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 Theme</vt:lpstr>
      <vt:lpstr>Chapter 11: Design Patterns</vt:lpstr>
      <vt:lpstr>Introduction to Design Patterns</vt:lpstr>
      <vt:lpstr>What is a Design Pattern?</vt:lpstr>
      <vt:lpstr>Origins of Design Patterns</vt:lpstr>
      <vt:lpstr>Elements of a Design Pattern</vt:lpstr>
      <vt:lpstr>Classification of Design Patterns</vt:lpstr>
      <vt:lpstr>Creational Patterns</vt:lpstr>
      <vt:lpstr>Factory Method</vt:lpstr>
      <vt:lpstr>Factory Method: Example</vt:lpstr>
      <vt:lpstr>Factory Method</vt:lpstr>
      <vt:lpstr>Factory Method: Consequences</vt:lpstr>
      <vt:lpstr>Abstract Factory</vt:lpstr>
      <vt:lpstr>Abstract Factory: Example</vt:lpstr>
      <vt:lpstr>Abstract Factory</vt:lpstr>
      <vt:lpstr>Abstract Factory: Consequences</vt:lpstr>
      <vt:lpstr>Structural Patterns</vt:lpstr>
      <vt:lpstr>Adapter</vt:lpstr>
      <vt:lpstr>Adapter: Example</vt:lpstr>
      <vt:lpstr>Adapter</vt:lpstr>
      <vt:lpstr>Adapter: Consequences</vt:lpstr>
      <vt:lpstr>Decorator</vt:lpstr>
      <vt:lpstr>Decorator: Example</vt:lpstr>
      <vt:lpstr>Decorator</vt:lpstr>
      <vt:lpstr>Decorator: Consequences</vt:lpstr>
      <vt:lpstr>Behavioral Patterns</vt:lpstr>
      <vt:lpstr>State</vt:lpstr>
      <vt:lpstr>State: Example</vt:lpstr>
      <vt:lpstr>State</vt:lpstr>
      <vt:lpstr>State: Consequences</vt:lpstr>
      <vt:lpstr>Observer</vt:lpstr>
      <vt:lpstr>Observer: Example</vt:lpstr>
      <vt:lpstr>Observer</vt:lpstr>
      <vt:lpstr>Observer: Consequences</vt:lpstr>
      <vt:lpstr>Concurrency Patterns</vt:lpstr>
      <vt:lpstr>Thread Pool</vt:lpstr>
      <vt:lpstr>Thread Pool: Example</vt:lpstr>
      <vt:lpstr>Thread Pool</vt:lpstr>
      <vt:lpstr>Thread Pool: Consequences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Alessandro Margara</cp:lastModifiedBy>
  <cp:revision>117</cp:revision>
  <dcterms:created xsi:type="dcterms:W3CDTF">2025-05-15T11:20:47Z</dcterms:created>
  <dcterms:modified xsi:type="dcterms:W3CDTF">2025-12-17T17:31:22Z</dcterms:modified>
</cp:coreProperties>
</file>