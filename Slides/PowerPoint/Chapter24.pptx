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7" r:id="rId4"/>
    <p:sldId id="288" r:id="rId5"/>
    <p:sldId id="290" r:id="rId6"/>
    <p:sldId id="289" r:id="rId7"/>
    <p:sldId id="28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345"/>
    <p:restoredTop sz="94658"/>
  </p:normalViewPr>
  <p:slideViewPr>
    <p:cSldViewPr snapToGrid="0">
      <p:cViewPr varScale="1">
        <p:scale>
          <a:sx n="111" d="100"/>
          <a:sy n="111" d="100"/>
        </p:scale>
        <p:origin x="23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B64D338-9D73-A11E-33DA-E1B3EFEAE7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72F049-0FF7-59D4-3209-C5D316FC0E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BEDD6BA-03FA-2D94-3497-C46077CCC2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A6E1E32-715F-CBAD-0293-F674D0A736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F7A668-BFB4-36F1-9118-A39A3A6EEC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BBACB-CB64-2267-2803-E9BE8B83B9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AF5D44-6DD5-BCAB-7073-0ED2099135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3DD25BC-6E39-8BF3-5B08-425026ADC5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0355B17-E662-ED63-9E92-6E44148639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6C9577E-4409-0CEC-5A71-61B16E21C3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7BC2FA4-7BB1-5F21-7E84-58E0BF9AF8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24:</a:t>
            </a:r>
            <a:br>
              <a:rPr lang="en-US" dirty="0"/>
            </a:br>
            <a:r>
              <a:rPr lang="en-US" dirty="0"/>
              <a:t>Open Source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Chapter 24</a:t>
            </a:r>
          </a:p>
          <a:p>
            <a:r>
              <a:rPr lang="en-GB" b="1" dirty="0"/>
              <a:t>Focus</a:t>
            </a:r>
            <a:r>
              <a:rPr lang="en-GB" dirty="0"/>
              <a:t>: using open-source components,</a:t>
            </a:r>
          </a:p>
          <a:p>
            <a:pPr marL="0" indent="0">
              <a:buNone/>
            </a:pPr>
            <a:r>
              <a:rPr lang="en-GB" dirty="0"/>
              <a:t>Making software as open-source, choosing </a:t>
            </a:r>
          </a:p>
          <a:p>
            <a:pPr marL="0" indent="0">
              <a:buNone/>
            </a:pPr>
            <a:r>
              <a:rPr lang="en-GB"/>
              <a:t>Appropriate licensing;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A63C-1FBB-4436-9082-3A2E9D51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46A0E-47BD-D559-F37B-1AAC951E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663F6-D297-735B-CDC9-15944492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817" y="1803177"/>
            <a:ext cx="2997872" cy="426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F063-8A8B-C911-1858-1015BD86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DF6E-5760-8C5A-2A13-B804E3DC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software solutions source code must be open to its users and to other developers;</a:t>
            </a:r>
          </a:p>
          <a:p>
            <a:endParaRPr lang="en-US" dirty="0"/>
          </a:p>
          <a:p>
            <a:r>
              <a:rPr lang="en-US" dirty="0"/>
              <a:t>Open Source software is so widespread today that virtually all modern complex systems incorporate at least one such element;</a:t>
            </a:r>
          </a:p>
          <a:p>
            <a:endParaRPr lang="en-US" dirty="0"/>
          </a:p>
          <a:p>
            <a:r>
              <a:rPr lang="en-US" dirty="0"/>
              <a:t>The paradigm shift reflects the licensing of proprietary software: Open Source  </a:t>
            </a:r>
            <a:r>
              <a:rPr lang="en-US" dirty="0">
                <a:sym typeface="Wingdings" pitchFamily="2" charset="2"/>
              </a:rPr>
              <a:t> non-proprietary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A new cultural shift was implied;</a:t>
            </a:r>
          </a:p>
          <a:p>
            <a:pPr lvl="1"/>
            <a:r>
              <a:rPr lang="en-US" dirty="0"/>
              <a:t>The shift evolves even in present-day open source;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E06F8-CE37-7C5E-6F02-9161B680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E1E0-E22C-2FA4-0F61-2A209266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8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D1C0A-7166-91C1-171E-2D9528ECA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Notable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2A929-DC2C-AA04-CFB0-E0299ECA4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u="sng" dirty="0"/>
              <a:t>Linux</a:t>
            </a:r>
            <a:r>
              <a:rPr lang="en-GB" dirty="0"/>
              <a:t>: Widely recognized as one of the most successful Open Source projects, Linux is an operating system that powers many of the world’s servers.</a:t>
            </a:r>
          </a:p>
          <a:p>
            <a:r>
              <a:rPr lang="en-GB" b="1" u="sng" dirty="0"/>
              <a:t>Mozilla Firefox</a:t>
            </a:r>
            <a:r>
              <a:rPr lang="en-GB" dirty="0"/>
              <a:t>: A prominent example of an Open Source web browser, Mozilla Firefox champions user privacy and choice in a landscape increasingly dominated by a handful of companies.</a:t>
            </a:r>
          </a:p>
          <a:p>
            <a:r>
              <a:rPr lang="en-GB" b="1" u="sng" dirty="0"/>
              <a:t>Python</a:t>
            </a:r>
            <a:r>
              <a:rPr lang="en-GB" dirty="0"/>
              <a:t>: Python is a popular programming language known for its simplicity and readability.</a:t>
            </a:r>
            <a:endParaRPr lang="en-I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149CE-BECC-AE49-8D9D-0C099E4B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0947B-9ABD-77D6-B7BE-F887255C4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59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5740-3BF2-F777-9E3C-13BD5BD6B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01" y="0"/>
            <a:ext cx="10515600" cy="1325563"/>
          </a:xfrm>
        </p:spPr>
        <p:txBody>
          <a:bodyPr/>
          <a:lstStyle/>
          <a:p>
            <a:r>
              <a:rPr lang="en-IT" dirty="0"/>
              <a:t>Licensing*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96CB1-3787-4E2C-0637-26949A581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19" y="1444399"/>
            <a:ext cx="2011326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</a:t>
            </a:r>
            <a:r>
              <a:rPr lang="en-IT" dirty="0"/>
              <a:t>hoosing the appropriate license reflects an explicit cultural and intellectual property choice;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F7C00-8AE5-E82C-DC40-E094C23FB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8D304-57A3-E28D-4806-B91E6E5DD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  <p:pic>
        <p:nvPicPr>
          <p:cNvPr id="2050" name="Picture 2" descr="How to choose an open source license">
            <a:extLst>
              <a:ext uri="{FF2B5EF4-FFF2-40B4-BE49-F238E27FC236}">
                <a16:creationId xmlns:a16="http://schemas.microsoft.com/office/drawing/2014/main" id="{2390AE9B-29D3-0B43-B3FB-C1DB9E16B3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95"/>
          <a:stretch>
            <a:fillRect/>
          </a:stretch>
        </p:blipFill>
        <p:spPr bwMode="auto">
          <a:xfrm>
            <a:off x="2722563" y="459014"/>
            <a:ext cx="9469437" cy="561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EA6C07-A666-A01A-8BD1-AAF823CB68A3}"/>
              </a:ext>
            </a:extLst>
          </p:cNvPr>
          <p:cNvSpPr txBox="1"/>
          <p:nvPr/>
        </p:nvSpPr>
        <p:spPr>
          <a:xfrm>
            <a:off x="0" y="5795737"/>
            <a:ext cx="24571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* </a:t>
            </a:r>
            <a:r>
              <a:rPr lang="it-IT" sz="1000" dirty="0" err="1"/>
              <a:t>Licenses</a:t>
            </a:r>
            <a:r>
              <a:rPr lang="it-IT" sz="1000" dirty="0"/>
              <a:t> </a:t>
            </a:r>
            <a:r>
              <a:rPr lang="it-IT" sz="1000" dirty="0" err="1"/>
              <a:t>overview</a:t>
            </a:r>
            <a:r>
              <a:rPr lang="it-IT" sz="1000" dirty="0"/>
              <a:t> </a:t>
            </a:r>
            <a:r>
              <a:rPr lang="en-IT" sz="1000" dirty="0"/>
              <a:t> courtesy of </a:t>
            </a:r>
            <a:r>
              <a:rPr lang="en-GB" sz="1000" dirty="0" err="1"/>
              <a:t>keepgrowing.in</a:t>
            </a:r>
            <a:r>
              <a:rPr lang="en-GB" sz="1000" dirty="0"/>
              <a:t>/taking-care/how-to-choose-an-open-source-license</a:t>
            </a:r>
            <a:endParaRPr lang="en-IT" sz="1000" dirty="0"/>
          </a:p>
        </p:txBody>
      </p:sp>
    </p:spTree>
    <p:extLst>
      <p:ext uri="{BB962C8B-B14F-4D97-AF65-F5344CB8AC3E}">
        <p14:creationId xmlns:p14="http://schemas.microsoft.com/office/powerpoint/2010/main" val="3761082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A19CC-ABB8-D77E-6887-DC08FB6DB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Licensing, some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03846-4B5A-DCCA-8D32-85D1B2A5A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0BE59-0012-28EB-8B14-3B32CD4CF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0C385-474B-8F68-AF6E-57A03C8AD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E1C8C4-2775-4CDC-2615-0767A8B43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77" y="1415257"/>
            <a:ext cx="6832600" cy="485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005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9EC6-0C40-0354-F9E8-6879A8FC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911C-1D4C-BD13-BCBB-41A01B7A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3D28F1-6F72-DE01-DBA8-BE4845530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source is a paradigm shift in software development; include open components, contribute to their well-being (for free);</a:t>
            </a:r>
          </a:p>
          <a:p>
            <a:endParaRPr lang="en-US" dirty="0"/>
          </a:p>
          <a:p>
            <a:r>
              <a:rPr lang="en-US" dirty="0"/>
              <a:t>Different licenses reflect different cultural choices;</a:t>
            </a:r>
          </a:p>
          <a:p>
            <a:endParaRPr lang="en-US" dirty="0"/>
          </a:p>
          <a:p>
            <a:r>
              <a:rPr lang="en-US" dirty="0"/>
              <a:t>Licensing is complex and needs to reflect business plans, e.g., </a:t>
            </a:r>
            <a:r>
              <a:rPr lang="en-US" i="1" dirty="0"/>
              <a:t>dual-licensing</a:t>
            </a:r>
            <a:r>
              <a:rPr lang="en-US" dirty="0"/>
              <a:t> options destined to different business segments;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685FD-40EB-1C8B-0BAB-C3D01A1D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7699625" cy="365125"/>
          </a:xfrm>
        </p:spPr>
        <p:txBody>
          <a:bodyPr/>
          <a:lstStyle/>
          <a:p>
            <a:r>
              <a:rPr lang="it-IT"/>
              <a:t>Chapter 24 -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5B82C-5867-96A9-5D54-326A9A4B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5802" y="6356350"/>
            <a:ext cx="1017998" cy="365125"/>
          </a:xfrm>
        </p:spPr>
        <p:txBody>
          <a:bodyPr/>
          <a:lstStyle/>
          <a:p>
            <a:fld id="{D204BADD-F420-F54C-BEF5-604E8EEED02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66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584</Words>
  <Application>Microsoft Macintosh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Chapter 24: Open Source</vt:lpstr>
      <vt:lpstr>Open Source</vt:lpstr>
      <vt:lpstr>Open Source Explained</vt:lpstr>
      <vt:lpstr>Notable Products</vt:lpstr>
      <vt:lpstr>Licensing*</vt:lpstr>
      <vt:lpstr>Licensing, some examples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Damian Andrew Tamburri</cp:lastModifiedBy>
  <cp:revision>169</cp:revision>
  <dcterms:created xsi:type="dcterms:W3CDTF">2025-05-15T11:20:47Z</dcterms:created>
  <dcterms:modified xsi:type="dcterms:W3CDTF">2026-01-27T13:21:34Z</dcterms:modified>
</cp:coreProperties>
</file>