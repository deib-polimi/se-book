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9" r:id="rId3"/>
    <p:sldId id="329" r:id="rId4"/>
    <p:sldId id="330" r:id="rId5"/>
    <p:sldId id="331" r:id="rId6"/>
    <p:sldId id="332" r:id="rId7"/>
    <p:sldId id="333" r:id="rId8"/>
    <p:sldId id="336" r:id="rId9"/>
    <p:sldId id="334" r:id="rId10"/>
    <p:sldId id="335" r:id="rId11"/>
    <p:sldId id="337" r:id="rId12"/>
    <p:sldId id="338" r:id="rId13"/>
    <p:sldId id="339" r:id="rId14"/>
    <p:sldId id="340" r:id="rId15"/>
    <p:sldId id="341" r:id="rId16"/>
    <p:sldId id="268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4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3"/>
    <p:restoredTop sz="94611"/>
  </p:normalViewPr>
  <p:slideViewPr>
    <p:cSldViewPr snapToGrid="0">
      <p:cViewPr varScale="1">
        <p:scale>
          <a:sx n="138" d="100"/>
          <a:sy n="138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Chapter 17: </a:t>
            </a:r>
            <a:br>
              <a:rPr lang="en-GB" dirty="0"/>
            </a:br>
            <a:r>
              <a:rPr lang="en-GB" dirty="0"/>
              <a:t>Software Testing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02517" cy="4351338"/>
          </a:xfrm>
        </p:spPr>
        <p:txBody>
          <a:bodyPr/>
          <a:lstStyle/>
          <a:p>
            <a:r>
              <a:rPr lang="en-GB" b="1" dirty="0"/>
              <a:t>Chapter 17</a:t>
            </a:r>
          </a:p>
          <a:p>
            <a:r>
              <a:rPr lang="en-GB" b="1" dirty="0"/>
              <a:t>Focus</a:t>
            </a:r>
            <a:r>
              <a:rPr lang="en-GB" dirty="0"/>
              <a:t>: theory of testing, testing workflow, test design, testing levels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EDCD-2B6F-2A32-8B43-6B5F97AA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9B23-A429-0E9F-1868-283F2D2F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89E92-4550-381F-29AE-D48C85DC0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Explain the </a:t>
            </a:r>
            <a:r>
              <a:rPr lang="en-GB" b="1" dirty="0"/>
              <a:t>goals</a:t>
            </a:r>
            <a:r>
              <a:rPr lang="en-GB" dirty="0"/>
              <a:t> and </a:t>
            </a:r>
            <a:r>
              <a:rPr lang="en-GB" b="1" dirty="0"/>
              <a:t>role</a:t>
            </a:r>
            <a:r>
              <a:rPr lang="en-GB" dirty="0"/>
              <a:t> of software testing</a:t>
            </a:r>
          </a:p>
          <a:p>
            <a:r>
              <a:rPr lang="en-GB" dirty="0"/>
              <a:t>Understand basic </a:t>
            </a:r>
            <a:r>
              <a:rPr lang="en-GB" b="1" dirty="0"/>
              <a:t>testing terminology</a:t>
            </a:r>
          </a:p>
          <a:p>
            <a:r>
              <a:rPr lang="en-GB" dirty="0"/>
              <a:t>Reason about the </a:t>
            </a:r>
            <a:r>
              <a:rPr lang="en-GB" b="1" dirty="0"/>
              <a:t>theoretical limits </a:t>
            </a:r>
            <a:r>
              <a:rPr lang="en-GB" dirty="0"/>
              <a:t>of testing</a:t>
            </a:r>
          </a:p>
          <a:p>
            <a:r>
              <a:rPr lang="en-GB" dirty="0"/>
              <a:t>Describe the </a:t>
            </a:r>
            <a:r>
              <a:rPr lang="en-GB" b="1" dirty="0"/>
              <a:t>testing workflow</a:t>
            </a:r>
          </a:p>
          <a:p>
            <a:r>
              <a:rPr lang="en-GB" dirty="0"/>
              <a:t>Distinguish </a:t>
            </a:r>
            <a:r>
              <a:rPr lang="en-GB" b="1" dirty="0"/>
              <a:t>black-box vs white-box</a:t>
            </a:r>
            <a:r>
              <a:rPr lang="en-GB" dirty="0"/>
              <a:t> testing</a:t>
            </a:r>
          </a:p>
          <a:p>
            <a:r>
              <a:rPr lang="en-GB" dirty="0"/>
              <a:t>Explain </a:t>
            </a:r>
            <a:r>
              <a:rPr lang="en-GB" b="1" dirty="0"/>
              <a:t>levels of testing </a:t>
            </a:r>
            <a:r>
              <a:rPr lang="en-GB" dirty="0"/>
              <a:t>and their purposes</a:t>
            </a:r>
            <a:endParaRPr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0241-99B9-0F2C-E412-1ADCB9A9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6B19E-55DD-1267-D0BB-EDF0F8D6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0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1ACC-78BD-4D11-4FA2-CC31BB5C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53F8-856D-C6D5-45C2-A4066B97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Testing?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167D-9166-7947-66B0-0AA410E70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Dynamic verification technique</a:t>
            </a:r>
          </a:p>
          <a:p>
            <a:r>
              <a:rPr lang="en-GB" dirty="0"/>
              <a:t>Executes software to observe </a:t>
            </a:r>
            <a:r>
              <a:rPr lang="en-GB" dirty="0" err="1"/>
              <a:t>behavior</a:t>
            </a:r>
            <a:endParaRPr lang="en-GB" dirty="0"/>
          </a:p>
          <a:p>
            <a:r>
              <a:rPr lang="en-GB" b="1" dirty="0"/>
              <a:t>Goal</a:t>
            </a:r>
            <a:r>
              <a:rPr lang="en-GB" dirty="0"/>
              <a:t>: reveal failures, not prove correctness</a:t>
            </a:r>
          </a:p>
          <a:p>
            <a:endParaRPr lang="en-GB" dirty="0"/>
          </a:p>
          <a:p>
            <a:r>
              <a:rPr lang="en-GB" i="1" dirty="0"/>
              <a:t>“Program testing can be used to show the presence of bugs, but never to show their absence!” </a:t>
            </a:r>
            <a:r>
              <a:rPr lang="en-GB" dirty="0"/>
              <a:t>(Dahl et al. 1972)</a:t>
            </a:r>
            <a:endParaRPr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D702-4B5A-0DB2-8C30-B9F7B86C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FB13B-7CED-60F0-AF1A-756DF3AB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3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2BFF-1BBC-E02C-FD05-F18B6307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3A0B-20D1-C5B5-1575-CA5BEC37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Testing Matters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16A8-0E02-F9E7-A391-6C1EA15F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Software is complex and error-prone</a:t>
            </a:r>
          </a:p>
          <a:p>
            <a:r>
              <a:rPr lang="en-GB" dirty="0"/>
              <a:t>Testing provides:</a:t>
            </a:r>
          </a:p>
          <a:p>
            <a:pPr lvl="1"/>
            <a:r>
              <a:rPr lang="en-GB" dirty="0"/>
              <a:t>Empirical evidence of correctness</a:t>
            </a:r>
          </a:p>
          <a:p>
            <a:pPr lvl="1"/>
            <a:r>
              <a:rPr lang="en-GB" dirty="0"/>
              <a:t>Confidence for deployment</a:t>
            </a:r>
          </a:p>
          <a:p>
            <a:pPr lvl="1"/>
            <a:r>
              <a:rPr lang="en-GB" dirty="0"/>
              <a:t>Risk reduction</a:t>
            </a:r>
          </a:p>
          <a:p>
            <a:r>
              <a:rPr lang="en-GB" dirty="0"/>
              <a:t>Testing </a:t>
            </a:r>
            <a:r>
              <a:rPr lang="en-GB" b="1" dirty="0"/>
              <a:t>complements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Static analysis (e.g., reviews, inspections, data-flow analysis, …)</a:t>
            </a:r>
          </a:p>
          <a:p>
            <a:pPr lvl="1"/>
            <a:r>
              <a:rPr lang="en-GB" dirty="0"/>
              <a:t>Other forms of verification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60BC-9D8D-E2F2-5A85-CBB5163F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45C86-2ADD-F45D-E26E-A2D84E2C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1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B52A-F854-B77C-AD8A-FFFAD78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32352-FA9D-C208-8B78-C5268C9C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CF93-1EF9-F4C9-60E9-ECBCB4C65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Primary</a:t>
            </a:r>
            <a:r>
              <a:rPr lang="en-GB" dirty="0"/>
              <a:t> goals:</a:t>
            </a:r>
          </a:p>
          <a:p>
            <a:pPr lvl="1"/>
            <a:r>
              <a:rPr lang="en-GB" dirty="0"/>
              <a:t>Detect faults</a:t>
            </a:r>
          </a:p>
          <a:p>
            <a:pPr lvl="1"/>
            <a:r>
              <a:rPr lang="en-GB" dirty="0"/>
              <a:t>Reveal failures</a:t>
            </a:r>
          </a:p>
          <a:p>
            <a:pPr lvl="1"/>
            <a:r>
              <a:rPr lang="en-GB" dirty="0"/>
              <a:t>Assess quality attributes</a:t>
            </a:r>
          </a:p>
          <a:p>
            <a:r>
              <a:rPr lang="en-GB" b="1" dirty="0"/>
              <a:t>Secondary</a:t>
            </a:r>
            <a:r>
              <a:rPr lang="en-GB" dirty="0"/>
              <a:t> goals:</a:t>
            </a:r>
          </a:p>
          <a:p>
            <a:pPr lvl="1"/>
            <a:r>
              <a:rPr lang="en-GB" dirty="0"/>
              <a:t>Build confidence</a:t>
            </a:r>
          </a:p>
          <a:p>
            <a:pPr lvl="1"/>
            <a:r>
              <a:rPr lang="en-GB" dirty="0"/>
              <a:t>Support decision-making</a:t>
            </a:r>
          </a:p>
          <a:p>
            <a:pPr lvl="1"/>
            <a:r>
              <a:rPr lang="en-GB" dirty="0"/>
              <a:t>Provide feedback to developers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276D6-3539-3255-0D3F-8FA1EB99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F5DB5-0CD1-E690-D85D-DEB01C49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4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6169-56A8-755A-820E-AE3FA6EC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F461-56E6-1B20-CA87-64F7BB96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Faults, Errors, Failures (IEEE standard)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DD00F-043B-3A66-FE7D-71E70D59A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Error</a:t>
            </a:r>
            <a:r>
              <a:rPr lang="en-GB" dirty="0"/>
              <a:t>: (human) action that introduces a flaw into a program. Example: a mistake made while writing or modifying code.</a:t>
            </a:r>
          </a:p>
          <a:p>
            <a:r>
              <a:rPr lang="en-GB" b="1" dirty="0"/>
              <a:t>Defect (bug)</a:t>
            </a:r>
            <a:r>
              <a:rPr lang="en-GB" dirty="0"/>
              <a:t>: flaw in a program, typically introduced by an error. Example: procedure that is expected to return only positive values but occasionally returns a negative value due to a logic flaw.</a:t>
            </a:r>
          </a:p>
          <a:p>
            <a:r>
              <a:rPr lang="en-GB" b="1" dirty="0"/>
              <a:t>Fault</a:t>
            </a:r>
            <a:r>
              <a:rPr lang="en-GB" dirty="0"/>
              <a:t>: manifestation of an error, encountered during software execution. It can lead to incorrect </a:t>
            </a:r>
            <a:r>
              <a:rPr lang="en-GB" dirty="0" err="1"/>
              <a:t>behavior</a:t>
            </a:r>
            <a:r>
              <a:rPr lang="en-GB" dirty="0"/>
              <a:t> (failure).</a:t>
            </a:r>
          </a:p>
          <a:p>
            <a:r>
              <a:rPr lang="en-GB" b="1" dirty="0"/>
              <a:t>Failure</a:t>
            </a:r>
            <a:r>
              <a:rPr lang="en-GB" dirty="0"/>
              <a:t>: observable deviation of the program from its intended </a:t>
            </a:r>
            <a:r>
              <a:rPr lang="en-GB" dirty="0" err="1"/>
              <a:t>behavior</a:t>
            </a:r>
            <a:r>
              <a:rPr lang="en-GB" dirty="0"/>
              <a:t>—that is, the software does not perform a required procedure or fails to meet specified requirements.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B3D52-7891-B452-8265-F00C7885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F7DA6-1BC4-E05F-48FA-70F6A7FC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76B2-681A-587A-75C1-7EC39232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4A4DF-BF54-35B7-21A6-895209A0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View of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21120-65AD-EFE0-2AFC-BF069A7F1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Input selection, Execution, Observation, Verdict —based on a given </a:t>
            </a:r>
            <a:r>
              <a:rPr lang="en-GB" b="1" dirty="0"/>
              <a:t>Oracle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8F32F-75E2-E370-C262-3C9DCCF0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29EBA-6544-B705-79FC-01B28087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891BE-287F-FBF0-BA7F-33BE0BF9E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295" y="3114551"/>
            <a:ext cx="6371410" cy="177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39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04F6D-7118-B2E6-76F4-BF8D51E6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C208-5F83-81D3-9C72-E718922C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FDE3-71D1-0D03-4D76-C40032918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exhaustive testing is impossible:</a:t>
            </a:r>
          </a:p>
          <a:p>
            <a:pPr lvl="1"/>
            <a:r>
              <a:rPr lang="en-GB" dirty="0"/>
              <a:t>Infinite input domains</a:t>
            </a:r>
          </a:p>
          <a:p>
            <a:pPr lvl="1"/>
            <a:r>
              <a:rPr lang="en-GB" dirty="0"/>
              <a:t>Path explosion</a:t>
            </a:r>
          </a:p>
          <a:p>
            <a:pPr lvl="1"/>
            <a:r>
              <a:rPr lang="en-GB" dirty="0"/>
              <a:t>Undecidability </a:t>
            </a:r>
          </a:p>
          <a:p>
            <a:r>
              <a:rPr lang="en-GB" dirty="0"/>
              <a:t>Implication:</a:t>
            </a:r>
          </a:p>
          <a:p>
            <a:pPr lvl="1"/>
            <a:r>
              <a:rPr lang="en-GB" dirty="0"/>
              <a:t>Testing is </a:t>
            </a:r>
            <a:r>
              <a:rPr lang="en-GB" b="1" dirty="0"/>
              <a:t>selective and heuristic</a:t>
            </a:r>
          </a:p>
          <a:p>
            <a:pPr lvl="1"/>
            <a:r>
              <a:rPr lang="en-GB" dirty="0"/>
              <a:t>Test adequacy ≠ correctness proof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634EB-836D-4B8A-AD6B-0BBEE05B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1C537-9F76-F74F-8F4A-0723D771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4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F92D-E01B-CBE3-5561-FACD2D4C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A7F5-01F0-A5EE-68F6-54233B43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as Sampling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0C04-C956-89E0-0C3A-441956BF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Testing samples from:</a:t>
            </a:r>
          </a:p>
          <a:p>
            <a:pPr lvl="1"/>
            <a:r>
              <a:rPr lang="en-GB" dirty="0"/>
              <a:t>Input space</a:t>
            </a:r>
          </a:p>
          <a:p>
            <a:pPr lvl="1"/>
            <a:r>
              <a:rPr lang="en-GB" dirty="0"/>
              <a:t>Execution paths</a:t>
            </a:r>
          </a:p>
          <a:p>
            <a:pPr lvl="1"/>
            <a:r>
              <a:rPr lang="en-GB" dirty="0"/>
              <a:t>Environmental conditions</a:t>
            </a:r>
          </a:p>
          <a:p>
            <a:r>
              <a:rPr lang="en-GB" dirty="0"/>
              <a:t>Key </a:t>
            </a:r>
            <a:r>
              <a:rPr lang="en-GB" b="1" dirty="0"/>
              <a:t>challenge</a:t>
            </a:r>
            <a:r>
              <a:rPr lang="en-GB" dirty="0"/>
              <a:t>:</a:t>
            </a:r>
          </a:p>
          <a:p>
            <a:pPr lvl="1"/>
            <a:r>
              <a:rPr lang="en-GB" i="1" dirty="0"/>
              <a:t>How do we choose representative and effective tests</a:t>
            </a:r>
            <a:r>
              <a:rPr lang="en-GB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24A37-3533-EC7F-A656-119B00C6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19F7B-8043-7C0B-472B-015C12D3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52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45DF-0A71-4DD5-F69B-387AAD31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E0B4-52E0-310F-0877-55724B25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B1D03-2657-7BAC-A491-13249A40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Also called </a:t>
            </a:r>
            <a:r>
              <a:rPr lang="en-GB" b="1" dirty="0"/>
              <a:t>structural</a:t>
            </a:r>
            <a:r>
              <a:rPr lang="en-GB" dirty="0"/>
              <a:t> testing:</a:t>
            </a:r>
          </a:p>
          <a:p>
            <a:pPr lvl="1"/>
            <a:r>
              <a:rPr lang="en-GB" dirty="0"/>
              <a:t>Uses knowledge of internal structure</a:t>
            </a:r>
          </a:p>
          <a:p>
            <a:pPr lvl="1"/>
            <a:r>
              <a:rPr lang="en-GB" dirty="0"/>
              <a:t>Based on: control-flow, data-flow</a:t>
            </a:r>
          </a:p>
          <a:p>
            <a:r>
              <a:rPr lang="en-GB" b="1" dirty="0"/>
              <a:t>Selection criteria</a:t>
            </a:r>
            <a:r>
              <a:rPr lang="en-GB" dirty="0"/>
              <a:t> based on:</a:t>
            </a:r>
          </a:p>
          <a:p>
            <a:pPr lvl="1"/>
            <a:r>
              <a:rPr lang="en-GB" dirty="0"/>
              <a:t>Statement coverage</a:t>
            </a:r>
          </a:p>
          <a:p>
            <a:pPr lvl="1"/>
            <a:r>
              <a:rPr lang="en-GB" dirty="0"/>
              <a:t>Branch coverage</a:t>
            </a:r>
          </a:p>
          <a:p>
            <a:pPr lvl="1"/>
            <a:r>
              <a:rPr lang="en-GB" dirty="0"/>
              <a:t>Path coverage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A0B6A-8BEA-9111-3EDA-6A039B25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471F-6AA2-67B3-B79F-BC9A71CE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4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924C-95F5-A7B2-FAE0-0E4E571A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2F0B-0535-23B1-36E9-39480A01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Testing: statement coverage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6EA9F-BD2B-ACEA-FE6B-996F2A563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964" y="1825625"/>
            <a:ext cx="7603835" cy="4351338"/>
          </a:xfrm>
        </p:spPr>
        <p:txBody>
          <a:bodyPr>
            <a:normAutofit/>
          </a:bodyPr>
          <a:lstStyle/>
          <a:p>
            <a:r>
              <a:rPr lang="en-GB" dirty="0"/>
              <a:t>Test Case</a:t>
            </a:r>
          </a:p>
          <a:p>
            <a:pPr lvl="1"/>
            <a:r>
              <a:rPr lang="en-GB" dirty="0"/>
              <a:t>Input: x = 5</a:t>
            </a:r>
          </a:p>
          <a:p>
            <a:r>
              <a:rPr lang="en-GB" dirty="0"/>
              <a:t>Coverage Achieved</a:t>
            </a:r>
          </a:p>
          <a:p>
            <a:pPr lvl="1"/>
            <a:r>
              <a:rPr lang="en-GB" dirty="0"/>
              <a:t>Executes:</a:t>
            </a:r>
          </a:p>
          <a:p>
            <a:pPr lvl="2"/>
            <a:r>
              <a:rPr lang="en-GB" dirty="0"/>
              <a:t>if (x &gt;= 0)</a:t>
            </a:r>
          </a:p>
          <a:p>
            <a:pPr lvl="2"/>
            <a:r>
              <a:rPr lang="en-GB" dirty="0"/>
              <a:t>return x;</a:t>
            </a:r>
          </a:p>
          <a:p>
            <a:r>
              <a:rPr lang="en-GB" b="1" dirty="0"/>
              <a:t>Statement coverage</a:t>
            </a:r>
            <a:r>
              <a:rPr lang="en-GB" dirty="0"/>
              <a:t> achieved</a:t>
            </a:r>
          </a:p>
          <a:p>
            <a:r>
              <a:rPr lang="en-GB" dirty="0"/>
              <a:t>The else branch is never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7B580-15D7-B72B-2683-ABF359B2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C6E8C-D051-2D3A-157A-1E756360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19D5D-C455-9B7B-0F87-BEB09D3E2C4A}"/>
              </a:ext>
            </a:extLst>
          </p:cNvPr>
          <p:cNvSpPr txBox="1"/>
          <p:nvPr/>
        </p:nvSpPr>
        <p:spPr>
          <a:xfrm>
            <a:off x="1052946" y="2332881"/>
            <a:ext cx="23645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int</a:t>
            </a:r>
            <a:r>
              <a:rPr lang="en-IT" sz="1400" dirty="0">
                <a:latin typeface="Monaco" pitchFamily="2" charset="77"/>
              </a:rPr>
              <a:t> abs(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int</a:t>
            </a:r>
            <a:r>
              <a:rPr lang="en-IT" sz="1400" dirty="0">
                <a:latin typeface="Monaco" pitchFamily="2" charset="77"/>
              </a:rPr>
              <a:t> x) {</a:t>
            </a:r>
          </a:p>
          <a:p>
            <a:r>
              <a:rPr lang="en-IT" sz="1400" dirty="0">
                <a:latin typeface="Monaco" pitchFamily="2" charset="77"/>
              </a:rPr>
              <a:t>    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if</a:t>
            </a:r>
            <a:r>
              <a:rPr lang="en-IT" sz="1400" dirty="0">
                <a:latin typeface="Monaco" pitchFamily="2" charset="77"/>
              </a:rPr>
              <a:t> (x &gt;= 0)</a:t>
            </a:r>
          </a:p>
          <a:p>
            <a:r>
              <a:rPr lang="en-IT" sz="1400" dirty="0">
                <a:latin typeface="Monaco" pitchFamily="2" charset="77"/>
              </a:rPr>
              <a:t>        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return</a:t>
            </a:r>
            <a:r>
              <a:rPr lang="en-IT" sz="1400" dirty="0">
                <a:latin typeface="Monaco" pitchFamily="2" charset="77"/>
              </a:rPr>
              <a:t> x;</a:t>
            </a:r>
          </a:p>
          <a:p>
            <a:r>
              <a:rPr lang="en-IT" sz="1400" dirty="0">
                <a:latin typeface="Monaco" pitchFamily="2" charset="77"/>
              </a:rPr>
              <a:t>    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else</a:t>
            </a:r>
          </a:p>
          <a:p>
            <a:r>
              <a:rPr lang="en-IT" sz="1400" dirty="0">
                <a:latin typeface="Monaco" pitchFamily="2" charset="77"/>
              </a:rPr>
              <a:t>        return -x;</a:t>
            </a:r>
          </a:p>
          <a:p>
            <a:r>
              <a:rPr lang="en-IT" sz="1400" dirty="0">
                <a:latin typeface="Monaco" pitchFamily="2" charset="77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79E7E-3CA6-0913-09AA-F9CC2B140757}"/>
              </a:ext>
            </a:extLst>
          </p:cNvPr>
          <p:cNvSpPr txBox="1"/>
          <p:nvPr/>
        </p:nvSpPr>
        <p:spPr>
          <a:xfrm>
            <a:off x="1126836" y="1784162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 code example</a:t>
            </a:r>
          </a:p>
        </p:txBody>
      </p:sp>
    </p:spTree>
    <p:extLst>
      <p:ext uri="{BB962C8B-B14F-4D97-AF65-F5344CB8AC3E}">
        <p14:creationId xmlns:p14="http://schemas.microsoft.com/office/powerpoint/2010/main" val="3806181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A5F49-F661-1656-B437-69E9BEC9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87D2-8566-C556-F0FE-1491B8FD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Testing: branch coverage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98F40-BBAD-FD4B-A49C-E1B31D978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964" y="1825625"/>
            <a:ext cx="7603835" cy="4351338"/>
          </a:xfrm>
        </p:spPr>
        <p:txBody>
          <a:bodyPr>
            <a:normAutofit/>
          </a:bodyPr>
          <a:lstStyle/>
          <a:p>
            <a:r>
              <a:rPr lang="en-GB" dirty="0"/>
              <a:t>Test Cases</a:t>
            </a:r>
          </a:p>
          <a:p>
            <a:pPr lvl="1"/>
            <a:r>
              <a:rPr lang="en-GB" dirty="0"/>
              <a:t>Input 1: x = 5  → if condition is true</a:t>
            </a:r>
          </a:p>
          <a:p>
            <a:pPr lvl="1"/>
            <a:r>
              <a:rPr lang="en-GB" dirty="0"/>
              <a:t>Input 2: x = -3 → if condition is false</a:t>
            </a:r>
          </a:p>
          <a:p>
            <a:r>
              <a:rPr lang="en-GB" dirty="0"/>
              <a:t>Coverage achieved</a:t>
            </a:r>
          </a:p>
          <a:p>
            <a:pPr lvl="1"/>
            <a:r>
              <a:rPr lang="en-GB" dirty="0"/>
              <a:t>Executes:</a:t>
            </a:r>
          </a:p>
          <a:p>
            <a:pPr lvl="2"/>
            <a:r>
              <a:rPr lang="en-GB" dirty="0"/>
              <a:t>Both outcomes of x &gt;= 0</a:t>
            </a:r>
          </a:p>
          <a:p>
            <a:pPr lvl="2"/>
            <a:r>
              <a:rPr lang="en-GB" dirty="0"/>
              <a:t>Both return statements</a:t>
            </a:r>
          </a:p>
          <a:p>
            <a:r>
              <a:rPr lang="en-GB" dirty="0"/>
              <a:t>Branch coverage achieved</a:t>
            </a:r>
          </a:p>
          <a:p>
            <a:r>
              <a:rPr lang="en-GB" dirty="0"/>
              <a:t>Statement coverage implicitly achieved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5B6EE-CD67-4D69-9DE0-5B7E4199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F53BB-F170-57B5-541A-942BD096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D2EFE-F7FF-10AA-FFA3-32CDFB7B2719}"/>
              </a:ext>
            </a:extLst>
          </p:cNvPr>
          <p:cNvSpPr txBox="1"/>
          <p:nvPr/>
        </p:nvSpPr>
        <p:spPr>
          <a:xfrm>
            <a:off x="1052946" y="2332881"/>
            <a:ext cx="23645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int</a:t>
            </a:r>
            <a:r>
              <a:rPr lang="en-IT" sz="1400" dirty="0">
                <a:latin typeface="Monaco" pitchFamily="2" charset="77"/>
              </a:rPr>
              <a:t> abs(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int</a:t>
            </a:r>
            <a:r>
              <a:rPr lang="en-IT" sz="1400" dirty="0">
                <a:latin typeface="Monaco" pitchFamily="2" charset="77"/>
              </a:rPr>
              <a:t> x) {</a:t>
            </a:r>
          </a:p>
          <a:p>
            <a:r>
              <a:rPr lang="en-IT" sz="1400" dirty="0">
                <a:latin typeface="Monaco" pitchFamily="2" charset="77"/>
              </a:rPr>
              <a:t>    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if</a:t>
            </a:r>
            <a:r>
              <a:rPr lang="en-IT" sz="1400" dirty="0">
                <a:latin typeface="Monaco" pitchFamily="2" charset="77"/>
              </a:rPr>
              <a:t> (x &gt;= 0)</a:t>
            </a:r>
          </a:p>
          <a:p>
            <a:r>
              <a:rPr lang="en-IT" sz="1400" dirty="0">
                <a:latin typeface="Monaco" pitchFamily="2" charset="77"/>
              </a:rPr>
              <a:t>        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return</a:t>
            </a:r>
            <a:r>
              <a:rPr lang="en-IT" sz="1400" dirty="0">
                <a:latin typeface="Monaco" pitchFamily="2" charset="77"/>
              </a:rPr>
              <a:t> x;</a:t>
            </a:r>
          </a:p>
          <a:p>
            <a:r>
              <a:rPr lang="en-IT" sz="1400" dirty="0">
                <a:latin typeface="Monaco" pitchFamily="2" charset="77"/>
              </a:rPr>
              <a:t>    </a:t>
            </a:r>
            <a:r>
              <a:rPr lang="en-IT" sz="1400" dirty="0">
                <a:solidFill>
                  <a:srgbClr val="7030A0"/>
                </a:solidFill>
                <a:latin typeface="Monaco" pitchFamily="2" charset="77"/>
              </a:rPr>
              <a:t>else</a:t>
            </a:r>
          </a:p>
          <a:p>
            <a:r>
              <a:rPr lang="en-IT" sz="1400" dirty="0">
                <a:latin typeface="Monaco" pitchFamily="2" charset="77"/>
              </a:rPr>
              <a:t>        return -x;</a:t>
            </a:r>
          </a:p>
          <a:p>
            <a:r>
              <a:rPr lang="en-IT" sz="1400" dirty="0">
                <a:latin typeface="Monaco" pitchFamily="2" charset="77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3AB3B-1A4B-1FA6-71ED-5F9389EF9626}"/>
              </a:ext>
            </a:extLst>
          </p:cNvPr>
          <p:cNvSpPr txBox="1"/>
          <p:nvPr/>
        </p:nvSpPr>
        <p:spPr>
          <a:xfrm>
            <a:off x="1126836" y="1784162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 code example</a:t>
            </a:r>
          </a:p>
        </p:txBody>
      </p:sp>
    </p:spTree>
    <p:extLst>
      <p:ext uri="{BB962C8B-B14F-4D97-AF65-F5344CB8AC3E}">
        <p14:creationId xmlns:p14="http://schemas.microsoft.com/office/powerpoint/2010/main" val="820206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E218C-7C16-7F34-5DC1-63212DFB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F867-AB62-E3BA-22D5-7783C7CE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Testing: path coverage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C8CA4-F5F7-7F9D-EAF9-2EA64DB8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964" y="1825625"/>
            <a:ext cx="7603835" cy="4351338"/>
          </a:xfrm>
        </p:spPr>
        <p:txBody>
          <a:bodyPr>
            <a:normAutofit/>
          </a:bodyPr>
          <a:lstStyle/>
          <a:p>
            <a:r>
              <a:rPr lang="en-GB" dirty="0"/>
              <a:t>Possible Execution Paths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x &gt; 0 ∧ y &gt;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x &gt; 0 ∧ y ≤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x ≤ 0</a:t>
            </a:r>
          </a:p>
          <a:p>
            <a:r>
              <a:rPr lang="en-GB" dirty="0"/>
              <a:t>Required test cases</a:t>
            </a:r>
          </a:p>
          <a:p>
            <a:pPr lvl="1"/>
            <a:r>
              <a:rPr lang="en-GB" dirty="0"/>
              <a:t>(x=1, y=1)</a:t>
            </a:r>
          </a:p>
          <a:p>
            <a:pPr lvl="1"/>
            <a:r>
              <a:rPr lang="en-GB" dirty="0"/>
              <a:t>(x=1, y=-1)</a:t>
            </a:r>
          </a:p>
          <a:p>
            <a:pPr lvl="1"/>
            <a:r>
              <a:rPr lang="en-GB" dirty="0"/>
              <a:t>(x=-1, y=any)</a:t>
            </a:r>
          </a:p>
          <a:p>
            <a:r>
              <a:rPr lang="en-GB" dirty="0"/>
              <a:t>Usually </a:t>
            </a:r>
            <a:r>
              <a:rPr lang="en-GB" b="1" dirty="0"/>
              <a:t>not feasible </a:t>
            </a:r>
            <a:r>
              <a:rPr lang="en-GB" dirty="0"/>
              <a:t>in practice: loops (infinite paths), path explosion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BFA56-AFA2-AC46-A8BD-C7E0C5E1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D7E7-A0C0-BE36-C830-AA0D665D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D5EF4-B01D-4B5E-3BB6-BF39C148ECEB}"/>
              </a:ext>
            </a:extLst>
          </p:cNvPr>
          <p:cNvSpPr txBox="1"/>
          <p:nvPr/>
        </p:nvSpPr>
        <p:spPr>
          <a:xfrm>
            <a:off x="1052946" y="2332881"/>
            <a:ext cx="236450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7030A0"/>
                </a:solidFill>
                <a:latin typeface="Monaco" pitchFamily="2" charset="77"/>
              </a:rPr>
              <a:t>if</a:t>
            </a:r>
            <a:r>
              <a:rPr lang="en-GB" sz="1400" dirty="0">
                <a:latin typeface="Monaco" pitchFamily="2" charset="77"/>
              </a:rPr>
              <a:t> (x &gt; 0)</a:t>
            </a:r>
          </a:p>
          <a:p>
            <a:r>
              <a:rPr lang="en-GB" sz="1400" dirty="0">
                <a:latin typeface="Monaco" pitchFamily="2" charset="77"/>
              </a:rPr>
              <a:t>    </a:t>
            </a:r>
            <a:r>
              <a:rPr lang="en-GB" sz="1400" dirty="0">
                <a:solidFill>
                  <a:srgbClr val="7030A0"/>
                </a:solidFill>
                <a:latin typeface="Monaco" pitchFamily="2" charset="77"/>
              </a:rPr>
              <a:t>if</a:t>
            </a:r>
            <a:r>
              <a:rPr lang="en-GB" sz="1400" dirty="0">
                <a:latin typeface="Monaco" pitchFamily="2" charset="77"/>
              </a:rPr>
              <a:t> (y &gt; 0)</a:t>
            </a:r>
          </a:p>
          <a:p>
            <a:r>
              <a:rPr lang="en-GB" sz="1400" dirty="0">
                <a:latin typeface="Monaco" pitchFamily="2" charset="77"/>
              </a:rPr>
              <a:t>        z = 1;</a:t>
            </a:r>
          </a:p>
          <a:p>
            <a:r>
              <a:rPr lang="en-GB" sz="1400" dirty="0">
                <a:latin typeface="Monaco" pitchFamily="2" charset="77"/>
              </a:rPr>
              <a:t>    </a:t>
            </a:r>
            <a:r>
              <a:rPr lang="en-GB" sz="1400" dirty="0">
                <a:solidFill>
                  <a:srgbClr val="7030A0"/>
                </a:solidFill>
                <a:latin typeface="Monaco" pitchFamily="2" charset="77"/>
              </a:rPr>
              <a:t>else</a:t>
            </a:r>
          </a:p>
          <a:p>
            <a:r>
              <a:rPr lang="en-GB" sz="1400" dirty="0">
                <a:latin typeface="Monaco" pitchFamily="2" charset="77"/>
              </a:rPr>
              <a:t>        z = 2;</a:t>
            </a:r>
          </a:p>
          <a:p>
            <a:r>
              <a:rPr lang="en-GB" sz="1400" dirty="0">
                <a:solidFill>
                  <a:srgbClr val="7030A0"/>
                </a:solidFill>
                <a:latin typeface="Monaco" pitchFamily="2" charset="77"/>
              </a:rPr>
              <a:t>else</a:t>
            </a:r>
          </a:p>
          <a:p>
            <a:r>
              <a:rPr lang="en-GB" sz="1400" dirty="0">
                <a:latin typeface="Monaco" pitchFamily="2" charset="77"/>
              </a:rPr>
              <a:t>    z = 3;</a:t>
            </a:r>
            <a:endParaRPr lang="en-IT" sz="1400" dirty="0">
              <a:latin typeface="Monaco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6B0C0-B4C3-919F-22D8-92C29077C3AD}"/>
              </a:ext>
            </a:extLst>
          </p:cNvPr>
          <p:cNvSpPr txBox="1"/>
          <p:nvPr/>
        </p:nvSpPr>
        <p:spPr>
          <a:xfrm>
            <a:off x="1126836" y="1784162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 code example</a:t>
            </a:r>
          </a:p>
        </p:txBody>
      </p:sp>
    </p:spTree>
    <p:extLst>
      <p:ext uri="{BB962C8B-B14F-4D97-AF65-F5344CB8AC3E}">
        <p14:creationId xmlns:p14="http://schemas.microsoft.com/office/powerpoint/2010/main" val="346657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FFCFD-2639-F770-8ADC-FDC3E41F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4509-9C72-4B8A-61B7-88B601C8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Testing: summary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6094A-E13A-CEA9-49E2-2B50EE46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14C20-D44F-1FBD-A45A-865D22F4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BCB2AA-A0D8-CE08-0165-C24465573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23037"/>
              </p:ext>
            </p:extLst>
          </p:nvPr>
        </p:nvGraphicFramePr>
        <p:xfrm>
          <a:off x="838199" y="1690688"/>
          <a:ext cx="10515600" cy="317179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079393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816130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29065124"/>
                    </a:ext>
                  </a:extLst>
                </a:gridCol>
              </a:tblGrid>
              <a:tr h="702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/>
                        <a:t>Criterion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/>
                        <a:t>Guarantees</a:t>
                      </a:r>
                      <a:endParaRPr lang="en-GB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Limitations</a:t>
                      </a:r>
                      <a:endParaRPr lang="en-GB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17243"/>
                  </a:ext>
                </a:extLst>
              </a:tr>
              <a:tr h="702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Statement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All statements executed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Misses decision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223150"/>
                  </a:ext>
                </a:extLst>
              </a:tr>
              <a:tr h="702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Branch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All decision outcomes tested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Misses path combinations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002514"/>
                  </a:ext>
                </a:extLst>
              </a:tr>
              <a:tr h="702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Path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All execution paths tested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Often infeasible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99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921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Black-Box Testing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specifications</a:t>
            </a:r>
          </a:p>
          <a:p>
            <a:r>
              <a:rPr lang="en-US" dirty="0"/>
              <a:t>Ignores internal structure</a:t>
            </a:r>
          </a:p>
          <a:p>
            <a:r>
              <a:rPr lang="en-US" dirty="0"/>
              <a:t>Common techniques:</a:t>
            </a:r>
          </a:p>
          <a:p>
            <a:pPr lvl="1"/>
            <a:r>
              <a:rPr lang="en-US" dirty="0"/>
              <a:t>Equivalence partitioning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Decision tables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E4987-08DF-4D87-6ABF-C6328947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1D207-5537-8DFC-81A0-66948D41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B003-BD9D-8F5C-EBAC-B253E1E0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8589-6CF5-66C7-0ED0-18F8F159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Black-Box Testing: </a:t>
            </a:r>
            <a:r>
              <a:rPr lang="it-IT" dirty="0" err="1"/>
              <a:t>Equivalence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59AF-6336-1672-A95B-388A7181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</a:t>
            </a:r>
            <a:r>
              <a:rPr lang="en-US" dirty="0"/>
              <a:t>: a procedure </a:t>
            </a:r>
            <a:r>
              <a:rPr lang="en-US" sz="2000" dirty="0" err="1">
                <a:latin typeface="Monaco" pitchFamily="2" charset="77"/>
              </a:rPr>
              <a:t>check_temperature</a:t>
            </a:r>
            <a:r>
              <a:rPr lang="en-US" sz="2000" dirty="0">
                <a:latin typeface="Monaco" pitchFamily="2" charset="77"/>
              </a:rPr>
              <a:t> </a:t>
            </a:r>
            <a:r>
              <a:rPr lang="en-US" dirty="0"/>
              <a:t>accepts an integer temperature reading temp with the following specification:</a:t>
            </a:r>
          </a:p>
          <a:p>
            <a:pPr lvl="1"/>
            <a:r>
              <a:rPr lang="en-US" dirty="0"/>
              <a:t>It returns “Cold” if temp &lt; 0.</a:t>
            </a:r>
          </a:p>
          <a:p>
            <a:pPr lvl="1"/>
            <a:r>
              <a:rPr lang="en-US" dirty="0"/>
              <a:t>It returns “Normal” if 0 ≤ temp ≤ 20.</a:t>
            </a:r>
          </a:p>
          <a:p>
            <a:pPr lvl="1"/>
            <a:r>
              <a:rPr lang="en-US" dirty="0"/>
              <a:t>It returns “Warm” if temp &gt; 20.</a:t>
            </a:r>
          </a:p>
          <a:p>
            <a:pPr lvl="1"/>
            <a:r>
              <a:rPr lang="en-US" dirty="0"/>
              <a:t>Readings outside the valid input range [-20, 50] should result in an “Invalid Input” error message.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5AE04-6228-23AB-191E-C8BF141A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8EACB-783C-D53F-FD4B-47B92C7F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54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73E99-7115-EA58-85CA-D11CBE30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4593-495D-F1C7-B9D2-C4B96CD4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Black-Box Testing: </a:t>
            </a:r>
            <a:r>
              <a:rPr lang="it-IT" dirty="0" err="1"/>
              <a:t>Equivalence</a:t>
            </a:r>
            <a:r>
              <a:rPr lang="it-IT" dirty="0"/>
              <a:t> Classes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FAE67-9B2A-9A4A-8351-FAA41E5D7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this specification, the following equivalence classes are identified:</a:t>
            </a:r>
          </a:p>
          <a:p>
            <a:pPr lvl="1"/>
            <a:r>
              <a:rPr lang="en-US" dirty="0"/>
              <a:t>Valid input ranges</a:t>
            </a:r>
          </a:p>
          <a:p>
            <a:pPr lvl="2"/>
            <a:r>
              <a:rPr lang="en-US" dirty="0"/>
              <a:t>Class 1: Temperatures less than 0. Expected output: “Cold.”</a:t>
            </a:r>
          </a:p>
          <a:p>
            <a:pPr lvl="2"/>
            <a:r>
              <a:rPr lang="en-US" dirty="0"/>
              <a:t>Class 2: Temperatures from 0 to 20 (inclusive). Expected output: “Normal.”</a:t>
            </a:r>
          </a:p>
          <a:p>
            <a:pPr lvl="2"/>
            <a:r>
              <a:rPr lang="en-US" dirty="0"/>
              <a:t>Class 3: Temperatures greater than 20 up to 50. Expected output: “Warm.”</a:t>
            </a:r>
          </a:p>
          <a:p>
            <a:pPr lvl="1"/>
            <a:r>
              <a:rPr lang="en-GB" dirty="0"/>
              <a:t>Invalid input ranges</a:t>
            </a:r>
          </a:p>
          <a:p>
            <a:pPr lvl="2"/>
            <a:r>
              <a:rPr lang="en-GB" dirty="0"/>
              <a:t>Class 4: Temperatures below -20. Expected output: “Invalid Input.”</a:t>
            </a:r>
          </a:p>
          <a:p>
            <a:pPr lvl="2"/>
            <a:r>
              <a:rPr lang="en-GB" dirty="0"/>
              <a:t>Class 5: Temperatures above 50. Expected output: “Invalid Input.”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B1B8C-9780-37BC-21DD-968E3A37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2276-00F7-7D42-9B02-F05CBC76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32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5352-BC21-4F8C-2066-AEB3A73A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65AD-9AB3-1F90-1CA2-3E355B2B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Black-Box Testing: </a:t>
            </a:r>
            <a:r>
              <a:rPr lang="it-IT" dirty="0" err="1"/>
              <a:t>Equivalence</a:t>
            </a:r>
            <a:r>
              <a:rPr lang="it-IT" dirty="0"/>
              <a:t> Classes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3F3E-37DC-A906-19D3-0E0E5773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Test set</a:t>
            </a:r>
            <a:r>
              <a:rPr lang="en-US" dirty="0"/>
              <a:t>: representative value is selected from each class</a:t>
            </a:r>
          </a:p>
          <a:p>
            <a:pPr lvl="1"/>
            <a:r>
              <a:rPr lang="en-US" dirty="0"/>
              <a:t>Class 1: −10 → Expected: “Cold.”</a:t>
            </a:r>
          </a:p>
          <a:p>
            <a:pPr lvl="1"/>
            <a:r>
              <a:rPr lang="en-US" dirty="0"/>
              <a:t>Class 2: 10 → Expected: “Normal.”</a:t>
            </a:r>
          </a:p>
          <a:p>
            <a:pPr lvl="1"/>
            <a:r>
              <a:rPr lang="en-US" dirty="0"/>
              <a:t>Class 3: 30 → Expected: “Warm.”</a:t>
            </a:r>
          </a:p>
          <a:p>
            <a:pPr lvl="1"/>
            <a:r>
              <a:rPr lang="en-US" dirty="0"/>
              <a:t>Class 4: −25 → Expected: “Invalid Input.”</a:t>
            </a:r>
          </a:p>
          <a:p>
            <a:pPr lvl="1"/>
            <a:r>
              <a:rPr lang="en-US" dirty="0"/>
              <a:t>Class 5: 55 → Expected: “Invalid Input.”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096D-BDAB-6778-9C10-CA7E7FA0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F8CBC-54B8-A77F-85B8-D5399B59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8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FDFC-159E-4C0E-65E9-AA79F45A2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7226-30BD-012C-9C10-715AE79F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Black-Box Testing: </a:t>
            </a:r>
            <a:r>
              <a:rPr lang="it-IT" dirty="0" err="1"/>
              <a:t>Boundary</a:t>
            </a:r>
            <a:r>
              <a:rPr lang="it-IT" dirty="0"/>
              <a:t> Value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67681-C5B0-0D3A-7C67-AA8979B8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Input validity </a:t>
            </a:r>
            <a:r>
              <a:rPr lang="en-GB" dirty="0"/>
              <a:t>boundaries: −20 and 50</a:t>
            </a:r>
          </a:p>
          <a:p>
            <a:r>
              <a:rPr lang="en-GB" b="1" dirty="0"/>
              <a:t>Output class</a:t>
            </a:r>
            <a:r>
              <a:rPr lang="en-GB" dirty="0"/>
              <a:t> boundaries (values where the output changes, based on the specification): 0 and 20</a:t>
            </a:r>
          </a:p>
          <a:p>
            <a:r>
              <a:rPr lang="en-GB" dirty="0"/>
              <a:t>Test set augmented with values around boundaries:</a:t>
            </a:r>
          </a:p>
          <a:p>
            <a:pPr lvl="1"/>
            <a:r>
              <a:rPr lang="en-GB" dirty="0"/>
              <a:t>Around input minimum −20: −21 (invalid, outside), −20 (valid, on boundary), −19 (valid, inside). Expected outcomes: “Invalid Input,” “Cold,” “Cold”</a:t>
            </a:r>
          </a:p>
          <a:p>
            <a:pPr lvl="1"/>
            <a:r>
              <a:rPr lang="en-GB" dirty="0"/>
              <a:t>Around output boundary 0: −1 (valid, below), 0 (valid, on boundary), 1 (valid, above). Expected outcomes: “Cold,” “Normal,” “Normal”</a:t>
            </a:r>
          </a:p>
          <a:p>
            <a:pPr lvl="1"/>
            <a:r>
              <a:rPr lang="en-GB" dirty="0"/>
              <a:t>Around output boundary 20: 19 (valid, below), 20 (valid, on boundary), 21 (valid, above). Expected outcomes: “Normal,” “Normal,” “Warm”</a:t>
            </a:r>
          </a:p>
          <a:p>
            <a:pPr lvl="1"/>
            <a:r>
              <a:rPr lang="en-GB" dirty="0"/>
              <a:t>Around input maximum 50: 49 (valid, inside), 50 (valid, on boundary), 51 (invalid, outside). Expected outcomes: “Warm,” “Warm,” “Invalid Input”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FF0A3-5FC2-D992-CE84-8F05D06E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9B473-791D-1231-1CCA-DBEF7933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80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C7DC-D50A-8690-4D0C-3FD90BF5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7F51-86B9-8104-754D-0F85B03D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Levels</a:t>
            </a:r>
            <a:r>
              <a:rPr lang="it-IT" dirty="0"/>
              <a:t> of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66D12-1849-53C8-6160-FE1ECAD19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is organized into levels:</a:t>
            </a:r>
          </a:p>
          <a:p>
            <a:pPr lvl="1"/>
            <a:r>
              <a:rPr lang="en-US" dirty="0"/>
              <a:t>Unit testing</a:t>
            </a:r>
          </a:p>
          <a:p>
            <a:pPr lvl="1"/>
            <a:r>
              <a:rPr lang="en-US" dirty="0"/>
              <a:t>Integration testing</a:t>
            </a:r>
          </a:p>
          <a:p>
            <a:pPr lvl="1"/>
            <a:r>
              <a:rPr lang="en-US" dirty="0"/>
              <a:t>System testing</a:t>
            </a:r>
          </a:p>
          <a:p>
            <a:r>
              <a:rPr lang="en-US" dirty="0"/>
              <a:t>Each level:</a:t>
            </a:r>
          </a:p>
          <a:p>
            <a:pPr lvl="1"/>
            <a:r>
              <a:rPr lang="en-US" dirty="0"/>
              <a:t>Targets different faults</a:t>
            </a:r>
          </a:p>
          <a:p>
            <a:pPr lvl="1"/>
            <a:r>
              <a:rPr lang="en-US" dirty="0"/>
              <a:t>Uses different artifacts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BB7FB-03EC-EA73-BDFE-6569A31F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AAE20-7F2A-EE57-23EA-DE9BBB5F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6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06EC1-0E45-4E0E-A630-2D197D4A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6755-B5E5-93B8-B015-95D30479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Levels</a:t>
            </a:r>
            <a:r>
              <a:rPr lang="it-IT" dirty="0"/>
              <a:t> of Testing: Unit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7E24C-E6C9-5F8D-5D3C-3D40A511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34295-71C0-3E8D-F8CA-4708158F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9D09F-0437-D8C0-0C07-11BDC1C4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781" y="2466831"/>
            <a:ext cx="6482086" cy="278591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336CFF-A9E5-A87B-FAB4-513DA5443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Focus:</a:t>
            </a:r>
          </a:p>
          <a:p>
            <a:pPr lvl="1"/>
            <a:r>
              <a:rPr lang="en-GB" dirty="0"/>
              <a:t>Individual units (functions, classes)</a:t>
            </a:r>
          </a:p>
          <a:p>
            <a:pPr lvl="1"/>
            <a:r>
              <a:rPr lang="en-GB" dirty="0"/>
              <a:t>Defined considering detailed design</a:t>
            </a:r>
          </a:p>
          <a:p>
            <a:r>
              <a:rPr lang="en-GB" dirty="0"/>
              <a:t>Goal:</a:t>
            </a:r>
          </a:p>
          <a:p>
            <a:pPr lvl="1"/>
            <a:r>
              <a:rPr lang="en-GB" dirty="0"/>
              <a:t>Detect local faults early</a:t>
            </a:r>
          </a:p>
          <a:p>
            <a:r>
              <a:rPr lang="en-GB" dirty="0"/>
              <a:t>To isolate units:</a:t>
            </a:r>
          </a:p>
          <a:p>
            <a:pPr lvl="1"/>
            <a:r>
              <a:rPr lang="en-GB" dirty="0"/>
              <a:t>Stubs (simulate callees)</a:t>
            </a:r>
          </a:p>
          <a:p>
            <a:pPr lvl="1"/>
            <a:r>
              <a:rPr lang="en-GB" dirty="0"/>
              <a:t>Mocks (simulate + verify interactions)</a:t>
            </a:r>
          </a:p>
          <a:p>
            <a:pPr lvl="1"/>
            <a:r>
              <a:rPr lang="en-GB" dirty="0"/>
              <a:t>Drivers (simulate callers)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426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5532-ABAA-CCE9-A0F8-D4B1DB0E2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81F6C-2987-026F-37DE-2516EB1A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Levels</a:t>
            </a:r>
            <a:r>
              <a:rPr lang="it-IT" dirty="0"/>
              <a:t> of Testing: Integration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F96C9-8944-1F84-A4FD-B270EDD3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4B67C-5FB4-6DC2-17B7-164C5CFE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5648A0-902D-BA28-8CED-6AAC3EBC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Focus:</a:t>
            </a:r>
          </a:p>
          <a:p>
            <a:pPr lvl="1"/>
            <a:r>
              <a:rPr lang="en-GB" dirty="0"/>
              <a:t>Interactions between components</a:t>
            </a:r>
          </a:p>
          <a:p>
            <a:pPr lvl="1"/>
            <a:r>
              <a:rPr lang="en-GB" dirty="0"/>
              <a:t>Defined considering the architecture </a:t>
            </a:r>
          </a:p>
          <a:p>
            <a:r>
              <a:rPr lang="en-GB" dirty="0"/>
              <a:t>Goal:</a:t>
            </a:r>
          </a:p>
          <a:p>
            <a:pPr lvl="1"/>
            <a:r>
              <a:rPr lang="en-GB" dirty="0"/>
              <a:t>Detect interface and interaction fault</a:t>
            </a:r>
          </a:p>
          <a:p>
            <a:r>
              <a:rPr lang="en-GB" dirty="0"/>
              <a:t>Main strategies:</a:t>
            </a:r>
          </a:p>
          <a:p>
            <a:pPr lvl="1"/>
            <a:r>
              <a:rPr lang="en-GB" dirty="0"/>
              <a:t>Top-down</a:t>
            </a:r>
          </a:p>
          <a:p>
            <a:pPr lvl="1"/>
            <a:r>
              <a:rPr lang="en-GB" dirty="0"/>
              <a:t>Bottom-up</a:t>
            </a:r>
          </a:p>
          <a:p>
            <a:pPr lvl="1"/>
            <a:r>
              <a:rPr lang="en-GB" dirty="0"/>
              <a:t>Thread</a:t>
            </a:r>
          </a:p>
        </p:txBody>
      </p:sp>
    </p:spTree>
    <p:extLst>
      <p:ext uri="{BB962C8B-B14F-4D97-AF65-F5344CB8AC3E}">
        <p14:creationId xmlns:p14="http://schemas.microsoft.com/office/powerpoint/2010/main" val="291383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DF59-C1CF-F6DB-5A35-3175070A1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D179-5B4C-430E-351A-B041445A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Levels</a:t>
            </a:r>
            <a:r>
              <a:rPr lang="it-IT" dirty="0"/>
              <a:t> of Testing: System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F4D4-0EEC-DBC7-1F95-9DC03BBA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29C79-7AF9-9F61-BAFE-58A191F8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2BB058-2051-53BE-C2CD-4B7B04FA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Focus:</a:t>
            </a:r>
          </a:p>
          <a:p>
            <a:pPr lvl="1"/>
            <a:r>
              <a:rPr lang="en-GB" dirty="0"/>
              <a:t>Entire system </a:t>
            </a:r>
            <a:r>
              <a:rPr lang="en-GB" dirty="0" err="1"/>
              <a:t>behavior</a:t>
            </a:r>
            <a:endParaRPr lang="en-GB" dirty="0"/>
          </a:p>
          <a:p>
            <a:pPr lvl="1"/>
            <a:r>
              <a:rPr lang="en-GB" dirty="0"/>
              <a:t>End-to-end scenarios</a:t>
            </a:r>
          </a:p>
          <a:p>
            <a:pPr lvl="1"/>
            <a:r>
              <a:rPr lang="en-GB" dirty="0"/>
              <a:t>Defined considering system-level requirements</a:t>
            </a:r>
          </a:p>
          <a:p>
            <a:r>
              <a:rPr lang="en-GB" dirty="0"/>
              <a:t>Includes:</a:t>
            </a:r>
          </a:p>
          <a:p>
            <a:pPr lvl="1"/>
            <a:r>
              <a:rPr lang="en-GB" dirty="0"/>
              <a:t>Functional testing</a:t>
            </a:r>
          </a:p>
          <a:p>
            <a:pPr lvl="1"/>
            <a:r>
              <a:rPr lang="en-GB" dirty="0"/>
              <a:t>Non-functional testing (e.g., performance, reliability)</a:t>
            </a:r>
          </a:p>
          <a:p>
            <a:r>
              <a:rPr lang="en-GB" dirty="0"/>
              <a:t>Often basis for validation:</a:t>
            </a:r>
          </a:p>
          <a:p>
            <a:pPr lvl="1"/>
            <a:r>
              <a:rPr lang="en-GB" dirty="0"/>
              <a:t>Acceptance testing</a:t>
            </a:r>
          </a:p>
        </p:txBody>
      </p:sp>
    </p:spTree>
    <p:extLst>
      <p:ext uri="{BB962C8B-B14F-4D97-AF65-F5344CB8AC3E}">
        <p14:creationId xmlns:p14="http://schemas.microsoft.com/office/powerpoint/2010/main" val="1269469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5B348-84E0-B0CF-02FC-ED98C821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952B0-A0D1-5F6E-B2D7-17FD5DB5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Wrap-up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7276-F4B7-F6FB-6A7E-EF037CEE6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is a </a:t>
            </a:r>
            <a:r>
              <a:rPr lang="en-US" b="1" dirty="0"/>
              <a:t>core dynamic </a:t>
            </a:r>
            <a:r>
              <a:rPr lang="en-US" dirty="0"/>
              <a:t>QA activity</a:t>
            </a:r>
          </a:p>
          <a:p>
            <a:r>
              <a:rPr lang="en-US" b="1" dirty="0"/>
              <a:t>Exhaustive</a:t>
            </a:r>
            <a:r>
              <a:rPr lang="en-US" dirty="0"/>
              <a:t> testing is </a:t>
            </a:r>
            <a:r>
              <a:rPr lang="en-US" b="1" dirty="0"/>
              <a:t>often impossible</a:t>
            </a:r>
          </a:p>
          <a:p>
            <a:r>
              <a:rPr lang="en-US" dirty="0"/>
              <a:t>Test </a:t>
            </a:r>
            <a:r>
              <a:rPr lang="en-US" b="1" dirty="0"/>
              <a:t>selection</a:t>
            </a:r>
            <a:r>
              <a:rPr lang="en-US" dirty="0"/>
              <a:t> requires effective </a:t>
            </a:r>
            <a:r>
              <a:rPr lang="en-US" b="1" dirty="0"/>
              <a:t>strategies</a:t>
            </a:r>
          </a:p>
          <a:p>
            <a:r>
              <a:rPr lang="en-US" b="1" dirty="0"/>
              <a:t>Multiple testing levels </a:t>
            </a:r>
            <a:r>
              <a:rPr lang="en-US" dirty="0"/>
              <a:t>are essential</a:t>
            </a:r>
          </a:p>
          <a:p>
            <a:r>
              <a:rPr lang="en-US" b="1" dirty="0"/>
              <a:t>Testing complements </a:t>
            </a:r>
            <a:r>
              <a:rPr lang="en-US" dirty="0"/>
              <a:t>analysis and reviews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86610-B1E5-80F2-8E9B-44089D71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17 -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5EDC1-D88C-1443-FF54-8344866F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42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5214</TotalTime>
  <Words>2490</Words>
  <Application>Microsoft Macintosh PowerPoint</Application>
  <PresentationFormat>Widescreen</PresentationFormat>
  <Paragraphs>259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Monaco</vt:lpstr>
      <vt:lpstr>Office Theme</vt:lpstr>
      <vt:lpstr>Chapter 17:  Software Testing</vt:lpstr>
      <vt:lpstr>Software Testing</vt:lpstr>
      <vt:lpstr>Learning objectives</vt:lpstr>
      <vt:lpstr>What is Software Testing?</vt:lpstr>
      <vt:lpstr>Why Testing Matters</vt:lpstr>
      <vt:lpstr>Goals of Testing</vt:lpstr>
      <vt:lpstr>Faults, Errors, Failures (IEEE standard)</vt:lpstr>
      <vt:lpstr>Conceptual View of Testing</vt:lpstr>
      <vt:lpstr>Limitations of Testing</vt:lpstr>
      <vt:lpstr>Testing as Sampling</vt:lpstr>
      <vt:lpstr>White-Box Testing</vt:lpstr>
      <vt:lpstr>White-Box Testing: statement coverage</vt:lpstr>
      <vt:lpstr>White-Box Testing: branch coverage</vt:lpstr>
      <vt:lpstr>White-Box Testing: path coverage</vt:lpstr>
      <vt:lpstr>White-Box Testing: summary</vt:lpstr>
      <vt:lpstr>Black-Box Testing</vt:lpstr>
      <vt:lpstr>Black-Box Testing: Equivalence</vt:lpstr>
      <vt:lpstr>Black-Box Testing: Equivalence Classes</vt:lpstr>
      <vt:lpstr>Black-Box Testing: Equivalence Classes</vt:lpstr>
      <vt:lpstr>Black-Box Testing: Boundary Value Analysis</vt:lpstr>
      <vt:lpstr>Levels of Testing</vt:lpstr>
      <vt:lpstr>Levels of Testing: Unit</vt:lpstr>
      <vt:lpstr>Levels of Testing: Integration</vt:lpstr>
      <vt:lpstr>Levels of Testing: System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Camilli</cp:lastModifiedBy>
  <cp:revision>266</cp:revision>
  <dcterms:created xsi:type="dcterms:W3CDTF">2025-05-15T11:20:47Z</dcterms:created>
  <dcterms:modified xsi:type="dcterms:W3CDTF">2026-01-08T18:56:11Z</dcterms:modified>
</cp:coreProperties>
</file>