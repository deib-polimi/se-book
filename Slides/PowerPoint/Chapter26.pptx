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57" r:id="rId4"/>
    <p:sldId id="288" r:id="rId5"/>
    <p:sldId id="289" r:id="rId6"/>
    <p:sldId id="290" r:id="rId7"/>
    <p:sldId id="291" r:id="rId8"/>
    <p:sldId id="292" r:id="rId9"/>
    <p:sldId id="293" r:id="rId10"/>
    <p:sldId id="28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345"/>
    <p:restoredTop sz="94658"/>
  </p:normalViewPr>
  <p:slideViewPr>
    <p:cSldViewPr snapToGrid="0">
      <p:cViewPr varScale="1">
        <p:scale>
          <a:sx n="111" d="100"/>
          <a:sy n="111" d="100"/>
        </p:scale>
        <p:origin x="232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1A6552-0A6C-D244-A2C8-B478F33B238A}" type="datetimeFigureOut">
              <a:rPr lang="en-US" smtClean="0"/>
              <a:t>1/27/26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740C50-DB3F-694F-A5EA-834EAC917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306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3BC2B-6CDA-72E2-229B-18DEF391FA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6613BC-7CB8-5A38-CD30-2C58A648B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7053D-FB66-9EF0-41B9-05675F1D8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26 -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BB64D338-9D73-A11E-33DA-E1B3EFEAE7A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2797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7765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9C6C1-E6BA-4617-CEA1-A46333E5B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A5070-78BD-D7FC-3836-A86EAF520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56B37-1922-E8D3-885A-1BEDCB2C3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26 -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EE563-D749-E1BC-79F7-18DBB9ADC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772F049-0FF7-59D4-3209-C5D316FC0E7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6067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653B9-9588-F242-424C-FCBB884F6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0FA4E-8AC2-FBC2-6505-59158EC90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E71F0-A64A-9841-1C40-6F5056C75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26 -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3019A-A54C-4805-AC3B-89DFDA94F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8BEDD6BA-03FA-2D94-3497-C46077CCC2E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8161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4EC80-0B57-11D7-6A08-DA72C26DB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99C45-27E0-950B-DC56-2883613570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FEE44-6404-140F-5A0B-666C29959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3AA74-7D0B-6A68-C6F1-58669BD5E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26 -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435119-2D05-18ED-1F86-7B52DBC90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6A6E1E32-715F-CBAD-0293-F674D0A736A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1792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79FF7-A942-3ABB-E89F-C11FE71A6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B25CB-87EE-7F13-C2E5-98AEFE3A0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61A3B3-B0C2-D253-5839-21704BC92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F3FF5C-DC76-BE96-FF09-1D64C4C206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E43628-B25A-5FA2-726A-C013AEF1F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6CB1D8-8615-69BE-A5AC-84686035C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26 -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28A28F-B43E-6906-568E-3DE2F621C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F8F7A668-BFB4-36F1-9118-A39A3A6EEC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0937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300EA-D986-DFE9-8606-5412B2504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319164-4796-E83E-B99E-763DDB92E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26 -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81A88B-6D57-DFC8-99F7-A2961B377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92BBACB-CB64-2267-2803-E9BE8B83B97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3959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42A436-0A8C-6244-CE2E-050985EC4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26 -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07374-4A63-ABE6-3E1E-6AAAA27B4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8AF5D44-6DD5-BCAB-7073-0ED20991356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8483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78E67-882E-9559-4DC2-620237B00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7F3FA-6A4E-B9A6-59F4-5716FADED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B5F38-CD1E-152F-206F-9B75CE019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D44107-E234-3C60-AC0C-094462929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26 -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06735C-C2AF-213F-7E15-6C8911E07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B3DD25BC-6E39-8BF3-5B08-425026ADC58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8252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652A8-28B3-1332-FFCA-4F93330C2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6512B4-F468-3058-3490-9303023C0F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A5CBC0-DBE9-B3FB-9FD1-DD37BA890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C05A0-55BA-F897-9634-005771C15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26 -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E172D-4AC8-7CF1-F3B6-457AA8651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90355B17-E662-ED63-9E92-6E44148639B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9423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B8E8-F679-8710-D25A-4D0574896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589DAA-8279-691A-D5BF-F5C892E671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C9042-AEE3-BD22-0364-B68E58C92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26 -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EF517-351F-E660-6564-F4A1D829F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6C9577E-4409-0CEC-5A71-61B16E21C3A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467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4BD917-C4A5-7822-91C2-F4F96DE15A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E0A98C-EF04-BC3B-CF4A-B93A2E36E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9D545-B6AE-6057-9E2E-C7C224667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26 - M. Camilli, E. Di Nitto, A. Fuggetta, A. Margara, M.G. Rossi, D.A. Tamburri.  Software Engineering: a Structured Journey from Inception to Delivery. BUP 2025.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A4EF9-342D-74DD-C592-195AD2BAD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7BC2FA4-7BB1-5F21-7E84-58E0BF9AF87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4211" y="6307083"/>
            <a:ext cx="1325203" cy="46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4004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F49B1-067C-B555-26D2-ABA3FE399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BAAED-978F-CD12-11C3-500EA5002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F1C8E-C17C-A942-A064-333E0C9695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99" y="6356350"/>
            <a:ext cx="76996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it-IT"/>
              <a:t>Chapter 26 -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FB1A4-8411-5ABB-AC32-FD865BAB7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5802" y="6356350"/>
            <a:ext cx="10179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04BADD-F420-F54C-BEF5-604E8EEED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785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C8E8F-6B80-712E-4BC4-802945BDC2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Chapter 26:</a:t>
            </a:r>
            <a:br>
              <a:rPr lang="en-US" dirty="0"/>
            </a:br>
            <a:r>
              <a:rPr lang="en-US" dirty="0"/>
              <a:t>Generative AI and Software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62A6B-8524-A31B-0489-93460027EC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Summary slides from</a:t>
            </a:r>
            <a:br>
              <a:rPr lang="en-GB" dirty="0"/>
            </a:br>
            <a:r>
              <a:rPr lang="en-GB" dirty="0"/>
              <a:t>M. Camilli, E. Di Nitto, A. Fuggetta, </a:t>
            </a:r>
            <a:br>
              <a:rPr lang="en-GB" dirty="0"/>
            </a:br>
            <a:r>
              <a:rPr lang="en-GB" dirty="0"/>
              <a:t>A. Margara, M.G. Rossi, D.A. Tamburri. Software Engineering: a Structured Journey from Inception to Delivery. BUP 2025.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450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GenAI and SE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Chapter 26</a:t>
            </a:r>
          </a:p>
          <a:p>
            <a:r>
              <a:rPr lang="en-GB" b="1" dirty="0"/>
              <a:t>Focus</a:t>
            </a:r>
            <a:r>
              <a:rPr lang="en-GB" dirty="0"/>
              <a:t>: how GenAI fits in SE, how SI changes</a:t>
            </a:r>
          </a:p>
          <a:p>
            <a:pPr marL="0" indent="0">
              <a:buNone/>
            </a:pPr>
            <a:r>
              <a:rPr lang="en-GB" dirty="0"/>
              <a:t>Benefits </a:t>
            </a:r>
            <a:r>
              <a:rPr lang="en-GB"/>
              <a:t>and pitfalls;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EA63C-1FBB-4436-9082-3A2E9D519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15 - M. Camilli, E. Di Nitto, A. Fuggetta, A. Margara, M.G. Rossi, D.A. Tamburri.  Software Engineering: </a:t>
            </a:r>
            <a:br>
              <a:rPr lang="it-IT" dirty="0"/>
            </a:br>
            <a:r>
              <a:rPr lang="it-IT" dirty="0"/>
              <a:t>a </a:t>
            </a:r>
            <a:r>
              <a:rPr lang="it-IT" dirty="0" err="1"/>
              <a:t>Structured</a:t>
            </a:r>
            <a:r>
              <a:rPr lang="it-IT" dirty="0"/>
              <a:t> </a:t>
            </a:r>
            <a:r>
              <a:rPr lang="it-IT" dirty="0" err="1"/>
              <a:t>Journey</a:t>
            </a:r>
            <a:r>
              <a:rPr lang="it-IT" dirty="0"/>
              <a:t> from </a:t>
            </a:r>
            <a:r>
              <a:rPr lang="it-IT" dirty="0" err="1"/>
              <a:t>Inception</a:t>
            </a:r>
            <a:r>
              <a:rPr lang="it-IT" dirty="0"/>
              <a:t>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346A0E-47BD-D559-F37B-1AAC951E0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4663F6-D297-735B-CDC9-15944492D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7817" y="1803177"/>
            <a:ext cx="2997872" cy="426398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8F063-8A8B-C911-1858-1015BD86B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AI and Software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4DF6E-5760-8C5A-2A13-B804E3DCC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GenAI  refers to a class of AI models that, unlike traditional models which classify or predict, can generate new, original content based on patterns learned from vast amounts of data;</a:t>
            </a:r>
          </a:p>
          <a:p>
            <a:endParaRPr lang="en-US" dirty="0"/>
          </a:p>
          <a:p>
            <a:r>
              <a:rPr lang="en-US" dirty="0"/>
              <a:t>Different architectures exist (e.g., GANs, VAEs, etc.) with each able to help in different phases and contexts of SE (e.g., code generation vs. maintenance);</a:t>
            </a:r>
          </a:p>
          <a:p>
            <a:endParaRPr lang="en-US" dirty="0"/>
          </a:p>
          <a:p>
            <a:r>
              <a:rPr lang="en-US" dirty="0"/>
              <a:t>SE plays a twin role: (a) SE can be used in AI systems; (b) AI systems can assist SE;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E06F8-CE37-7C5E-6F02-9161B680F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2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AE1E0-E22C-2FA4-0F61-2A209266F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26 -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788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75CEE-C4D9-4DE7-6EE7-262489C96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Engineering for Generative AI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97E36-57F2-36C3-4643-4A31A1178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Data Pipelines and Infrastructure construction and operation reflects SE principles;</a:t>
            </a:r>
          </a:p>
          <a:p>
            <a:endParaRPr lang="en-GB" dirty="0"/>
          </a:p>
          <a:p>
            <a:r>
              <a:rPr lang="en-GB" dirty="0"/>
              <a:t>Version Control for Everything Data, is required for large-scale ML;</a:t>
            </a:r>
          </a:p>
          <a:p>
            <a:endParaRPr lang="en-GB" dirty="0"/>
          </a:p>
          <a:p>
            <a:r>
              <a:rPr lang="en-GB" dirty="0"/>
              <a:t>Specialized Testing and QA required for data-driven systems;</a:t>
            </a:r>
          </a:p>
          <a:p>
            <a:endParaRPr lang="en-GB" dirty="0"/>
          </a:p>
          <a:p>
            <a:r>
              <a:rPr lang="en-GB" dirty="0"/>
              <a:t>CI/CD for Models (</a:t>
            </a:r>
            <a:r>
              <a:rPr lang="en-GB" dirty="0" err="1"/>
              <a:t>MLOps</a:t>
            </a:r>
            <a:r>
              <a:rPr lang="en-GB" dirty="0"/>
              <a:t>) is considerably different than regular DevOps;</a:t>
            </a:r>
            <a:endParaRPr lang="en-IT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3BD7F-1E76-3231-3C97-B4D97D3A6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26 -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4E7906-1B02-43E6-3BC0-E6BD9F198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526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24F21-4371-A08B-BAFE-51F74D6C9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High-level AI-Integrated SE life cycle model</a:t>
            </a:r>
            <a:endParaRPr lang="en-IT" dirty="0"/>
          </a:p>
        </p:txBody>
      </p:sp>
      <p:pic>
        <p:nvPicPr>
          <p:cNvPr id="7" name="Content Placeholder 6" descr="A diagram of a data collection&#10;&#10;AI-generated content may be incorrect.">
            <a:extLst>
              <a:ext uri="{FF2B5EF4-FFF2-40B4-BE49-F238E27FC236}">
                <a16:creationId xmlns:a16="http://schemas.microsoft.com/office/drawing/2014/main" id="{E983E679-95BD-AE21-684C-F131CF85AE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5434" y="1823243"/>
            <a:ext cx="11122869" cy="4345879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BC5F2-5CCE-800D-F9DA-4FE34FD2F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26 -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A8084C-99CE-39A0-9C01-007BFA128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961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B5961-4CC7-CA0B-56B6-2E6C58F28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Generative AI for Software Engineering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3C8EE-CF50-2805-9A22-FD0DE24F2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reduces repetitive manual effort and accelerates prototyping, for example, this prompt: </a:t>
            </a:r>
            <a:r>
              <a:rPr lang="en-GB" sz="24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“Write a Python function that computes the factorial of a number recursively.”</a:t>
            </a:r>
          </a:p>
          <a:p>
            <a:endParaRPr lang="en-GB" sz="2400" b="1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dirty="0">
                <a:cs typeface="Courier New" panose="02070309020205020404" pitchFamily="49" charset="0"/>
              </a:rPr>
              <a:t>Generates this output:</a:t>
            </a:r>
            <a:endParaRPr lang="en-IT" dirty="0"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A7358-B296-32B3-8494-910F88F2A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26 -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CF45BB-FC19-B18D-D557-44794D825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 descr="A white rectangular object with a black border&#10;&#10;AI-generated content may be incorrect.">
            <a:extLst>
              <a:ext uri="{FF2B5EF4-FFF2-40B4-BE49-F238E27FC236}">
                <a16:creationId xmlns:a16="http://schemas.microsoft.com/office/drawing/2014/main" id="{B9021986-C996-5873-A569-84F33A4B7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4083692"/>
            <a:ext cx="10734690" cy="166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29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8B8BF-96D9-B8C5-250A-6CB9E54FF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Generative AI for Software Engineering</a:t>
            </a:r>
            <a:endParaRPr lang="en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4A1D7-43AF-B391-875E-061490401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</a:t>
            </a:r>
            <a:r>
              <a:rPr lang="en-IT" dirty="0"/>
              <a:t>ll artefacts can be covered by GenAI:</a:t>
            </a:r>
          </a:p>
          <a:p>
            <a:pPr lvl="1"/>
            <a:r>
              <a:rPr lang="en-GB" dirty="0"/>
              <a:t>R</a:t>
            </a:r>
            <a:r>
              <a:rPr lang="en-IT" dirty="0"/>
              <a:t>equirements can be refined with Large-Language Models;</a:t>
            </a:r>
          </a:p>
          <a:p>
            <a:pPr lvl="1"/>
            <a:endParaRPr lang="en-IT" dirty="0"/>
          </a:p>
          <a:p>
            <a:pPr lvl="1"/>
            <a:r>
              <a:rPr lang="en-IT" dirty="0"/>
              <a:t>Software Designs can be revised by GenAI;</a:t>
            </a:r>
          </a:p>
          <a:p>
            <a:pPr lvl="1"/>
            <a:endParaRPr lang="en-IT" dirty="0"/>
          </a:p>
          <a:p>
            <a:pPr lvl="1"/>
            <a:r>
              <a:rPr lang="en-IT" dirty="0"/>
              <a:t>Architecture representations can be synthesized with Transformer models;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BBD1D-C49F-FD75-07A5-9EF393AEA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26 -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4811A0-C974-742E-A552-FC67D5986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755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70695-4778-9E58-86AA-C01E478A4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For example…</a:t>
            </a:r>
          </a:p>
        </p:txBody>
      </p:sp>
      <p:pic>
        <p:nvPicPr>
          <p:cNvPr id="7" name="Content Placeholder 6" descr="A diagram of a computer&#10;&#10;AI-generated content may be incorrect.">
            <a:extLst>
              <a:ext uri="{FF2B5EF4-FFF2-40B4-BE49-F238E27FC236}">
                <a16:creationId xmlns:a16="http://schemas.microsoft.com/office/drawing/2014/main" id="{359E33CA-CF85-3C4D-9A23-AB7265AE1C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3163" y="1376252"/>
            <a:ext cx="8259811" cy="2939074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12595-3BFF-4A98-DC8F-927218278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26 -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52B198-DF42-39FE-0D27-74197F1A0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5790A3-84BC-3F99-2AD9-9ABAA05A5E0E}"/>
              </a:ext>
            </a:extLst>
          </p:cNvPr>
          <p:cNvSpPr txBox="1"/>
          <p:nvPr/>
        </p:nvSpPr>
        <p:spPr>
          <a:xfrm>
            <a:off x="609600" y="1941095"/>
            <a:ext cx="26313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This representation is elicited automatically by an LLM, starting from a 1-paragraph description of the problem space.</a:t>
            </a:r>
            <a:endParaRPr lang="en-IT" i="1" dirty="0"/>
          </a:p>
        </p:txBody>
      </p:sp>
    </p:spTree>
    <p:extLst>
      <p:ext uri="{BB962C8B-B14F-4D97-AF65-F5344CB8AC3E}">
        <p14:creationId xmlns:p14="http://schemas.microsoft.com/office/powerpoint/2010/main" val="586232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B8AC1-1237-D913-FEE3-26EAC5B6F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Outstanding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6085A-BE25-A93D-D8C0-0AE2C38CA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T" dirty="0"/>
              <a:t>Excessive use;</a:t>
            </a:r>
          </a:p>
          <a:p>
            <a:r>
              <a:rPr lang="en-GB" dirty="0"/>
              <a:t>H</a:t>
            </a:r>
            <a:r>
              <a:rPr lang="en-IT" dirty="0"/>
              <a:t>uman continuity;</a:t>
            </a:r>
          </a:p>
          <a:p>
            <a:r>
              <a:rPr lang="en-IT" dirty="0"/>
              <a:t>Ethical considerations;</a:t>
            </a:r>
          </a:p>
          <a:p>
            <a:r>
              <a:rPr lang="en-IT" dirty="0"/>
              <a:t>Security and Privacy;</a:t>
            </a:r>
          </a:p>
          <a:p>
            <a:r>
              <a:rPr lang="en-IT" dirty="0"/>
              <a:t>Accuracy and reliability (e.g., Hallucinations);</a:t>
            </a:r>
          </a:p>
          <a:p>
            <a:r>
              <a:rPr lang="en-IT" dirty="0"/>
              <a:t>IPR violations and other data leaks;</a:t>
            </a:r>
          </a:p>
          <a:p>
            <a:r>
              <a:rPr lang="en-IT" dirty="0"/>
              <a:t>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83FA2-0F98-2C37-C8ED-89CBC8176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Chapter 26 -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EBF454-AECE-B662-EF98-75717C568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4BADD-F420-F54C-BEF5-604E8EEED02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807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F9EC6-0C40-0354-F9E8-6879A8FCB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5911C-1D4C-BD13-BCBB-41A01B7A1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Wrap-up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33D28F1-6F72-DE01-DBA8-BE4845530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integration of GenAI into software engineering marks a significant evolution in the tools and practices available;</a:t>
            </a:r>
          </a:p>
          <a:p>
            <a:endParaRPr lang="en-US" dirty="0"/>
          </a:p>
          <a:p>
            <a:r>
              <a:rPr lang="en-US" dirty="0"/>
              <a:t>GenAI offers tangible opportunities: clarifying requirements, generating tests, boilerplate coding, legacy migration…;</a:t>
            </a:r>
          </a:p>
          <a:p>
            <a:endParaRPr lang="en-US" dirty="0"/>
          </a:p>
          <a:p>
            <a:r>
              <a:rPr lang="en-US" dirty="0"/>
              <a:t>GenAI constitutes a risk as well as an opportunity which requires further consideration;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8685FD-40EB-1C8B-0BAB-C3D01A1DBE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7699625" cy="365125"/>
          </a:xfrm>
        </p:spPr>
        <p:txBody>
          <a:bodyPr/>
          <a:lstStyle/>
          <a:p>
            <a:r>
              <a:rPr lang="it-IT"/>
              <a:t>Chapter 26 - M. Camilli, E. Di Nitto, A. Fuggetta, A. Margara, M.G. Rossi, D.A. Tamburri.  Software Engineering: a Structured Journey from Inception to Delivery. BUP 2025.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5B82C-5867-96A9-5D54-326A9A4B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5802" y="6356350"/>
            <a:ext cx="1017998" cy="365125"/>
          </a:xfrm>
        </p:spPr>
        <p:txBody>
          <a:bodyPr/>
          <a:lstStyle/>
          <a:p>
            <a:fld id="{D204BADD-F420-F54C-BEF5-604E8EEED029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966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</TotalTime>
  <Words>845</Words>
  <Application>Microsoft Macintosh PowerPoint</Application>
  <PresentationFormat>Widescreen</PresentationFormat>
  <Paragraphs>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Courier New</vt:lpstr>
      <vt:lpstr>Office Theme</vt:lpstr>
      <vt:lpstr>Chapter 26: Generative AI and Software Engineering</vt:lpstr>
      <vt:lpstr>GenAI and SE</vt:lpstr>
      <vt:lpstr>Generative AI and Software Engineering</vt:lpstr>
      <vt:lpstr>Software Engineering for Generative AI</vt:lpstr>
      <vt:lpstr> High-level AI-Integrated SE life cycle model</vt:lpstr>
      <vt:lpstr>Generative AI for Software Engineering</vt:lpstr>
      <vt:lpstr>Generative AI for Software Engineering</vt:lpstr>
      <vt:lpstr>For example…</vt:lpstr>
      <vt:lpstr>Outstanding Challenges</vt:lpstr>
      <vt:lpstr>Wrap-up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Elisabetta Di Nitto</dc:creator>
  <cp:lastModifiedBy>Damian Andrew Tamburri</cp:lastModifiedBy>
  <cp:revision>177</cp:revision>
  <dcterms:created xsi:type="dcterms:W3CDTF">2025-05-15T11:20:47Z</dcterms:created>
  <dcterms:modified xsi:type="dcterms:W3CDTF">2026-01-27T13:22:11Z</dcterms:modified>
</cp:coreProperties>
</file>