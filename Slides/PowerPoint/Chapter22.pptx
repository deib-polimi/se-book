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88" r:id="rId3"/>
    <p:sldId id="28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5D8F43CA-DF8D-1A4F-9C3F-11C2DD809C50}"/>
    <pc:docChg chg="undo custSel addSld modSld">
      <pc:chgData name="Elisabetta Di Nitto" userId="74793f27-d828-489b-9fa1-89209989f427" providerId="ADAL" clId="{5D8F43CA-DF8D-1A4F-9C3F-11C2DD809C50}" dt="2025-05-16T12:27:00.596" v="342" actId="20577"/>
      <pc:docMkLst>
        <pc:docMk/>
      </pc:docMkLst>
      <pc:sldChg chg="modSp mod">
        <pc:chgData name="Elisabetta Di Nitto" userId="74793f27-d828-489b-9fa1-89209989f427" providerId="ADAL" clId="{5D8F43CA-DF8D-1A4F-9C3F-11C2DD809C50}" dt="2025-05-16T12:18:27.992" v="0" actId="113"/>
        <pc:sldMkLst>
          <pc:docMk/>
          <pc:sldMk cId="2672788615" sldId="257"/>
        </pc:sldMkLst>
      </pc:sldChg>
      <pc:sldChg chg="modSp mod">
        <pc:chgData name="Elisabetta Di Nitto" userId="74793f27-d828-489b-9fa1-89209989f427" providerId="ADAL" clId="{5D8F43CA-DF8D-1A4F-9C3F-11C2DD809C50}" dt="2025-05-16T12:26:49.904" v="340" actId="5793"/>
        <pc:sldMkLst>
          <pc:docMk/>
          <pc:sldMk cId="438142904" sldId="259"/>
        </pc:sldMkLst>
      </pc:sldChg>
      <pc:sldChg chg="addSp delSp modSp new mod">
        <pc:chgData name="Elisabetta Di Nitto" userId="74793f27-d828-489b-9fa1-89209989f427" providerId="ADAL" clId="{5D8F43CA-DF8D-1A4F-9C3F-11C2DD809C50}" dt="2025-05-16T12:27:00.596" v="342" actId="20577"/>
        <pc:sldMkLst>
          <pc:docMk/>
          <pc:sldMk cId="3602114308" sldId="267"/>
        </pc:sldMkLst>
      </pc:sldChg>
    </pc:docChg>
  </pc:docChgLst>
  <pc:docChgLst>
    <pc:chgData name="Elisabetta Di Nitto" userId="74793f27-d828-489b-9fa1-89209989f427" providerId="ADAL" clId="{C53B7DDF-975F-5433-8BA0-7A6449C044C8}"/>
    <pc:docChg chg="custSel modMainMaster">
      <pc:chgData name="Elisabetta Di Nitto" userId="74793f27-d828-489b-9fa1-89209989f427" providerId="ADAL" clId="{C53B7DDF-975F-5433-8BA0-7A6449C044C8}" dt="2025-10-14T11:49:30.279" v="0" actId="478"/>
      <pc:docMkLst>
        <pc:docMk/>
      </pc:docMkLst>
      <pc:sldMasterChg chg="modSldLayout">
        <pc:chgData name="Elisabetta Di Nitto" userId="74793f27-d828-489b-9fa1-89209989f427" providerId="ADAL" clId="{C53B7DDF-975F-5433-8BA0-7A6449C044C8}" dt="2025-10-14T11:49:30.279" v="0" actId="478"/>
        <pc:sldMasterMkLst>
          <pc:docMk/>
          <pc:sldMasterMk cId="3830785740" sldId="2147483648"/>
        </pc:sldMasterMkLst>
        <pc:sldLayoutChg chg="delSp mod">
          <pc:chgData name="Elisabetta Di Nitto" userId="74793f27-d828-489b-9fa1-89209989f427" providerId="ADAL" clId="{C53B7DDF-975F-5433-8BA0-7A6449C044C8}" dt="2025-10-14T11:49:30.279" v="0" actId="478"/>
          <pc:sldLayoutMkLst>
            <pc:docMk/>
            <pc:sldMasterMk cId="3830785740" sldId="2147483648"/>
            <pc:sldLayoutMk cId="2747765950" sldId="2147483649"/>
          </pc:sldLayoutMkLst>
          <pc:spChg chg="del">
            <ac:chgData name="Elisabetta Di Nitto" userId="74793f27-d828-489b-9fa1-89209989f427" providerId="ADAL" clId="{C53B7DDF-975F-5433-8BA0-7A6449C044C8}" dt="2025-10-14T11:49:30.279" v="0" actId="478"/>
            <ac:spMkLst>
              <pc:docMk/>
              <pc:sldMasterMk cId="3830785740" sldId="2147483648"/>
              <pc:sldLayoutMk cId="2747765950" sldId="2147483649"/>
              <ac:spMk id="5" creationId="{E81806C1-88EC-C042-4EBA-94F299406B1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22:</a:t>
            </a:r>
            <a:br>
              <a:rPr lang="en-US" dirty="0"/>
            </a:br>
            <a:r>
              <a:rPr lang="en-US" dirty="0"/>
              <a:t>Modern Software Life Cycles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Software Lifecycles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22</a:t>
            </a:r>
          </a:p>
          <a:p>
            <a:r>
              <a:rPr lang="en-GB" b="1" dirty="0"/>
              <a:t>Focus</a:t>
            </a:r>
            <a:r>
              <a:rPr lang="en-GB" dirty="0"/>
              <a:t>: Lifecycle Models and how they fit </a:t>
            </a:r>
          </a:p>
          <a:p>
            <a:pPr marL="0" indent="0">
              <a:buNone/>
            </a:pPr>
            <a:r>
              <a:rPr lang="en-GB" dirty="0"/>
              <a:t>in software processes, agile models, DevOps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DF41-9F95-0FF8-3361-1A6B4437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FC38-3AA6-EFBB-F3CC-4ED2CBE0F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Understand the major lifecycle models in existence;</a:t>
            </a:r>
          </a:p>
          <a:p>
            <a:r>
              <a:rPr lang="en-GB" dirty="0"/>
              <a:t>F</a:t>
            </a:r>
            <a:r>
              <a:rPr lang="en-IT" dirty="0"/>
              <a:t>igure out ways to choose the best fit model;</a:t>
            </a:r>
          </a:p>
          <a:p>
            <a:r>
              <a:rPr lang="en-GB" dirty="0"/>
              <a:t>Unveiling migration patterns from regular models</a:t>
            </a:r>
            <a:r>
              <a:rPr lang="en-IT" dirty="0"/>
              <a:t> </a:t>
            </a:r>
            <a:r>
              <a:rPr lang="en-IT"/>
              <a:t>to DevOps;</a:t>
            </a:r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940E6-2CE8-3A66-F105-41E7B96E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34278-6A21-63AF-D87B-DF26EFD2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0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Life Cycles: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software life cycle defines how development activities are organized and managed</a:t>
            </a:r>
          </a:p>
          <a:p>
            <a:r>
              <a:rPr lang="en-US" dirty="0"/>
              <a:t>It reflects assumptions about:</a:t>
            </a:r>
          </a:p>
          <a:p>
            <a:pPr lvl="1"/>
            <a:r>
              <a:rPr lang="en-US" dirty="0"/>
              <a:t>requirements stability</a:t>
            </a:r>
          </a:p>
          <a:p>
            <a:pPr lvl="1"/>
            <a:r>
              <a:rPr lang="en-US" dirty="0"/>
              <a:t>risk</a:t>
            </a:r>
          </a:p>
          <a:p>
            <a:pPr lvl="1"/>
            <a:r>
              <a:rPr lang="en-US" dirty="0"/>
              <a:t>feedback and control</a:t>
            </a:r>
          </a:p>
          <a:p>
            <a:r>
              <a:rPr lang="en-US" dirty="0"/>
              <a:t>No universally optimal life cycle exists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17C9-E6D0-F83C-DF06-306D3955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6065-8B43-9910-2514-283B05CD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480F6-EABD-AC18-28C7-279CCC9EB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development followed a code-and-fix approach</a:t>
            </a:r>
          </a:p>
          <a:p>
            <a:r>
              <a:rPr lang="en-US" dirty="0"/>
              <a:t>Lack of structure led to:</a:t>
            </a:r>
          </a:p>
          <a:p>
            <a:pPr lvl="1"/>
            <a:r>
              <a:rPr lang="en-US" dirty="0"/>
              <a:t>unpredictable outcomes</a:t>
            </a:r>
          </a:p>
          <a:p>
            <a:pPr lvl="1"/>
            <a:r>
              <a:rPr lang="en-US" dirty="0"/>
              <a:t>high maintenance costs</a:t>
            </a:r>
          </a:p>
          <a:p>
            <a:r>
              <a:rPr lang="en-US" dirty="0"/>
              <a:t>Need for discipline motivated structured methodologies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09CB5-B391-DAE0-0E86-71FEE96A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A7A0-2277-245F-A53B-9DC1A014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5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2868-21E4-559B-3353-9082B2D6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C089-27EE-2CEB-6E30-CBCAB4A9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1177B-5361-8CAF-0238-C5574710C9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Linear sequence of phases</a:t>
            </a:r>
          </a:p>
          <a:p>
            <a:r>
              <a:rPr lang="en-US" dirty="0"/>
              <a:t>Strong emphasis on upfront planning and documentation</a:t>
            </a:r>
          </a:p>
          <a:p>
            <a:r>
              <a:rPr lang="en-US" dirty="0"/>
              <a:t>Effective when requirements are:</a:t>
            </a:r>
          </a:p>
          <a:p>
            <a:pPr lvl="1"/>
            <a:r>
              <a:rPr lang="en-US" dirty="0"/>
              <a:t>stable</a:t>
            </a:r>
          </a:p>
          <a:p>
            <a:pPr lvl="1"/>
            <a:r>
              <a:rPr lang="en-US" dirty="0"/>
              <a:t>well understood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Poor adaptability to change</a:t>
            </a:r>
          </a:p>
          <a:p>
            <a:r>
              <a:rPr lang="en-US" dirty="0"/>
              <a:t>Late discovery of problems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D73D54-251E-EFFA-0C24-F49E37C027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06133"/>
            <a:ext cx="5807436" cy="2699419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7F6DA-9FB1-A112-365E-F7DCDAAB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560B9-043D-8F0E-04B8-39A18522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F91E-44AF-9769-76E7-005A9436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EFB1-917B-6924-F7CA-2840E085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Waterfall to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1BC5-D9F6-C1B4-2F40-1DF9C801D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contexts exposed waterfall limitations</a:t>
            </a:r>
          </a:p>
          <a:p>
            <a:r>
              <a:rPr lang="en-US" dirty="0"/>
              <a:t>Iterative approaches emerged:</a:t>
            </a:r>
          </a:p>
          <a:p>
            <a:pPr lvl="1"/>
            <a:r>
              <a:rPr lang="en-US" dirty="0"/>
              <a:t>inspired by the spiral model</a:t>
            </a:r>
          </a:p>
          <a:p>
            <a:pPr lvl="1"/>
            <a:r>
              <a:rPr lang="en-US" dirty="0"/>
              <a:t>focused on risk reduction and feedback</a:t>
            </a:r>
          </a:p>
          <a:p>
            <a:r>
              <a:rPr lang="en-US" dirty="0"/>
              <a:t>Core idea: build and refine incrementally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63CF7-FB5E-2772-1E30-B89B0F8B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3B10E-1013-9A5D-71AE-42A23A63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8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A71D-8B7E-9A3A-8881-C285FFA7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2DA5-5D1E-2DAF-A443-0288873D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Approaches: Common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5162-1122-E899-CBEB-21E014C59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Development proceeds in iterations</a:t>
            </a:r>
          </a:p>
          <a:p>
            <a:r>
              <a:rPr lang="en-US" dirty="0"/>
              <a:t>Each iteration delivers added functionality</a:t>
            </a:r>
          </a:p>
          <a:p>
            <a:r>
              <a:rPr lang="en-US" dirty="0"/>
              <a:t>Early validation and feedback</a:t>
            </a:r>
          </a:p>
          <a:p>
            <a:r>
              <a:rPr lang="en-US" dirty="0"/>
              <a:t>Risk managed progressively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1D06-F568-9FFC-56B4-FBE7D333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82F58-12CA-AE58-F808-4F205F4F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2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3D33-3DDA-B8B0-8253-48787E30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B9B1-6F04-B38B-E3E9-B25553FA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B9C13-6311-517D-827A-1504DD2F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System built as a sequence of functional increments</a:t>
            </a:r>
          </a:p>
          <a:p>
            <a:r>
              <a:rPr lang="en-US" dirty="0"/>
              <a:t>Each increment is:</a:t>
            </a:r>
          </a:p>
          <a:p>
            <a:pPr lvl="1"/>
            <a:r>
              <a:rPr lang="en-US" dirty="0"/>
              <a:t>designed</a:t>
            </a:r>
          </a:p>
          <a:p>
            <a:pPr lvl="1"/>
            <a:r>
              <a:rPr lang="en-US" dirty="0"/>
              <a:t>implemented</a:t>
            </a:r>
          </a:p>
          <a:p>
            <a:pPr lvl="1"/>
            <a:r>
              <a:rPr lang="en-US" dirty="0"/>
              <a:t>tested independently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Early delivery of usable features</a:t>
            </a:r>
          </a:p>
          <a:p>
            <a:r>
              <a:rPr lang="en-US" dirty="0"/>
              <a:t>Better risk management</a:t>
            </a:r>
          </a:p>
          <a:p>
            <a:r>
              <a:rPr lang="en-US" dirty="0"/>
              <a:t>Adaptation to evolving requirements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72DBD-D338-46D4-CC93-F58D6AD8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4B422-6330-7C7D-DA85-86F5D964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3B52-1E02-9C75-B596-79F422FD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360D-41A4-AE11-8478-44BF990E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C4085-DA91-B7B2-CDCC-CCB114AE6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web browsers</a:t>
            </a:r>
          </a:p>
          <a:p>
            <a:r>
              <a:rPr lang="en-US" dirty="0"/>
              <a:t>Frequent releases with:</a:t>
            </a:r>
          </a:p>
          <a:p>
            <a:pPr lvl="1"/>
            <a:r>
              <a:rPr lang="en-US" dirty="0"/>
              <a:t>new features</a:t>
            </a:r>
          </a:p>
          <a:p>
            <a:pPr lvl="1"/>
            <a:r>
              <a:rPr lang="en-US" dirty="0"/>
              <a:t>continuous improvement</a:t>
            </a:r>
          </a:p>
          <a:p>
            <a:r>
              <a:rPr lang="en-US" dirty="0"/>
              <a:t>Core functionality preserved across versions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63A5E-3427-16F9-48C2-259E7884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1C848-73DD-F2EB-D470-5EA80D88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1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1A9A-CF15-B34B-E61C-2063E3DF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DF1F-306B-E0FA-AE6E-282DD03B5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Component-Based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160C-FB4A-4455-B679-FB62DE32A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Systems assembled from reusable components</a:t>
            </a:r>
          </a:p>
          <a:p>
            <a:r>
              <a:rPr lang="en-US" dirty="0"/>
              <a:t>Components:</a:t>
            </a:r>
          </a:p>
          <a:p>
            <a:pPr lvl="1"/>
            <a:r>
              <a:rPr lang="en-US" dirty="0"/>
              <a:t>encapsulate functionality</a:t>
            </a:r>
          </a:p>
          <a:p>
            <a:pPr lvl="1"/>
            <a:r>
              <a:rPr lang="en-US" dirty="0"/>
              <a:t>expose well-defined interfaces</a:t>
            </a:r>
          </a:p>
          <a:p>
            <a:r>
              <a:rPr lang="en-US" dirty="0"/>
              <a:t>Promotes modularity and parallel development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A4036-8752-715E-57AF-8A4C0E24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E9D97-5C25-DF9E-6F99-1AEDA850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9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DBA8-D2A9-B804-9EEB-A36F77F9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8364-67E0-1248-DFAE-03F96EB9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Component-Based Development: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4742D-92E5-7C52-5C4B-0576AF9A8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platforms (e.g., AWS, Azure)</a:t>
            </a:r>
          </a:p>
          <a:p>
            <a:r>
              <a:rPr lang="en-US" dirty="0"/>
              <a:t>Applications composed from:</a:t>
            </a:r>
          </a:p>
          <a:p>
            <a:pPr lvl="1"/>
            <a:r>
              <a:rPr lang="en-US" dirty="0"/>
              <a:t>storage services</a:t>
            </a:r>
          </a:p>
          <a:p>
            <a:pPr lvl="1"/>
            <a:r>
              <a:rPr lang="en-US" dirty="0"/>
              <a:t>compute services</a:t>
            </a:r>
          </a:p>
          <a:p>
            <a:pPr lvl="1"/>
            <a:r>
              <a:rPr lang="en-US" dirty="0"/>
              <a:t>messaging services</a:t>
            </a:r>
          </a:p>
          <a:p>
            <a:r>
              <a:rPr lang="en-US" dirty="0"/>
              <a:t>Heavy use of standardized APIs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B731F-C6BA-326D-63A5-631CA766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A0903-ED47-8831-3AAD-818AA94A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8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4E58-8AEA-17AA-BD19-4D3F643C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1BD-6BFC-90DD-08AB-6B0E4172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DAADD-1122-6EDB-E224-FC232EA7F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evolves through continuous refinement</a:t>
            </a:r>
          </a:p>
          <a:p>
            <a:r>
              <a:rPr lang="en-US" dirty="0"/>
              <a:t>Requirements emerge over time</a:t>
            </a:r>
          </a:p>
          <a:p>
            <a:r>
              <a:rPr lang="en-US" dirty="0"/>
              <a:t>Early versions used to gather feedback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idea:</a:t>
            </a:r>
          </a:p>
          <a:p>
            <a:r>
              <a:rPr lang="en-US" dirty="0"/>
              <a:t>Learn from real usage, not assumptions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719C2-682D-2624-212D-830FD460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F0DB5-AF1B-0D83-A43D-65BEF6C4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06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A317B-421F-918E-5DC5-6B9E4A33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A0B7-5AF3-E0F0-A3FF-C2837D68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Development: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7430D-4857-2C54-32A3-68485BED7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Online platforms and social networks</a:t>
            </a:r>
          </a:p>
          <a:p>
            <a:r>
              <a:rPr lang="en-US" dirty="0"/>
              <a:t>Start with a Minimum Viable Product (MVP)</a:t>
            </a:r>
          </a:p>
          <a:p>
            <a:endParaRPr lang="en-US" dirty="0"/>
          </a:p>
          <a:p>
            <a:r>
              <a:rPr lang="en-US" dirty="0"/>
              <a:t>Features evolve based on:</a:t>
            </a:r>
          </a:p>
          <a:p>
            <a:pPr lvl="1"/>
            <a:r>
              <a:rPr lang="en-US" dirty="0"/>
              <a:t>user feedback</a:t>
            </a:r>
          </a:p>
          <a:p>
            <a:pPr lvl="1"/>
            <a:r>
              <a:rPr lang="en-US" dirty="0"/>
              <a:t>usage analytics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5D650-85B9-5CD6-E119-2475859B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7DEA6-BB2E-7DB4-E1A6-99916104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08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278E-F34B-0320-D133-21CC391F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E62DF-C3AE-6B53-BD05-3888E687D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Iterative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5D48-BEBF-EB36-CB67-589DF9D0A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Incremental, component-based, and evolutionary approaches overlap</a:t>
            </a:r>
          </a:p>
          <a:p>
            <a:r>
              <a:rPr lang="en-US" dirty="0"/>
              <a:t>Many organizations adopt hybrid solutions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Shared goals:</a:t>
            </a:r>
          </a:p>
          <a:p>
            <a:r>
              <a:rPr lang="en-US" dirty="0"/>
              <a:t>Continuous feedback</a:t>
            </a:r>
          </a:p>
          <a:p>
            <a:r>
              <a:rPr lang="en-US" dirty="0"/>
              <a:t>Incremental value</a:t>
            </a:r>
          </a:p>
          <a:p>
            <a:r>
              <a:rPr lang="en-US" dirty="0"/>
              <a:t>Proactive risk management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D5801-44ED-CC0B-539A-3F3D550C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4D62F-8182-CF9F-F999-0E1FF7A6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94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9730-532A-623B-52B5-0245EE97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AE96-B7B6-0E1F-1CEE-A4797FE7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EF08-ED4A-1120-C9C5-A8C232E27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Emerged in early 2000s</a:t>
            </a:r>
          </a:p>
          <a:p>
            <a:r>
              <a:rPr lang="en-US" dirty="0"/>
              <a:t>Designed for:</a:t>
            </a:r>
          </a:p>
          <a:p>
            <a:pPr lvl="1"/>
            <a:r>
              <a:rPr lang="en-US" dirty="0"/>
              <a:t>frequent change</a:t>
            </a:r>
          </a:p>
          <a:p>
            <a:pPr lvl="1"/>
            <a:r>
              <a:rPr lang="en-US" dirty="0"/>
              <a:t>fast feedback</a:t>
            </a:r>
          </a:p>
          <a:p>
            <a:pPr lvl="1"/>
            <a:r>
              <a:rPr lang="en-US" dirty="0"/>
              <a:t>close collaboration</a:t>
            </a:r>
          </a:p>
          <a:p>
            <a:r>
              <a:rPr lang="en-US" dirty="0"/>
              <a:t>Rooted in earlier iterative ideas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5555A-A84B-177A-E0A8-F8CD1302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7E5DC-FB5A-D267-A54D-32D842A2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89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F8EEB-9B2B-7166-1C07-B9255F11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DD07-CDCA-5E71-5D68-EEBADDD3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Philosophy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C4FEE-CB96-9D12-C764-86E6AB5A7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Individuals and interactions over processes</a:t>
            </a:r>
          </a:p>
          <a:p>
            <a:r>
              <a:rPr lang="en-US" dirty="0"/>
              <a:t>Working software over documentation</a:t>
            </a:r>
          </a:p>
          <a:p>
            <a:r>
              <a:rPr lang="en-US" dirty="0"/>
              <a:t>Customer collaboration over contract negotiation</a:t>
            </a:r>
          </a:p>
          <a:p>
            <a:r>
              <a:rPr lang="en-US" dirty="0"/>
              <a:t>Responding to change over following a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3E244-8082-B4EB-380B-E6467E9E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3BE6-F443-D0BD-5577-EBAB23B8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47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052A-389D-85AD-E147-49D13150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3469-B078-1184-64BD-42E6BA0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Principles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E03C-B57D-6EC4-8416-EF154B54D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and continuous delivery</a:t>
            </a:r>
          </a:p>
          <a:p>
            <a:r>
              <a:rPr lang="en-US" dirty="0"/>
              <a:t>Frequent releases</a:t>
            </a:r>
          </a:p>
          <a:p>
            <a:r>
              <a:rPr lang="en-US" dirty="0"/>
              <a:t>Close collaboration</a:t>
            </a:r>
          </a:p>
          <a:p>
            <a:r>
              <a:rPr lang="en-US" dirty="0"/>
              <a:t>Technical excellence</a:t>
            </a:r>
          </a:p>
          <a:p>
            <a:r>
              <a:rPr lang="en-US" dirty="0"/>
              <a:t>Continuous reflection and improvement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52151-FF75-806E-C523-6D7DD8F3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37D20-7C9F-34CB-A280-6B007930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36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6C16-2BE7-A502-D22E-C147A8D1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3605-43FE-5C3E-C129-6CC34732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Frameworks: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71E5-D1B1-D2A8-F9F8-DE687C545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philosophy does not prescribe a single process</a:t>
            </a:r>
          </a:p>
          <a:p>
            <a:r>
              <a:rPr lang="en-US" dirty="0"/>
              <a:t>Frameworks provide:</a:t>
            </a:r>
          </a:p>
          <a:p>
            <a:pPr lvl="1"/>
            <a:r>
              <a:rPr lang="en-US" dirty="0"/>
              <a:t>structure</a:t>
            </a:r>
          </a:p>
          <a:p>
            <a:pPr lvl="1"/>
            <a:r>
              <a:rPr lang="en-US" dirty="0"/>
              <a:t>roles</a:t>
            </a:r>
          </a:p>
          <a:p>
            <a:pPr lvl="1"/>
            <a:r>
              <a:rPr lang="en-US" dirty="0"/>
              <a:t>coordination mechanisms</a:t>
            </a:r>
          </a:p>
          <a:p>
            <a:r>
              <a:rPr lang="en-US" dirty="0"/>
              <a:t>Different emphasis depending on context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BB203-EBCA-8DC4-1277-007CA8BD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E8149-924E-6A72-C2EF-0614BCA1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98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16187-907E-EE7F-D9E8-DAC2CA33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00D9-5389-4A33-212A-D497A299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04857-BC03-A01A-6D81-EFA05E1E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Iterative development through fixed-length sprints</a:t>
            </a:r>
          </a:p>
          <a:p>
            <a:r>
              <a:rPr lang="en-US" dirty="0"/>
              <a:t>Key roles:</a:t>
            </a:r>
          </a:p>
          <a:p>
            <a:pPr lvl="1"/>
            <a:r>
              <a:rPr lang="en-US" dirty="0"/>
              <a:t>Product Owner</a:t>
            </a:r>
          </a:p>
          <a:p>
            <a:pPr lvl="1"/>
            <a:r>
              <a:rPr lang="en-US" dirty="0"/>
              <a:t>Scrum Master</a:t>
            </a:r>
          </a:p>
          <a:p>
            <a:pPr lvl="1"/>
            <a:r>
              <a:rPr lang="en-US" dirty="0"/>
              <a:t>Development Team</a:t>
            </a:r>
          </a:p>
          <a:p>
            <a:r>
              <a:rPr lang="en-US" dirty="0"/>
              <a:t>Regular events:</a:t>
            </a:r>
          </a:p>
          <a:p>
            <a:pPr lvl="1"/>
            <a:r>
              <a:rPr lang="en-US" dirty="0"/>
              <a:t>Sprint planning</a:t>
            </a:r>
          </a:p>
          <a:p>
            <a:pPr lvl="1"/>
            <a:r>
              <a:rPr lang="en-US" dirty="0"/>
              <a:t>Daily scrum</a:t>
            </a:r>
          </a:p>
          <a:p>
            <a:pPr lvl="1"/>
            <a:r>
              <a:rPr lang="en-US" dirty="0"/>
              <a:t>Review</a:t>
            </a:r>
          </a:p>
          <a:p>
            <a:pPr lvl="1"/>
            <a:r>
              <a:rPr lang="en-US" dirty="0"/>
              <a:t>Retrospective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5D1FD-92B1-6BFB-CA53-547DBFC7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A5EAF-D79B-7BFB-AB0D-E798E207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5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76B6-2199-0515-0558-8A668AE2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1042-90F3-B396-9DF2-58A7E5BB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7524-F602-D500-2280-00AF5033A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on continuous flow rather than iterations</a:t>
            </a:r>
          </a:p>
          <a:p>
            <a:r>
              <a:rPr lang="en-US" dirty="0"/>
              <a:t>Work visualized on a board</a:t>
            </a:r>
          </a:p>
          <a:p>
            <a:r>
              <a:rPr lang="en-US" dirty="0"/>
              <a:t>Explicit limits on Work In Progress (WIP)</a:t>
            </a:r>
          </a:p>
          <a:p>
            <a:r>
              <a:rPr lang="en-US" dirty="0"/>
              <a:t>Bottlenecks made visible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13597-438F-774A-F0F3-B75E586B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1B7BD-6023-6D3F-4015-32E6B58F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9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A6CF-A988-5DA8-2FEA-B07210ED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0941-AEF4-BC3D-79AC-23A50B02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 (XP)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0D2C-B0BD-AC68-B0E5-2996FCB5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Agile methodology with strong engineering focus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practices:</a:t>
            </a:r>
          </a:p>
          <a:p>
            <a:r>
              <a:rPr lang="en-US" dirty="0"/>
              <a:t>Test-Driven Development</a:t>
            </a:r>
          </a:p>
          <a:p>
            <a:r>
              <a:rPr lang="en-US" dirty="0"/>
              <a:t>Pair programming</a:t>
            </a:r>
          </a:p>
          <a:p>
            <a:r>
              <a:rPr lang="en-US" dirty="0"/>
              <a:t>Continuous integration</a:t>
            </a:r>
          </a:p>
          <a:p>
            <a:r>
              <a:rPr lang="en-US" dirty="0"/>
              <a:t>Refactoring</a:t>
            </a:r>
          </a:p>
          <a:p>
            <a:endParaRPr lang="en-US" dirty="0"/>
          </a:p>
          <a:p>
            <a:r>
              <a:rPr lang="en-US" dirty="0"/>
              <a:t>Emphasis on code quality and discipline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A0E1B-3DA3-5965-8CC3-AF84E63B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DD5B4-7DED-EA90-874B-97EFA11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43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A4AD-8FF8-B0A5-4A93-05BF6849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DD13-6F6F-9FEE-6C20-4876105ED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F75D-5A14-5648-7888-26B55ED5D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Lean Software Development</a:t>
            </a:r>
          </a:p>
          <a:p>
            <a:r>
              <a:rPr lang="en-US" dirty="0"/>
              <a:t>Crystal methods</a:t>
            </a:r>
          </a:p>
          <a:p>
            <a:r>
              <a:rPr lang="en-US" dirty="0"/>
              <a:t>Feature-Driven Development (FDD)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theme:</a:t>
            </a:r>
          </a:p>
          <a:p>
            <a:r>
              <a:rPr lang="en-US" dirty="0"/>
              <a:t>Tailor the process to project context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0A1C4-5B95-3ED0-F432-2D47A5C7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9F363-4A77-7986-81B3-1D2FFBF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66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6DFD-5CDB-0C21-B2A4-B36CA7C8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E0E0-F8ED-4AB5-07BC-62A899A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Practices: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E64F8-2BB7-6655-5DEA-C3ECB2E30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Lightweight and incremental requirements management</a:t>
            </a:r>
          </a:p>
          <a:p>
            <a:r>
              <a:rPr lang="en-US" dirty="0"/>
              <a:t>User stories:</a:t>
            </a:r>
          </a:p>
          <a:p>
            <a:pPr lvl="1"/>
            <a:r>
              <a:rPr lang="en-US" dirty="0"/>
              <a:t>express needs from user perspective</a:t>
            </a:r>
          </a:p>
          <a:p>
            <a:r>
              <a:rPr lang="en-US" dirty="0"/>
              <a:t>Backlog:</a:t>
            </a:r>
          </a:p>
          <a:p>
            <a:pPr lvl="1"/>
            <a:r>
              <a:rPr lang="en-US" dirty="0"/>
              <a:t>prioritized</a:t>
            </a:r>
          </a:p>
          <a:p>
            <a:pPr lvl="1"/>
            <a:r>
              <a:rPr lang="en-US" dirty="0"/>
              <a:t>continuously evolving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B9D83-346D-3D9C-BBC2-C13909899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E3317-FB3B-989B-4445-04B26BC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2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EE8F8-1541-5E69-9DC6-77DD3389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2301-1F40-08B0-BF9E-62B42BB4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Practices: Planning and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526EE-1B54-8EB7-8791-8DC3297A2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Short-term planning</a:t>
            </a:r>
          </a:p>
          <a:p>
            <a:r>
              <a:rPr lang="en-US" dirty="0"/>
              <a:t>Continuous monitoring and adaptation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elements:</a:t>
            </a:r>
          </a:p>
          <a:p>
            <a:r>
              <a:rPr lang="en-US" dirty="0"/>
              <a:t>Sprints</a:t>
            </a:r>
          </a:p>
          <a:p>
            <a:r>
              <a:rPr lang="en-US" dirty="0"/>
              <a:t>Daily stand-ups</a:t>
            </a:r>
          </a:p>
          <a:p>
            <a:r>
              <a:rPr lang="en-US" dirty="0"/>
              <a:t>Reviews and retrospectives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6AF34-1972-7AD7-2283-101C32BC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BC55-31D3-72B1-EFE7-9162B175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98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657F-3302-9E19-3097-77D77B0C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77E3-7D16-C4A4-3953-FC12C8A2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Practices: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22E71-5A90-2C4D-054C-01B894FBC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Technical excellence as an enabler of agility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Core practices:</a:t>
            </a:r>
          </a:p>
          <a:p>
            <a:r>
              <a:rPr lang="en-US" dirty="0"/>
              <a:t>Test-Driven Development</a:t>
            </a:r>
          </a:p>
          <a:p>
            <a:r>
              <a:rPr lang="en-US" dirty="0"/>
              <a:t>refactoring</a:t>
            </a:r>
          </a:p>
          <a:p>
            <a:r>
              <a:rPr lang="en-US" dirty="0"/>
              <a:t>clean code</a:t>
            </a:r>
          </a:p>
          <a:p>
            <a:r>
              <a:rPr lang="en-US" dirty="0"/>
              <a:t>continuous code review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9832F-D6FC-C30D-4559-FA4DAD8B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223E7-6DE1-8269-3C17-95EBFDEF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6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2D15-A2FC-8703-A33A-8A3F3988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0D1B-D688-5989-2D69-7AFDB410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Agile to 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99AA7-2A5C-C732-E96E-7DCADBBAA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reduced gap between business and development</a:t>
            </a:r>
          </a:p>
          <a:p>
            <a:r>
              <a:rPr lang="en-US" dirty="0"/>
              <a:t>Gap between development and operations remained</a:t>
            </a:r>
          </a:p>
          <a:p>
            <a:r>
              <a:rPr lang="en-US" dirty="0"/>
              <a:t>DevOps emerged to remove this silo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idea:</a:t>
            </a:r>
          </a:p>
          <a:p>
            <a:r>
              <a:rPr lang="en-US" dirty="0"/>
              <a:t>Teams build and run their software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2399D-E2EC-EFEA-E9F6-AC33BF47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6AA13-9F63-5AEC-A395-F479C2CC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53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B53AC-141B-0EF9-1420-17B265BF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141D-7153-C35A-D972-B22E27C2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B314F-B717-E591-D2A4-C04004858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Collaboration across development and operations</a:t>
            </a:r>
          </a:p>
          <a:p>
            <a:r>
              <a:rPr lang="en-US" dirty="0"/>
              <a:t>Strong emphasis on automation</a:t>
            </a:r>
          </a:p>
          <a:p>
            <a:r>
              <a:rPr lang="en-US" dirty="0"/>
              <a:t>Continuous delivery of value</a:t>
            </a:r>
          </a:p>
          <a:p>
            <a:r>
              <a:rPr lang="en-US" dirty="0"/>
              <a:t>Feedback from production to development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9D334-7DF2-983A-EED4-50126F9A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322AC-07D7-C6B5-9E9C-DB5903F3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94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5E86-552F-BDC7-2315-3A737BF8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6FA0-04FC-702A-CA83-E911827A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DevOps: The Three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7B28F-687E-A78A-A0DD-47F8CDEF9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Systems thinking and flow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Amplified feedback loops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Continuous experimentation and learning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B239B-EC80-AE05-6D96-A067C3D7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8F053-E6BD-AE01-55BA-7AFC5704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23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225E5-9F02-2E11-EA4F-1197ED9B5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7567-630C-472F-9485-B3869FFD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DevSecOps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690A-9DD8-4006-7D66-076C4988E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integrated into the development pipeline</a:t>
            </a:r>
          </a:p>
          <a:p>
            <a:r>
              <a:rPr lang="en-US" dirty="0"/>
              <a:t>Automated security checks:</a:t>
            </a:r>
          </a:p>
          <a:p>
            <a:pPr lvl="1"/>
            <a:r>
              <a:rPr lang="en-US" dirty="0"/>
              <a:t>SAST</a:t>
            </a:r>
          </a:p>
          <a:p>
            <a:pPr lvl="1"/>
            <a:r>
              <a:rPr lang="en-US" dirty="0"/>
              <a:t>DAST</a:t>
            </a:r>
          </a:p>
          <a:p>
            <a:pPr lvl="1"/>
            <a:r>
              <a:rPr lang="en-US" dirty="0"/>
              <a:t>Dependency analysis</a:t>
            </a:r>
          </a:p>
          <a:p>
            <a:r>
              <a:rPr lang="en-US" dirty="0"/>
              <a:t>Security as a shared responsibility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EE11F-5597-7645-13EF-D4EE4262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D4C89-8B89-64BD-E4EB-7162BE07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89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1F70-754E-E139-C595-95391F8B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01AF-B3AC-5FE8-62B9-AC938A6D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8BDD6-2667-5339-C0E8-74299FD00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Extreme automation of operations</a:t>
            </a:r>
          </a:p>
          <a:p>
            <a:r>
              <a:rPr lang="en-US" dirty="0"/>
              <a:t>Infrastructure abstracted by platforms</a:t>
            </a:r>
          </a:p>
          <a:p>
            <a:r>
              <a:rPr lang="en-US" dirty="0"/>
              <a:t>Enabled by:</a:t>
            </a:r>
          </a:p>
          <a:p>
            <a:pPr lvl="1"/>
            <a:r>
              <a:rPr lang="en-US" dirty="0"/>
              <a:t>Serverless computing</a:t>
            </a:r>
          </a:p>
          <a:p>
            <a:pPr lvl="1"/>
            <a:r>
              <a:rPr lang="en-US" dirty="0"/>
              <a:t>Managed cloud services</a:t>
            </a:r>
          </a:p>
          <a:p>
            <a:r>
              <a:rPr lang="en-US" dirty="0"/>
              <a:t>Developers focus mainly on business logic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024CD-36C9-BE1A-0293-09D1B226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73FCC-44F4-9E26-8BCC-1FFD2126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75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519D-280A-E59A-1894-A0B313C4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F0FC-AD30-394A-EF82-3403D84D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Life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3882-C463-CBED-A6BB-B7B0B34C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Life cycles form a spectrum:</a:t>
            </a:r>
          </a:p>
          <a:p>
            <a:r>
              <a:rPr lang="en-US" dirty="0"/>
              <a:t>Waterfall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Iterative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Agile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DevOps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Trade-off between:</a:t>
            </a:r>
          </a:p>
          <a:p>
            <a:r>
              <a:rPr lang="en-US" dirty="0"/>
              <a:t>Predictability</a:t>
            </a:r>
          </a:p>
          <a:p>
            <a:r>
              <a:rPr lang="en-US" dirty="0"/>
              <a:t>Adaptability</a:t>
            </a:r>
          </a:p>
          <a:p>
            <a:r>
              <a:rPr lang="en-US" dirty="0"/>
              <a:t>Speed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B16DA-BC10-B681-49C7-A81F12AA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1E985-3220-EF80-095B-75181832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26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A42A8-0854-0FB2-5E4D-8DC0E351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D19A-8EB0-ACE9-CB5A-39238B2C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Choosing the Right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F8DD-5938-B05A-5106-DCA76C7AE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Depends on:</a:t>
            </a:r>
          </a:p>
          <a:p>
            <a:r>
              <a:rPr lang="en-US" dirty="0"/>
              <a:t>Domain</a:t>
            </a:r>
          </a:p>
          <a:p>
            <a:r>
              <a:rPr lang="en-US" dirty="0"/>
              <a:t>Requirements volatility</a:t>
            </a:r>
          </a:p>
          <a:p>
            <a:r>
              <a:rPr lang="en-US" dirty="0"/>
              <a:t>Team structure</a:t>
            </a:r>
          </a:p>
          <a:p>
            <a:r>
              <a:rPr lang="en-US" dirty="0"/>
              <a:t>Organizational culture</a:t>
            </a:r>
          </a:p>
          <a:p>
            <a:endParaRPr lang="en-US" dirty="0"/>
          </a:p>
          <a:p>
            <a:r>
              <a:rPr lang="en-US" dirty="0"/>
              <a:t>Process choice is an engineering decision, not a trend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35937-4CF8-17CE-93A4-B53C3508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90803-7A49-7A66-335F-97019121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35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EC6-0C40-0354-F9E8-6879A8F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11C-1D4C-BD13-BCBB-41A01B7A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3D28F1-6F72-DE01-DBA8-BE484553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 cycles evolved to manage complexity and change</a:t>
            </a:r>
          </a:p>
          <a:p>
            <a:r>
              <a:rPr lang="en-US" dirty="0"/>
              <a:t>No single best solution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Effective software engineering requires:</a:t>
            </a:r>
          </a:p>
          <a:p>
            <a:r>
              <a:rPr lang="en-US" dirty="0"/>
              <a:t>Contextual analysis</a:t>
            </a:r>
          </a:p>
          <a:p>
            <a:r>
              <a:rPr lang="en-US" dirty="0"/>
              <a:t>Pragmatic choices</a:t>
            </a:r>
          </a:p>
          <a:p>
            <a:r>
              <a:rPr lang="en-US" dirty="0"/>
              <a:t>C</a:t>
            </a:r>
            <a:r>
              <a:rPr lang="en-US"/>
              <a:t>ontinuous </a:t>
            </a:r>
            <a:r>
              <a:rPr lang="en-US" dirty="0"/>
              <a:t>learning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5FD-40EB-1C8B-0BAB-C3D01A1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en-GB" dirty="0"/>
              <a:t>Chapter 22 -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B82C-5867-96A9-5D54-326A9A4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2416</Words>
  <Application>Microsoft Macintosh PowerPoint</Application>
  <PresentationFormat>Widescreen</PresentationFormat>
  <Paragraphs>297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Wingdings</vt:lpstr>
      <vt:lpstr>Office Theme</vt:lpstr>
      <vt:lpstr>Chapter 22: Modern Software Life Cycles</vt:lpstr>
      <vt:lpstr>Modern Software Lifecycles</vt:lpstr>
      <vt:lpstr>Learning Objectives</vt:lpstr>
      <vt:lpstr>Software Life Cycles: Overview</vt:lpstr>
      <vt:lpstr>Historical Perspective</vt:lpstr>
      <vt:lpstr>Waterfall Model</vt:lpstr>
      <vt:lpstr>From Waterfall to Iteration</vt:lpstr>
      <vt:lpstr>Iterative Approaches: Common Principles</vt:lpstr>
      <vt:lpstr>Incremental Development</vt:lpstr>
      <vt:lpstr>Incremental Development: Example</vt:lpstr>
      <vt:lpstr>Component-Based Development</vt:lpstr>
      <vt:lpstr>Component-Based Development: Example</vt:lpstr>
      <vt:lpstr>Evolutionary Development</vt:lpstr>
      <vt:lpstr>Evolutionary Development: Example</vt:lpstr>
      <vt:lpstr>Integrating Iterative Approaches</vt:lpstr>
      <vt:lpstr>The Agile Movement</vt:lpstr>
      <vt:lpstr>Agile Philosophy and Values</vt:lpstr>
      <vt:lpstr>Agile Principles (Summary)</vt:lpstr>
      <vt:lpstr>Agile Frameworks: Purpose</vt:lpstr>
      <vt:lpstr>Scrum</vt:lpstr>
      <vt:lpstr>Kanban</vt:lpstr>
      <vt:lpstr>Extreme Programming (XP)</vt:lpstr>
      <vt:lpstr>Other Agile Frameworks</vt:lpstr>
      <vt:lpstr>Agile Practices: Requirements</vt:lpstr>
      <vt:lpstr>Agile Practices: Planning and Monitoring</vt:lpstr>
      <vt:lpstr>Agile Practices: Development</vt:lpstr>
      <vt:lpstr>From Agile to DevOps</vt:lpstr>
      <vt:lpstr>DevOps Principles</vt:lpstr>
      <vt:lpstr>DevOps: The Three Ways</vt:lpstr>
      <vt:lpstr>DevSecOps</vt:lpstr>
      <vt:lpstr>NoOps</vt:lpstr>
      <vt:lpstr>Comparing Life Cycles</vt:lpstr>
      <vt:lpstr>Choosing the Right Life Cycle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Damian Andrew Tamburri</cp:lastModifiedBy>
  <cp:revision>151</cp:revision>
  <dcterms:created xsi:type="dcterms:W3CDTF">2025-05-15T11:20:47Z</dcterms:created>
  <dcterms:modified xsi:type="dcterms:W3CDTF">2026-01-27T13:20:29Z</dcterms:modified>
</cp:coreProperties>
</file>