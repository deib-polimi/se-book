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9" r:id="rId3"/>
    <p:sldId id="329" r:id="rId4"/>
    <p:sldId id="330" r:id="rId5"/>
    <p:sldId id="331" r:id="rId6"/>
    <p:sldId id="332" r:id="rId7"/>
    <p:sldId id="333" r:id="rId8"/>
    <p:sldId id="334" r:id="rId9"/>
    <p:sldId id="335" r:id="rId10"/>
    <p:sldId id="336" r:id="rId11"/>
    <p:sldId id="337" r:id="rId12"/>
    <p:sldId id="338" r:id="rId13"/>
    <p:sldId id="339" r:id="rId14"/>
    <p:sldId id="340" r:id="rId15"/>
    <p:sldId id="341" r:id="rId16"/>
    <p:sldId id="342" r:id="rId17"/>
    <p:sldId id="344" r:id="rId18"/>
    <p:sldId id="345" r:id="rId19"/>
    <p:sldId id="347" r:id="rId20"/>
    <p:sldId id="346" r:id="rId21"/>
    <p:sldId id="348" r:id="rId22"/>
    <p:sldId id="350" r:id="rId23"/>
    <p:sldId id="351" r:id="rId24"/>
    <p:sldId id="354" r:id="rId25"/>
    <p:sldId id="352" r:id="rId26"/>
    <p:sldId id="353" r:id="rId27"/>
    <p:sldId id="268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11CC26-0DDC-F74C-9610-A5AFC3939A25}" v="107" dt="2025-10-14T21:31:43.6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012"/>
    <p:restoredTop sz="94614"/>
  </p:normalViewPr>
  <p:slideViewPr>
    <p:cSldViewPr snapToGrid="0">
      <p:cViewPr varScale="1">
        <p:scale>
          <a:sx n="104" d="100"/>
          <a:sy n="104" d="100"/>
        </p:scale>
        <p:origin x="232" y="1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1A6552-0A6C-D244-A2C8-B478F33B238A}" type="datetimeFigureOut">
              <a:rPr lang="en-US" smtClean="0"/>
              <a:t>1/7/26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740C50-DB3F-694F-A5EA-834EAC917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306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3BC2B-6CDA-72E2-229B-18DEF391FA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6613BC-7CB8-5A38-CD30-2C58A648B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7053D-FB66-9EF0-41B9-05675F1D8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5E4A305-5980-51C4-00CE-A1E53A478C1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2797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7765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9C6C1-E6BA-4617-CEA1-A46333E5B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A5070-78BD-D7FC-3836-A86EAF520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56B37-1922-E8D3-885A-1BEDCB2C3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EE563-D749-E1BC-79F7-18DBB9ADC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C708C23-44BA-83EE-805A-FA7D5AC43C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6067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653B9-9588-F242-424C-FCBB884F6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0FA4E-8AC2-FBC2-6505-59158EC90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E71F0-A64A-9841-1C40-6F5056C75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3019A-A54C-4805-AC3B-89DFDA94F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F74D2014-878F-FF20-787E-1D8B6C11D57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8161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4EC80-0B57-11D7-6A08-DA72C26DB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99C45-27E0-950B-DC56-2883613570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FFEE44-6404-140F-5A0B-666C29959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3AA74-7D0B-6A68-C6F1-58669BD5E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435119-2D05-18ED-1F86-7B52DBC90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32EB2575-90E9-434C-12F2-9D918266825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1792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79FF7-A942-3ABB-E89F-C11FE71A6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B25CB-87EE-7F13-C2E5-98AEFE3A0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61A3B3-B0C2-D253-5839-21704BC92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F3FF5C-DC76-BE96-FF09-1D64C4C206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E43628-B25A-5FA2-726A-C013AEF1F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6CB1D8-8615-69BE-A5AC-84686035C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28A28F-B43E-6906-568E-3DE2F621C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25503364-8263-0069-3E15-E53AA0FF60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0937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300EA-D986-DFE9-8606-5412B2504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319164-4796-E83E-B99E-763DDB92E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81A88B-6D57-DFC8-99F7-A2961B377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2E864F53-95E2-27F6-7EA4-B017856047C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3959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42A436-0A8C-6244-CE2E-050985EC4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07374-4A63-ABE6-3E1E-6AAAA27B4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8B43AA4-1E44-6DFE-BF73-0153DA219E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8483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78E67-882E-9559-4DC2-620237B00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7F3FA-6A4E-B9A6-59F4-5716FADED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CB5F38-CD1E-152F-206F-9B75CE019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D44107-E234-3C60-AC0C-094462929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06735C-C2AF-213F-7E15-6C8911E07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E46854FA-170D-685D-1287-0C3212C8DC4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8252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652A8-28B3-1332-FFCA-4F93330C2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6512B4-F468-3058-3490-9303023C0F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A5CBC0-DBE9-B3FB-9FD1-DD37BA890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C05A0-55BA-F897-9634-005771C15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E172D-4AC8-7CF1-F3B6-457AA8651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EE73371F-ED2D-3D2D-E868-196FF8A3C5F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9423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B8E8-F679-8710-D25A-4D0574896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589DAA-8279-691A-D5BF-F5C892E671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C9042-AEE3-BD22-0364-B68E58C92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EF517-351F-E660-6564-F4A1D829F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E88B0B06-D280-3222-7446-AB54F002D4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4671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4BD917-C4A5-7822-91C2-F4F96DE15A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E0A98C-EF04-BC3B-CF4A-B93A2E36E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9D545-B6AE-6057-9E2E-C7C224667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A4EF9-342D-74DD-C592-195AD2BAD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207AFF0-B925-74CB-DFC0-13BDE847CAF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4004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F49B1-067C-B555-26D2-ABA3FE399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BAAED-978F-CD12-11C3-500EA5002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F1C8E-C17C-A942-A064-333E0C9695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199" y="6356350"/>
            <a:ext cx="76996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it-IT"/>
              <a:t>Chapter 7 -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FB1A4-8411-5ABB-AC32-FD865BAB7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5802" y="6356350"/>
            <a:ext cx="10179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785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C8E8F-6B80-712E-4BC4-802945BDC2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Chapter 16: </a:t>
            </a:r>
            <a:br>
              <a:rPr lang="en-GB" dirty="0"/>
            </a:br>
            <a:r>
              <a:rPr lang="en-GB" dirty="0"/>
              <a:t>Software Analysis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62A6B-8524-A31B-0489-93460027EC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Summary slides from</a:t>
            </a:r>
            <a:br>
              <a:rPr lang="en-GB" dirty="0"/>
            </a:br>
            <a:r>
              <a:rPr lang="en-GB" dirty="0"/>
              <a:t>M. Camilli, E. Di Nitto, A. Fuggetta, </a:t>
            </a:r>
            <a:br>
              <a:rPr lang="en-GB" dirty="0"/>
            </a:br>
            <a:r>
              <a:rPr lang="en-GB" dirty="0"/>
              <a:t>A. Margara, M.G. Rossi, D.A. Tamburri. Software Engineering: a Structured Journey from Inception to Delivery. BUP 2025.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450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Analysis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002517" cy="4351338"/>
          </a:xfrm>
        </p:spPr>
        <p:txBody>
          <a:bodyPr/>
          <a:lstStyle/>
          <a:p>
            <a:r>
              <a:rPr lang="en-GB" b="1" dirty="0"/>
              <a:t>Chapter 16</a:t>
            </a:r>
          </a:p>
          <a:p>
            <a:r>
              <a:rPr lang="en-GB" b="1" dirty="0"/>
              <a:t>Focus</a:t>
            </a:r>
            <a:r>
              <a:rPr lang="en-GB" dirty="0"/>
              <a:t>: static analysis, data-flow analysis, symbolic execution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EA63C-1FBB-4436-9082-3A2E9D519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16 -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346A0E-47BD-D559-F37B-1AAC951E0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4663F6-D297-735B-CDC9-15944492D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7817" y="1803177"/>
            <a:ext cx="2997872" cy="426398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8EDCD-2B6F-2A32-8B43-6B5F97AA2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99B23-A429-0E9F-1868-283F2D2FF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89E92-4550-381F-29AE-D48C85DC0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Explain the </a:t>
            </a:r>
            <a:r>
              <a:rPr lang="en-GB" b="1" dirty="0"/>
              <a:t>goals and limits of software analysis</a:t>
            </a:r>
          </a:p>
          <a:p>
            <a:r>
              <a:rPr lang="en-GB" dirty="0"/>
              <a:t>Distinguish </a:t>
            </a:r>
            <a:r>
              <a:rPr lang="en-GB" b="1" dirty="0"/>
              <a:t>manual vs automated analysis</a:t>
            </a:r>
          </a:p>
          <a:p>
            <a:r>
              <a:rPr lang="en-GB" dirty="0"/>
              <a:t>Understand </a:t>
            </a:r>
            <a:r>
              <a:rPr lang="en-GB" b="1" dirty="0"/>
              <a:t>static analysis principles</a:t>
            </a:r>
          </a:p>
          <a:p>
            <a:r>
              <a:rPr lang="en-GB" dirty="0"/>
              <a:t>Construct and reason about </a:t>
            </a:r>
            <a:r>
              <a:rPr lang="en-GB" b="1" dirty="0"/>
              <a:t>control-flow graphs </a:t>
            </a:r>
            <a:r>
              <a:rPr lang="en-GB" dirty="0"/>
              <a:t>(CFGs)</a:t>
            </a:r>
          </a:p>
          <a:p>
            <a:r>
              <a:rPr lang="en-GB" dirty="0"/>
              <a:t>Explain </a:t>
            </a:r>
            <a:r>
              <a:rPr lang="en-GB" b="1" dirty="0"/>
              <a:t>data-flow analysis </a:t>
            </a:r>
            <a:r>
              <a:rPr lang="en-GB" dirty="0"/>
              <a:t>(live variables, reaching definitions)</a:t>
            </a:r>
          </a:p>
          <a:p>
            <a:r>
              <a:rPr lang="en-GB" dirty="0"/>
              <a:t>Understand the intuition behind </a:t>
            </a:r>
            <a:r>
              <a:rPr lang="en-GB" b="1" dirty="0"/>
              <a:t>symbolic execution</a:t>
            </a:r>
            <a:endParaRPr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00241-99B9-0F2C-E412-1ADCB9A95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16 -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E6B19E-55DD-1267-D0BB-EDF0F8D63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902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E1ACC-78BD-4D11-4FA2-CC31BB5C5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D53F8-856D-C6D5-45C2-A4066B97B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Software Analysis?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A167D-9166-7947-66B0-0AA410E70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activity of examining software artifacts to infer properties</a:t>
            </a:r>
          </a:p>
          <a:p>
            <a:r>
              <a:rPr lang="en-GB" dirty="0"/>
              <a:t>Main targets:</a:t>
            </a:r>
          </a:p>
          <a:p>
            <a:pPr lvl="1"/>
            <a:r>
              <a:rPr lang="en-GB" dirty="0"/>
              <a:t>Code</a:t>
            </a:r>
          </a:p>
          <a:p>
            <a:pPr lvl="1"/>
            <a:r>
              <a:rPr lang="en-GB" dirty="0"/>
              <a:t>Models</a:t>
            </a:r>
          </a:p>
          <a:p>
            <a:r>
              <a:rPr lang="en-GB" dirty="0"/>
              <a:t>Key purpose:</a:t>
            </a:r>
          </a:p>
          <a:p>
            <a:pPr lvl="1"/>
            <a:r>
              <a:rPr lang="en-GB" dirty="0"/>
              <a:t>Support verification and validation</a:t>
            </a:r>
            <a:endParaRPr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55D702-4B5A-0DB2-8C30-B9F7B86CF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16 -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0FB13B-7CED-60F0-AF1A-756DF3AB0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635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92BFF-1BBC-E02C-FD05-F18B6307A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03A0B-20D1-C5B5-1575-CA5BEC374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Software Analysis Matters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916A8-0E02-F9E7-A391-6C1EA15FE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Testing alone is insufficient</a:t>
            </a:r>
          </a:p>
          <a:p>
            <a:r>
              <a:rPr lang="en-GB" dirty="0"/>
              <a:t>Analysis enables:</a:t>
            </a:r>
          </a:p>
          <a:p>
            <a:pPr lvl="1"/>
            <a:r>
              <a:rPr lang="en-GB" dirty="0"/>
              <a:t>Early defect detection</a:t>
            </a:r>
          </a:p>
          <a:p>
            <a:pPr lvl="1"/>
            <a:r>
              <a:rPr lang="en-GB" dirty="0"/>
              <a:t>Detection of </a:t>
            </a:r>
            <a:r>
              <a:rPr lang="en-GB" b="1" dirty="0"/>
              <a:t>potential</a:t>
            </a:r>
            <a:r>
              <a:rPr lang="en-GB" dirty="0"/>
              <a:t> </a:t>
            </a:r>
            <a:r>
              <a:rPr lang="en-GB" b="1" dirty="0"/>
              <a:t>errors</a:t>
            </a:r>
          </a:p>
          <a:p>
            <a:pPr lvl="1"/>
            <a:r>
              <a:rPr lang="en-GB" dirty="0"/>
              <a:t>Reasoning about </a:t>
            </a:r>
            <a:r>
              <a:rPr lang="en-GB" b="1" dirty="0"/>
              <a:t>all executions</a:t>
            </a:r>
            <a:r>
              <a:rPr lang="en-GB" dirty="0"/>
              <a:t>, not just sampled ones</a:t>
            </a:r>
          </a:p>
          <a:p>
            <a:r>
              <a:rPr lang="en-GB" dirty="0"/>
              <a:t>Essential for:</a:t>
            </a:r>
          </a:p>
          <a:p>
            <a:pPr lvl="1"/>
            <a:r>
              <a:rPr lang="en-GB" dirty="0"/>
              <a:t>(Safety-) critical systems</a:t>
            </a:r>
          </a:p>
          <a:p>
            <a:pPr lvl="1"/>
            <a:r>
              <a:rPr lang="en-GB" dirty="0"/>
              <a:t>Security</a:t>
            </a:r>
          </a:p>
          <a:p>
            <a:pPr lvl="1"/>
            <a:r>
              <a:rPr lang="en-GB" dirty="0"/>
              <a:t>Performance reasoning</a:t>
            </a:r>
            <a:endParaRPr lang="en-GB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960BC-9D8D-E2F2-5A85-CBB5163F7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16 -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245C86-2ADD-F45D-E26E-A2D84E2CC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910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6B52A-F854-B77C-AD8A-FFFAD78CB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32352-FA9D-C208-8B78-C5268C9C4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Principles of Software Analysis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7CF93-1EF9-F4C9-60E9-ECBCB4C65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Fundamental constraints:</a:t>
            </a:r>
          </a:p>
          <a:p>
            <a:pPr lvl="1"/>
            <a:r>
              <a:rPr lang="en-GB" dirty="0"/>
              <a:t>Programs have infinite or extremely large </a:t>
            </a:r>
            <a:r>
              <a:rPr lang="en-GB" dirty="0" err="1"/>
              <a:t>behaviors</a:t>
            </a:r>
            <a:endParaRPr lang="en-GB" dirty="0"/>
          </a:p>
          <a:p>
            <a:pPr lvl="1"/>
            <a:r>
              <a:rPr lang="en-GB" dirty="0"/>
              <a:t>Exact analysis is often undecidable</a:t>
            </a:r>
          </a:p>
          <a:p>
            <a:r>
              <a:rPr lang="en-GB" dirty="0"/>
              <a:t>Therefore:</a:t>
            </a:r>
          </a:p>
          <a:p>
            <a:pPr lvl="1"/>
            <a:r>
              <a:rPr lang="en-GB" dirty="0"/>
              <a:t>Analysis relies on abstractions</a:t>
            </a:r>
          </a:p>
          <a:p>
            <a:pPr lvl="1"/>
            <a:r>
              <a:rPr lang="en-GB" dirty="0"/>
              <a:t>Results are approximations</a:t>
            </a:r>
          </a:p>
          <a:p>
            <a:r>
              <a:rPr lang="en-GB" dirty="0"/>
              <a:t>Key trade-off:</a:t>
            </a:r>
          </a:p>
          <a:p>
            <a:pPr lvl="1"/>
            <a:r>
              <a:rPr lang="en-GB" b="1" dirty="0"/>
              <a:t>Precision vs Scalability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276D6-3539-3255-0D3F-8FA1EB996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16 -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CF5DB5-0CD1-E690-D85D-DEB01C49C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146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82E71-2284-5002-DBB2-F5B566A45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7247B-B5CE-6990-E19E-12A0486B1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Manual Software Analysis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66DF9-AF3F-C676-D23F-E9AACFECA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Human-driven examination of artifacts:</a:t>
            </a:r>
          </a:p>
          <a:p>
            <a:pPr lvl="1"/>
            <a:r>
              <a:rPr lang="en-GB" dirty="0"/>
              <a:t>Requires expertise</a:t>
            </a:r>
          </a:p>
          <a:p>
            <a:pPr lvl="1"/>
            <a:r>
              <a:rPr lang="en-GB" dirty="0"/>
              <a:t>Scales poorly</a:t>
            </a:r>
          </a:p>
          <a:p>
            <a:pPr lvl="1"/>
            <a:r>
              <a:rPr lang="en-GB" dirty="0"/>
              <a:t>High semantic understanding</a:t>
            </a:r>
          </a:p>
          <a:p>
            <a:r>
              <a:rPr lang="en-GB" dirty="0"/>
              <a:t>Used for:</a:t>
            </a:r>
          </a:p>
          <a:p>
            <a:pPr lvl="1"/>
            <a:r>
              <a:rPr lang="en-GB" dirty="0"/>
              <a:t>Design validation</a:t>
            </a:r>
          </a:p>
          <a:p>
            <a:pPr lvl="1"/>
            <a:r>
              <a:rPr lang="en-GB" dirty="0"/>
              <a:t>Critical code sections</a:t>
            </a:r>
          </a:p>
          <a:p>
            <a:pPr lvl="1"/>
            <a:r>
              <a:rPr lang="en-GB" dirty="0"/>
              <a:t>Process compliance</a:t>
            </a:r>
          </a:p>
          <a:p>
            <a:r>
              <a:rPr lang="en-GB" dirty="0"/>
              <a:t>Examples: code walkthroughs, code inspections, asynchronous code reviews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C3B93-6686-9F0B-9173-D3910540C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16 -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5E9C78-ED55-CE94-BF8E-E42B99A68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112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4C6B6-812B-7F10-D7A2-9D51F3B79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AAE8D-EDC5-8C68-BD60-031CEF926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Automated Software Analysis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1B9C0-0AE4-F428-2E1D-B5FEA69FD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err="1"/>
              <a:t>Analyzes</a:t>
            </a:r>
            <a:r>
              <a:rPr lang="en-GB" dirty="0"/>
              <a:t> programs </a:t>
            </a:r>
            <a:r>
              <a:rPr lang="en-GB" b="1" dirty="0"/>
              <a:t>without executing them</a:t>
            </a:r>
          </a:p>
          <a:p>
            <a:r>
              <a:rPr lang="en-GB" dirty="0"/>
              <a:t>Operates on:</a:t>
            </a:r>
          </a:p>
          <a:p>
            <a:pPr lvl="1"/>
            <a:r>
              <a:rPr lang="en-GB" dirty="0"/>
              <a:t>Source code</a:t>
            </a:r>
          </a:p>
          <a:p>
            <a:pPr lvl="1"/>
            <a:r>
              <a:rPr lang="en-GB" dirty="0"/>
              <a:t>Intermediate representations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D7122-2EED-DE96-012D-CA02BE377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16 -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036000-1DDE-7C32-E250-BC1BD91D7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021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34CBF-2C08-8500-1A80-BD89D9311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AE1BA-DEA3-D3CC-ADF9-F28435701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Automated Software Analysis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1C65E-ECEA-86F4-26C5-85AA0638C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err="1"/>
              <a:t>Analyzes</a:t>
            </a:r>
            <a:r>
              <a:rPr lang="en-GB" dirty="0"/>
              <a:t> programs </a:t>
            </a:r>
            <a:r>
              <a:rPr lang="en-GB" b="1" dirty="0"/>
              <a:t>without executing them</a:t>
            </a:r>
          </a:p>
          <a:p>
            <a:r>
              <a:rPr lang="en-GB" dirty="0"/>
              <a:t>Operates on:</a:t>
            </a:r>
          </a:p>
          <a:p>
            <a:pPr lvl="1"/>
            <a:r>
              <a:rPr lang="en-GB" dirty="0"/>
              <a:t>Source code</a:t>
            </a:r>
          </a:p>
          <a:p>
            <a:pPr lvl="1"/>
            <a:r>
              <a:rPr lang="en-GB" b="1" dirty="0"/>
              <a:t>Approximated</a:t>
            </a:r>
            <a:r>
              <a:rPr lang="en-GB" dirty="0"/>
              <a:t> representations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249A8-EDC5-D4CF-9F7D-6EB57EB63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16 -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318B57-C299-BAF8-8252-F82A1ABAC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76C946-F6BA-B073-B2BC-8795AE0D9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6795" y="3852396"/>
            <a:ext cx="7772400" cy="2324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197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43D02-F895-F4E9-0300-0347F1769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1F779-8AC2-7FBF-53E9-E1F965B81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Over- vs Under-Approximation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3027A-B817-B1D7-8C3C-497331C56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27022" cy="4351338"/>
          </a:xfrm>
        </p:spPr>
        <p:txBody>
          <a:bodyPr>
            <a:normAutofit/>
          </a:bodyPr>
          <a:lstStyle/>
          <a:p>
            <a:r>
              <a:rPr lang="en-GB" b="1" dirty="0"/>
              <a:t>Over</a:t>
            </a:r>
            <a:r>
              <a:rPr lang="en-GB" dirty="0"/>
              <a:t>-approximation</a:t>
            </a:r>
          </a:p>
          <a:p>
            <a:pPr lvl="1"/>
            <a:r>
              <a:rPr lang="en-GB" dirty="0"/>
              <a:t>Includes all real </a:t>
            </a:r>
            <a:r>
              <a:rPr lang="en-GB" dirty="0" err="1"/>
              <a:t>behaviors</a:t>
            </a:r>
            <a:r>
              <a:rPr lang="en-GB" dirty="0"/>
              <a:t> + some spurious ones</a:t>
            </a:r>
          </a:p>
          <a:p>
            <a:pPr lvl="1"/>
            <a:r>
              <a:rPr lang="en-GB" b="1" dirty="0"/>
              <a:t>Sound</a:t>
            </a:r>
            <a:r>
              <a:rPr lang="en-GB" dirty="0"/>
              <a:t>, but imprecise</a:t>
            </a:r>
          </a:p>
          <a:p>
            <a:r>
              <a:rPr lang="en-GB" dirty="0"/>
              <a:t>Under-approximation</a:t>
            </a:r>
          </a:p>
          <a:p>
            <a:pPr lvl="1"/>
            <a:r>
              <a:rPr lang="en-GB" dirty="0"/>
              <a:t>Misses some </a:t>
            </a:r>
            <a:r>
              <a:rPr lang="en-GB" dirty="0" err="1"/>
              <a:t>behaviors</a:t>
            </a:r>
            <a:endParaRPr lang="en-GB" dirty="0"/>
          </a:p>
          <a:p>
            <a:pPr lvl="1"/>
            <a:r>
              <a:rPr lang="en-GB" dirty="0"/>
              <a:t>Precise, but </a:t>
            </a:r>
            <a:r>
              <a:rPr lang="en-GB" b="1" dirty="0"/>
              <a:t>unsound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008E6-592A-162B-AE29-E82955877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16 -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C5A6CC-20BA-0DD2-FBD4-6A9C9E60A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FBFE71-34DD-9916-9DAE-98B4A6602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3154" y="1505719"/>
            <a:ext cx="6326777" cy="4671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869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C0A24-268E-5AD8-36F5-8A6F15347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53FE2-D2DF-C782-1729-50F2B0846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Over-Approximation: Control-Flow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272EC-4801-5441-C8F1-9877398F3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/>
          </a:bodyPr>
          <a:lstStyle/>
          <a:p>
            <a:r>
              <a:rPr lang="en-GB" dirty="0"/>
              <a:t>Control-Flow Graph (CFG):</a:t>
            </a:r>
          </a:p>
          <a:p>
            <a:pPr lvl="1"/>
            <a:r>
              <a:rPr lang="en-GB" dirty="0"/>
              <a:t>Nodes → basic blocks</a:t>
            </a:r>
          </a:p>
          <a:p>
            <a:pPr lvl="1"/>
            <a:r>
              <a:rPr lang="en-GB" dirty="0"/>
              <a:t>Edges → possible control transfers</a:t>
            </a:r>
          </a:p>
          <a:p>
            <a:r>
              <a:rPr lang="en-GB" dirty="0"/>
              <a:t>Purpose:</a:t>
            </a:r>
          </a:p>
          <a:p>
            <a:pPr lvl="1"/>
            <a:r>
              <a:rPr lang="en-GB" dirty="0"/>
              <a:t>Foundation for most static analyses</a:t>
            </a:r>
          </a:p>
          <a:p>
            <a:pPr lvl="1"/>
            <a:r>
              <a:rPr lang="en-GB" dirty="0"/>
              <a:t>Captures </a:t>
            </a:r>
            <a:r>
              <a:rPr lang="en-GB" b="1" dirty="0"/>
              <a:t>possible</a:t>
            </a:r>
            <a:r>
              <a:rPr lang="en-GB" dirty="0"/>
              <a:t> execution paths</a:t>
            </a:r>
          </a:p>
          <a:p>
            <a:pPr lvl="1"/>
            <a:r>
              <a:rPr lang="en-GB" dirty="0"/>
              <a:t>Over-approximation used in </a:t>
            </a:r>
            <a:r>
              <a:rPr lang="en-GB" b="1" dirty="0"/>
              <a:t>Data-flow Analysis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DC0DD-277F-4C18-9B0E-A8A713DFA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16 -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A20DF7-D0F2-F8AB-24C0-578F846AA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595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852C3-358B-2AA9-2620-81A206C4C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96085-4E5E-F287-CB51-9C5F82639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Over-Approximation: Control-Flow Graphs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0D461-CB44-1AC8-E8ED-61F47CBED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16 -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78B9E3-13ED-F5B8-E129-2D0450F39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714363-FA6D-66F1-DC22-E7C5AB1AF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370" y="2549696"/>
            <a:ext cx="3651985" cy="24739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11A7E8-149B-89B2-E109-15484E861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502" y="1932458"/>
            <a:ext cx="4813300" cy="370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9829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FAC8E-29C1-7129-9BA5-4B558B726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D1D6D-8E61-062B-DEFC-17993F861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Over-Approximation: Control-Flow Graphs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0B43D-0FEC-B547-E5BB-3EF099C6C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16 -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D6F928-3446-3CD9-1706-3B7090F95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12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2D015E-6418-1E5F-BFBD-1859052A0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1690688"/>
            <a:ext cx="6477000" cy="453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3378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C87F7-51AA-C6CC-4211-B26691B48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A4BEF-F197-C23C-59D2-E2773297B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Data-Flow Analysis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8DFB7-0A3F-6FBA-A40A-84E6E0279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16 -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DF0D27-7041-991A-DB39-B8F0742CC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13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1294A75-38F0-1C35-FAD7-1070D2169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/>
          </a:bodyPr>
          <a:lstStyle/>
          <a:p>
            <a:r>
              <a:rPr lang="en-GB" dirty="0"/>
              <a:t>Goal:</a:t>
            </a:r>
          </a:p>
          <a:p>
            <a:pPr lvl="1"/>
            <a:r>
              <a:rPr lang="en-GB" dirty="0"/>
              <a:t>Compute specific properties of programs (depends on type of analysis)</a:t>
            </a:r>
          </a:p>
          <a:p>
            <a:r>
              <a:rPr lang="en-GB" dirty="0"/>
              <a:t>Based on:</a:t>
            </a:r>
          </a:p>
          <a:p>
            <a:pPr lvl="1"/>
            <a:r>
              <a:rPr lang="en-GB" dirty="0"/>
              <a:t>CFG</a:t>
            </a:r>
          </a:p>
          <a:p>
            <a:pPr lvl="1"/>
            <a:r>
              <a:rPr lang="en-GB" b="1" dirty="0"/>
              <a:t>Fixed-point</a:t>
            </a:r>
            <a:r>
              <a:rPr lang="en-GB" dirty="0"/>
              <a:t> computation</a:t>
            </a:r>
          </a:p>
        </p:txBody>
      </p:sp>
    </p:spTree>
    <p:extLst>
      <p:ext uri="{BB962C8B-B14F-4D97-AF65-F5344CB8AC3E}">
        <p14:creationId xmlns:p14="http://schemas.microsoft.com/office/powerpoint/2010/main" val="3745064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73902-BAC1-E983-516A-FF49D0141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35C44-6764-4B9E-D3AF-4BB8F08B4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Variables Analysis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9A8C2-95C7-92CB-8C0C-DCB0F689C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16 -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48603F-3E7A-AC13-46AE-6DC32553B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14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8440009-1E0F-B1E8-4582-9A60E91E6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/>
          </a:bodyPr>
          <a:lstStyle/>
          <a:p>
            <a:r>
              <a:rPr lang="en-GB" dirty="0"/>
              <a:t>A variable is live at a program point if:</a:t>
            </a:r>
          </a:p>
          <a:p>
            <a:pPr lvl="1"/>
            <a:r>
              <a:rPr lang="en-GB" dirty="0"/>
              <a:t>Its value may be used in the future</a:t>
            </a:r>
          </a:p>
          <a:p>
            <a:r>
              <a:rPr lang="en-GB" dirty="0"/>
              <a:t>Used for:</a:t>
            </a:r>
          </a:p>
          <a:p>
            <a:pPr lvl="1"/>
            <a:r>
              <a:rPr lang="en-GB" dirty="0"/>
              <a:t>Register allocation</a:t>
            </a:r>
          </a:p>
          <a:p>
            <a:pPr lvl="1"/>
            <a:r>
              <a:rPr lang="en-GB" dirty="0"/>
              <a:t>Dead code elimination</a:t>
            </a:r>
          </a:p>
          <a:p>
            <a:pPr lvl="1"/>
            <a:r>
              <a:rPr lang="en-GB" dirty="0"/>
              <a:t>Program slicing</a:t>
            </a:r>
          </a:p>
          <a:p>
            <a:r>
              <a:rPr lang="en-GB" dirty="0"/>
              <a:t>Key sets:</a:t>
            </a:r>
          </a:p>
          <a:p>
            <a:pPr lvl="1"/>
            <a:r>
              <a:rPr lang="en-GB" dirty="0" err="1"/>
              <a:t>LV_in</a:t>
            </a:r>
            <a:endParaRPr lang="en-GB" dirty="0"/>
          </a:p>
          <a:p>
            <a:pPr lvl="1"/>
            <a:r>
              <a:rPr lang="en-GB" dirty="0" err="1"/>
              <a:t>LV_out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35439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8DC64-C72D-1F2C-71E5-42FC29F42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8A6D1-1BC8-A8E9-A6DA-295AC4402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Variables Analysis: Equations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C809E-821B-09F7-6A5B-9AA5E6584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16 -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E50008-7D29-5E4A-7A85-B79B15BCA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15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A7FF373-45B7-5023-B24B-F8FF8A033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/>
          </a:bodyPr>
          <a:lstStyle/>
          <a:p>
            <a:r>
              <a:rPr lang="en-GB" dirty="0"/>
              <a:t>Data-flow </a:t>
            </a:r>
            <a:r>
              <a:rPr lang="en-GB" b="1" dirty="0"/>
              <a:t>equations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Recursive</a:t>
            </a:r>
          </a:p>
          <a:p>
            <a:pPr lvl="1"/>
            <a:r>
              <a:rPr lang="en-GB" dirty="0"/>
              <a:t>Solved via </a:t>
            </a:r>
            <a:r>
              <a:rPr lang="en-GB" b="1" dirty="0"/>
              <a:t>iterative</a:t>
            </a:r>
            <a:r>
              <a:rPr lang="en-GB" dirty="0"/>
              <a:t> approximation until fixed point is reached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00E383-FACE-DDEA-2519-CB8FBB711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866" y="3674097"/>
            <a:ext cx="5156200" cy="1371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C2A41E1-5F45-FBAC-4D10-ACAE0FC3F861}"/>
              </a:ext>
            </a:extLst>
          </p:cNvPr>
          <p:cNvSpPr txBox="1"/>
          <p:nvPr/>
        </p:nvSpPr>
        <p:spPr>
          <a:xfrm>
            <a:off x="5711857" y="3923225"/>
            <a:ext cx="60991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 err="1"/>
              <a:t>LV</a:t>
            </a:r>
            <a:r>
              <a:rPr lang="en-GB" i="1" baseline="-25000" dirty="0" err="1"/>
              <a:t>in</a:t>
            </a:r>
            <a:r>
              <a:rPr lang="en-GB" dirty="0"/>
              <a:t> (</a:t>
            </a:r>
            <a:r>
              <a:rPr lang="en-GB" i="1" dirty="0"/>
              <a:t>k</a:t>
            </a:r>
            <a:r>
              <a:rPr lang="en-GB" dirty="0"/>
              <a:t>): set of variables live at the </a:t>
            </a:r>
            <a:r>
              <a:rPr lang="en-GB" b="1" dirty="0"/>
              <a:t>entry</a:t>
            </a:r>
            <a:r>
              <a:rPr lang="en-GB" dirty="0"/>
              <a:t> of block </a:t>
            </a:r>
            <a:r>
              <a:rPr lang="en-GB" i="1" dirty="0"/>
              <a:t>k</a:t>
            </a:r>
          </a:p>
          <a:p>
            <a:pPr algn="ctr"/>
            <a:r>
              <a:rPr lang="en-GB" dirty="0" err="1"/>
              <a:t>LV</a:t>
            </a:r>
            <a:r>
              <a:rPr lang="en-GB" i="1" baseline="-25000" dirty="0" err="1"/>
              <a:t>out</a:t>
            </a:r>
            <a:r>
              <a:rPr lang="en-GB" dirty="0"/>
              <a:t> (</a:t>
            </a:r>
            <a:r>
              <a:rPr lang="en-GB" i="1" dirty="0"/>
              <a:t>k</a:t>
            </a:r>
            <a:r>
              <a:rPr lang="en-GB" dirty="0"/>
              <a:t>): set of variables live at the </a:t>
            </a:r>
            <a:r>
              <a:rPr lang="en-GB" b="1" dirty="0"/>
              <a:t>exit</a:t>
            </a:r>
            <a:r>
              <a:rPr lang="en-GB" dirty="0"/>
              <a:t> of block</a:t>
            </a:r>
            <a:r>
              <a:rPr lang="en-GB" i="1" dirty="0"/>
              <a:t> k</a:t>
            </a:r>
          </a:p>
          <a:p>
            <a:pPr algn="ctr"/>
            <a:r>
              <a:rPr lang="en-GB" i="1" dirty="0"/>
              <a:t>gen</a:t>
            </a:r>
            <a:r>
              <a:rPr lang="en-GB" dirty="0"/>
              <a:t>(</a:t>
            </a:r>
            <a:r>
              <a:rPr lang="en-GB" i="1" dirty="0"/>
              <a:t>k</a:t>
            </a:r>
            <a:r>
              <a:rPr lang="en-GB" dirty="0"/>
              <a:t>): set of variables </a:t>
            </a:r>
            <a:r>
              <a:rPr lang="en-GB" b="1" dirty="0"/>
              <a:t>assigned</a:t>
            </a:r>
            <a:r>
              <a:rPr lang="en-GB" dirty="0"/>
              <a:t> (overwritten) in block </a:t>
            </a:r>
            <a:r>
              <a:rPr lang="en-GB" i="1" dirty="0"/>
              <a:t>k</a:t>
            </a:r>
          </a:p>
          <a:p>
            <a:pPr algn="ctr"/>
            <a:r>
              <a:rPr lang="en-GB" i="1" dirty="0"/>
              <a:t>Kill</a:t>
            </a:r>
            <a:r>
              <a:rPr lang="en-GB" dirty="0"/>
              <a:t>(</a:t>
            </a:r>
            <a:r>
              <a:rPr lang="en-GB" i="1" dirty="0"/>
              <a:t>k</a:t>
            </a:r>
            <a:r>
              <a:rPr lang="en-GB" dirty="0"/>
              <a:t>): set of variables </a:t>
            </a:r>
            <a:r>
              <a:rPr lang="en-GB" b="1" dirty="0"/>
              <a:t>used</a:t>
            </a:r>
            <a:r>
              <a:rPr lang="en-GB" dirty="0"/>
              <a:t> (read) in block </a:t>
            </a:r>
            <a:r>
              <a:rPr lang="en-GB" i="1" dirty="0"/>
              <a:t>k</a:t>
            </a:r>
          </a:p>
        </p:txBody>
      </p:sp>
    </p:spTree>
    <p:extLst>
      <p:ext uri="{BB962C8B-B14F-4D97-AF65-F5344CB8AC3E}">
        <p14:creationId xmlns:p14="http://schemas.microsoft.com/office/powerpoint/2010/main" val="27164536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7B2A9-1F2F-ABBE-C652-211541924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3FECA-A197-0DE7-C6D9-3DAEB7C8D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Variables Analysis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AC58F-231B-B8D9-3325-98A634C46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16 -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BF3291-CCBB-0B29-691D-A92CD257F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F7CE7B-377A-C31D-0EB1-06AEB076C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28" y="2073595"/>
            <a:ext cx="4252757" cy="23525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33B620-7574-F0E0-9929-A0A91F6E8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3394" y="2073595"/>
            <a:ext cx="2910651" cy="38623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5EAF4E8-D29B-8FCF-E350-35556EBB74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7060" y="1880028"/>
            <a:ext cx="2193249" cy="41765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A8E572-1773-80C7-3CF5-B8C7AC54C01A}"/>
              </a:ext>
            </a:extLst>
          </p:cNvPr>
          <p:cNvSpPr txBox="1"/>
          <p:nvPr/>
        </p:nvSpPr>
        <p:spPr>
          <a:xfrm>
            <a:off x="1993658" y="1555683"/>
            <a:ext cx="1429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Pseudocode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A35D40-FBB2-7009-B5DF-C139962CE63A}"/>
              </a:ext>
            </a:extLst>
          </p:cNvPr>
          <p:cNvSpPr txBox="1"/>
          <p:nvPr/>
        </p:nvSpPr>
        <p:spPr>
          <a:xfrm>
            <a:off x="6264145" y="1555683"/>
            <a:ext cx="629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CFG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044217-7B76-2BBA-2BD1-323D115EB96F}"/>
              </a:ext>
            </a:extLst>
          </p:cNvPr>
          <p:cNvSpPr txBox="1"/>
          <p:nvPr/>
        </p:nvSpPr>
        <p:spPr>
          <a:xfrm>
            <a:off x="8810575" y="1555683"/>
            <a:ext cx="1166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LV</a:t>
            </a:r>
            <a:r>
              <a:rPr lang="en-IT" i="1" baseline="-25000" dirty="0"/>
              <a:t>out</a:t>
            </a:r>
            <a:r>
              <a:rPr lang="en-IT" dirty="0"/>
              <a:t> / </a:t>
            </a:r>
            <a:r>
              <a:rPr lang="en-IT" dirty="0">
                <a:solidFill>
                  <a:schemeClr val="bg2">
                    <a:lumMod val="75000"/>
                  </a:schemeClr>
                </a:solidFill>
              </a:rPr>
              <a:t>LV</a:t>
            </a:r>
            <a:r>
              <a:rPr lang="en-IT" i="1" baseline="-25000" dirty="0">
                <a:solidFill>
                  <a:schemeClr val="bg2">
                    <a:lumMod val="75000"/>
                  </a:schemeClr>
                </a:solidFill>
              </a:rPr>
              <a:t>in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D0B602-A124-0079-9208-B15B3EB8586A}"/>
              </a:ext>
            </a:extLst>
          </p:cNvPr>
          <p:cNvSpPr txBox="1"/>
          <p:nvPr/>
        </p:nvSpPr>
        <p:spPr>
          <a:xfrm>
            <a:off x="10108767" y="1952994"/>
            <a:ext cx="16371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i="1" dirty="0"/>
              <a:t>x</a:t>
            </a:r>
            <a:r>
              <a:rPr lang="en-IT" sz="1600" dirty="0"/>
              <a:t> not live at the</a:t>
            </a:r>
            <a:br>
              <a:rPr lang="en-IT" sz="1600" dirty="0"/>
            </a:br>
            <a:r>
              <a:rPr lang="en-IT" sz="1600" dirty="0"/>
              <a:t>exit of block 1 </a:t>
            </a:r>
            <a:r>
              <a:rPr lang="en-IT" sz="1600" dirty="0">
                <a:sym typeface="Wingdings" pitchFamily="2" charset="2"/>
              </a:rPr>
              <a:t></a:t>
            </a:r>
          </a:p>
          <a:p>
            <a:r>
              <a:rPr lang="en-GB" sz="1600" b="1" dirty="0">
                <a:sym typeface="Wingdings" pitchFamily="2" charset="2"/>
              </a:rPr>
              <a:t>D</a:t>
            </a:r>
            <a:r>
              <a:rPr lang="en-IT" sz="1600" b="1" dirty="0">
                <a:sym typeface="Wingdings" pitchFamily="2" charset="2"/>
              </a:rPr>
              <a:t>ead code</a:t>
            </a:r>
            <a:endParaRPr lang="en-IT" sz="1600" b="1" dirty="0"/>
          </a:p>
        </p:txBody>
      </p:sp>
    </p:spTree>
    <p:extLst>
      <p:ext uri="{BB962C8B-B14F-4D97-AF65-F5344CB8AC3E}">
        <p14:creationId xmlns:p14="http://schemas.microsoft.com/office/powerpoint/2010/main" val="5836126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C22C7-7A8C-CE6C-7002-8B5EF68C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841DE-F1A0-B77F-22C7-D1C8D1467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Reaching Definitions: Preliminaries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349BD-E6D7-A9F7-2DAE-201A7CD67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16 -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50B110-7241-F66B-8641-A9BF5816F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17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7FE54E7-35AE-503A-EF89-E308F1CD76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/>
          </a:bodyPr>
          <a:lstStyle/>
          <a:p>
            <a:r>
              <a:rPr lang="en-GB" dirty="0"/>
              <a:t>A definition reaches a program point if:</a:t>
            </a:r>
          </a:p>
          <a:p>
            <a:pPr lvl="1"/>
            <a:r>
              <a:rPr lang="en-GB" dirty="0"/>
              <a:t>There exists a path with no redefinition</a:t>
            </a:r>
          </a:p>
          <a:p>
            <a:r>
              <a:rPr lang="en-GB" dirty="0"/>
              <a:t>Used for:</a:t>
            </a:r>
          </a:p>
          <a:p>
            <a:pPr lvl="1"/>
            <a:r>
              <a:rPr lang="en-GB" dirty="0"/>
              <a:t>Detecting uninitialized variables</a:t>
            </a:r>
          </a:p>
          <a:p>
            <a:pPr lvl="1"/>
            <a:r>
              <a:rPr lang="en-GB" dirty="0"/>
              <a:t>Optimization</a:t>
            </a:r>
          </a:p>
          <a:p>
            <a:pPr lvl="1"/>
            <a:r>
              <a:rPr lang="en-GB" dirty="0"/>
              <a:t>Program understanding</a:t>
            </a:r>
          </a:p>
          <a:p>
            <a:r>
              <a:rPr lang="en-GB" dirty="0"/>
              <a:t>Produces:</a:t>
            </a:r>
          </a:p>
          <a:p>
            <a:pPr lvl="1"/>
            <a:r>
              <a:rPr lang="en-GB" dirty="0"/>
              <a:t>Definition-use (DU) chains</a:t>
            </a:r>
          </a:p>
        </p:txBody>
      </p:sp>
    </p:spTree>
    <p:extLst>
      <p:ext uri="{BB962C8B-B14F-4D97-AF65-F5344CB8AC3E}">
        <p14:creationId xmlns:p14="http://schemas.microsoft.com/office/powerpoint/2010/main" val="34954643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BDA75-B3F1-0D41-94B1-D4282EECA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904CA-85F6-20C4-D044-E82F2CFDA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Reaching Definitions: Preliminaries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FE2A7-6A55-1CEF-B789-B9A11C643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16 -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E17FA9-32F7-97BE-BD77-B8CED2368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18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B343E9B-5EB7-97D4-1D4F-B3E5FC831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/>
          </a:bodyPr>
          <a:lstStyle/>
          <a:p>
            <a:r>
              <a:rPr lang="en-GB" b="1" dirty="0"/>
              <a:t>Variable Definition</a:t>
            </a:r>
            <a:r>
              <a:rPr lang="en-GB" dirty="0"/>
              <a:t>: A definition (</a:t>
            </a:r>
            <a:r>
              <a:rPr lang="en-GB" i="1" dirty="0" err="1"/>
              <a:t>v</a:t>
            </a:r>
            <a:r>
              <a:rPr lang="en-GB" dirty="0" err="1"/>
              <a:t>,</a:t>
            </a:r>
            <a:r>
              <a:rPr lang="en-GB" i="1" dirty="0" err="1"/>
              <a:t>k</a:t>
            </a:r>
            <a:r>
              <a:rPr lang="en-GB" dirty="0"/>
              <a:t>) is an assignment to variable </a:t>
            </a:r>
            <a:r>
              <a:rPr lang="en-GB" i="1" dirty="0"/>
              <a:t>v</a:t>
            </a:r>
            <a:r>
              <a:rPr lang="en-GB" dirty="0"/>
              <a:t> occurring at block k.</a:t>
            </a:r>
            <a:r>
              <a:rPr lang="en-GB" b="1" dirty="0"/>
              <a:t> </a:t>
            </a:r>
          </a:p>
          <a:p>
            <a:r>
              <a:rPr lang="en-GB" b="1" dirty="0"/>
              <a:t>Reaching Definition</a:t>
            </a:r>
            <a:r>
              <a:rPr lang="en-GB" dirty="0"/>
              <a:t> (RD): a definition (</a:t>
            </a:r>
            <a:r>
              <a:rPr lang="en-GB" i="1" dirty="0" err="1"/>
              <a:t>v</a:t>
            </a:r>
            <a:r>
              <a:rPr lang="en-GB" dirty="0" err="1"/>
              <a:t>,</a:t>
            </a:r>
            <a:r>
              <a:rPr lang="en-GB" i="1" dirty="0" err="1"/>
              <a:t>k</a:t>
            </a:r>
            <a:r>
              <a:rPr lang="en-GB" dirty="0"/>
              <a:t>) reaches block </a:t>
            </a:r>
            <a:r>
              <a:rPr lang="en-GB" i="1" dirty="0"/>
              <a:t>r</a:t>
            </a:r>
            <a:r>
              <a:rPr lang="en-GB" dirty="0"/>
              <a:t> if there is a path in the CFG from </a:t>
            </a:r>
            <a:r>
              <a:rPr lang="en-GB" i="1" dirty="0"/>
              <a:t>k</a:t>
            </a:r>
            <a:r>
              <a:rPr lang="en-GB" dirty="0"/>
              <a:t> to </a:t>
            </a:r>
            <a:r>
              <a:rPr lang="en-GB" i="1" dirty="0"/>
              <a:t>r</a:t>
            </a:r>
            <a:r>
              <a:rPr lang="en-GB" dirty="0"/>
              <a:t> that does not redefine v. In this case, we say that (</a:t>
            </a:r>
            <a:r>
              <a:rPr lang="en-GB" i="1" dirty="0" err="1"/>
              <a:t>v</a:t>
            </a:r>
            <a:r>
              <a:rPr lang="en-GB" dirty="0" err="1"/>
              <a:t>,</a:t>
            </a:r>
            <a:r>
              <a:rPr lang="en-GB" i="1" dirty="0" err="1"/>
              <a:t>k</a:t>
            </a:r>
            <a:r>
              <a:rPr lang="en-GB" dirty="0"/>
              <a:t>) is a RD for block </a:t>
            </a:r>
            <a:r>
              <a:rPr lang="en-GB" i="1" dirty="0"/>
              <a:t>r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74991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71BC4-FFF6-886A-0806-DF1F80449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FB6F6-6B17-13CE-FC84-7E6882463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Reaching Definitions: Equations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CCAB-DBEF-D04A-44EC-2217CA302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16 -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A71589-AE4C-46C3-3DA4-9B0B0B612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19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82B83D4-2EA3-64C5-54C9-008BBC03E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/>
          </a:bodyPr>
          <a:lstStyle/>
          <a:p>
            <a:r>
              <a:rPr lang="en-GB" dirty="0"/>
              <a:t>Data-flow </a:t>
            </a:r>
            <a:r>
              <a:rPr lang="en-GB" b="1" dirty="0"/>
              <a:t>equations</a:t>
            </a:r>
            <a:r>
              <a:rPr lang="en-GB" dirty="0"/>
              <a:t>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B1C1E9-87C0-C523-4FA4-EA822FF20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915" y="2472702"/>
            <a:ext cx="4764204" cy="12951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3D42B19-690D-BF70-5930-C859205E8143}"/>
              </a:ext>
            </a:extLst>
          </p:cNvPr>
          <p:cNvSpPr txBox="1"/>
          <p:nvPr/>
        </p:nvSpPr>
        <p:spPr>
          <a:xfrm>
            <a:off x="5891753" y="2782669"/>
            <a:ext cx="58823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 err="1">
                <a:solidFill>
                  <a:srgbClr val="000000"/>
                </a:solidFill>
                <a:effectLst/>
                <a:latin typeface="Helvetica" pitchFamily="2" charset="0"/>
              </a:rPr>
              <a:t>RD</a:t>
            </a:r>
            <a:r>
              <a:rPr lang="en-GB" i="1" baseline="-25000" dirty="0" err="1">
                <a:solidFill>
                  <a:srgbClr val="000000"/>
                </a:solidFill>
                <a:effectLst/>
                <a:latin typeface="Helvetica" pitchFamily="2" charset="0"/>
              </a:rPr>
              <a:t>in</a:t>
            </a: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 (</a:t>
            </a:r>
            <a:r>
              <a:rPr lang="en-GB" i="1" dirty="0">
                <a:solidFill>
                  <a:srgbClr val="000000"/>
                </a:solidFill>
                <a:effectLst/>
                <a:latin typeface="Helvetica" pitchFamily="2" charset="0"/>
              </a:rPr>
              <a:t>k</a:t>
            </a: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): definitions that may reach the entry of block </a:t>
            </a:r>
            <a:r>
              <a:rPr lang="en-GB" i="1" dirty="0">
                <a:solidFill>
                  <a:srgbClr val="000000"/>
                </a:solidFill>
                <a:effectLst/>
                <a:latin typeface="Helvetica" pitchFamily="2" charset="0"/>
              </a:rPr>
              <a:t>k</a:t>
            </a:r>
          </a:p>
          <a:p>
            <a:pPr>
              <a:buNone/>
            </a:pPr>
            <a:r>
              <a:rPr lang="en-GB" dirty="0" err="1">
                <a:solidFill>
                  <a:srgbClr val="000000"/>
                </a:solidFill>
                <a:effectLst/>
                <a:latin typeface="Helvetica" pitchFamily="2" charset="0"/>
              </a:rPr>
              <a:t>RD</a:t>
            </a:r>
            <a:r>
              <a:rPr lang="en-GB" i="1" baseline="-25000" dirty="0" err="1">
                <a:solidFill>
                  <a:srgbClr val="000000"/>
                </a:solidFill>
                <a:effectLst/>
                <a:latin typeface="Helvetica" pitchFamily="2" charset="0"/>
              </a:rPr>
              <a:t>out</a:t>
            </a:r>
            <a:r>
              <a:rPr lang="en-GB" i="1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(</a:t>
            </a:r>
            <a:r>
              <a:rPr lang="en-GB" i="1" dirty="0">
                <a:solidFill>
                  <a:srgbClr val="000000"/>
                </a:solidFill>
                <a:effectLst/>
                <a:latin typeface="Helvetica" pitchFamily="2" charset="0"/>
              </a:rPr>
              <a:t>k</a:t>
            </a: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): definitions that may reach the exit of block </a:t>
            </a:r>
            <a:r>
              <a:rPr lang="en-GB" i="1" dirty="0">
                <a:solidFill>
                  <a:srgbClr val="000000"/>
                </a:solidFill>
                <a:effectLst/>
                <a:latin typeface="Helvetica" pitchFamily="2" charset="0"/>
              </a:rPr>
              <a:t>k</a:t>
            </a:r>
          </a:p>
        </p:txBody>
      </p:sp>
    </p:spTree>
    <p:extLst>
      <p:ext uri="{BB962C8B-B14F-4D97-AF65-F5344CB8AC3E}">
        <p14:creationId xmlns:p14="http://schemas.microsoft.com/office/powerpoint/2010/main" val="16202834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EFD3D-7ACE-DAD3-1979-290CAEF5C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83835-9E01-82B5-D5F2-C491FF5CD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Reaching Definitions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02C70-0425-6285-9839-B309C65C5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16 -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113BF1-32E2-E2E4-10E0-78F020198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20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9F71343-1D74-49E0-EDA7-2BC3A7B35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2411" y="1797487"/>
            <a:ext cx="3721169" cy="44760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6DFFFD4-4DC7-C7C1-21DB-C67632DB7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0689" y="1946571"/>
            <a:ext cx="2218724" cy="430298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321002C-A1D8-33E2-347E-6AC6FE0823A8}"/>
              </a:ext>
            </a:extLst>
          </p:cNvPr>
          <p:cNvSpPr txBox="1"/>
          <p:nvPr/>
        </p:nvSpPr>
        <p:spPr>
          <a:xfrm>
            <a:off x="4060599" y="1510958"/>
            <a:ext cx="1365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1st iteration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52344E-B523-00FF-B6C6-ED34BBDA84B2}"/>
              </a:ext>
            </a:extLst>
          </p:cNvPr>
          <p:cNvSpPr txBox="1"/>
          <p:nvPr/>
        </p:nvSpPr>
        <p:spPr>
          <a:xfrm>
            <a:off x="7249545" y="1461296"/>
            <a:ext cx="1436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2nd iteration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905E183-88B4-B65E-B6E5-373385316939}"/>
              </a:ext>
            </a:extLst>
          </p:cNvPr>
          <p:cNvGrpSpPr/>
          <p:nvPr/>
        </p:nvGrpSpPr>
        <p:grpSpPr>
          <a:xfrm>
            <a:off x="926742" y="2045552"/>
            <a:ext cx="2247900" cy="1714500"/>
            <a:chOff x="1717574" y="2309019"/>
            <a:chExt cx="2247900" cy="1714500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B6BFA57-9280-1760-4DA4-7986EAFBCC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17574" y="2309019"/>
              <a:ext cx="2247900" cy="1714500"/>
            </a:xfrm>
            <a:prstGeom prst="rect">
              <a:avLst/>
            </a:prstGeom>
          </p:spPr>
        </p:pic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BF3A715-7557-D82E-231B-412F5B46F6A1}"/>
                </a:ext>
              </a:extLst>
            </p:cNvPr>
            <p:cNvCxnSpPr>
              <a:cxnSpLocks/>
            </p:cNvCxnSpPr>
            <p:nvPr/>
          </p:nvCxnSpPr>
          <p:spPr>
            <a:xfrm>
              <a:off x="3956047" y="2384434"/>
              <a:ext cx="0" cy="1553711"/>
            </a:xfrm>
            <a:prstGeom prst="line">
              <a:avLst/>
            </a:prstGeom>
            <a:ln w="158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0A40F171-2C6A-9820-829F-387BBBDA2F7E}"/>
              </a:ext>
            </a:extLst>
          </p:cNvPr>
          <p:cNvSpPr txBox="1"/>
          <p:nvPr/>
        </p:nvSpPr>
        <p:spPr>
          <a:xfrm>
            <a:off x="1367748" y="1577239"/>
            <a:ext cx="1429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Pseudocode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13E512-35C1-35C2-81DE-BCFDE1DCDB5D}"/>
              </a:ext>
            </a:extLst>
          </p:cNvPr>
          <p:cNvSpPr txBox="1"/>
          <p:nvPr/>
        </p:nvSpPr>
        <p:spPr>
          <a:xfrm>
            <a:off x="5633119" y="1946571"/>
            <a:ext cx="1170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“</a:t>
            </a:r>
            <a:r>
              <a:rPr lang="en-US" sz="1600" i="1" dirty="0"/>
              <a:t>?</a:t>
            </a:r>
            <a:r>
              <a:rPr lang="en-US" sz="1600" dirty="0"/>
              <a:t>”</a:t>
            </a:r>
            <a:r>
              <a:rPr lang="en-US" sz="1600" i="1" dirty="0"/>
              <a:t> </a:t>
            </a:r>
            <a:r>
              <a:rPr lang="en-US" sz="1600" dirty="0"/>
              <a:t>implicit</a:t>
            </a:r>
            <a:br>
              <a:rPr lang="en-US" sz="1600" dirty="0"/>
            </a:br>
            <a:r>
              <a:rPr lang="en-US" sz="1600" dirty="0"/>
              <a:t>definition</a:t>
            </a:r>
            <a:endParaRPr lang="en-IT" sz="1600" b="1" dirty="0"/>
          </a:p>
        </p:txBody>
      </p:sp>
    </p:spTree>
    <p:extLst>
      <p:ext uri="{BB962C8B-B14F-4D97-AF65-F5344CB8AC3E}">
        <p14:creationId xmlns:p14="http://schemas.microsoft.com/office/powerpoint/2010/main" val="40401987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81709-D536-B18F-983E-6F50ECC9E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FAD3E-1563-1ACE-9E64-AFAFDEDA0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Reaching Definitions: Use-Def Chains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B1C3A-276C-C79C-A294-C8689AA42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16 -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F164E4-6491-9772-B228-79CECFC2B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21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3A6A0AF-A04A-1E27-DC47-9CAC6E919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/>
          </a:bodyPr>
          <a:lstStyle/>
          <a:p>
            <a:r>
              <a:rPr lang="en-GB" b="1" dirty="0"/>
              <a:t>Use-Def (UD) Chains</a:t>
            </a:r>
            <a:r>
              <a:rPr lang="en-GB" dirty="0"/>
              <a:t>: Given a variable </a:t>
            </a:r>
            <a:r>
              <a:rPr lang="en-GB" i="1" dirty="0"/>
              <a:t>v</a:t>
            </a:r>
            <a:r>
              <a:rPr lang="en-GB" dirty="0"/>
              <a:t> and a program location </a:t>
            </a:r>
            <a:r>
              <a:rPr lang="en-GB" i="1" dirty="0"/>
              <a:t>k</a:t>
            </a:r>
            <a:r>
              <a:rPr lang="en-GB" dirty="0"/>
              <a:t>, the corresponding UD chain is defined as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i="1" dirty="0"/>
              <a:t>q</a:t>
            </a:r>
            <a:r>
              <a:rPr lang="en-GB" dirty="0"/>
              <a:t> program location or the implicit definition “?”</a:t>
            </a:r>
            <a:br>
              <a:rPr lang="en-GB" dirty="0"/>
            </a:br>
            <a:endParaRPr lang="en-GB" dirty="0"/>
          </a:p>
          <a:p>
            <a:r>
              <a:rPr lang="en-GB" dirty="0"/>
              <a:t>if (</a:t>
            </a:r>
            <a:r>
              <a:rPr lang="en-GB" i="1" dirty="0"/>
              <a:t>v</a:t>
            </a:r>
            <a:r>
              <a:rPr lang="en-GB" dirty="0"/>
              <a:t>,?) belongs to UD(</a:t>
            </a:r>
            <a:r>
              <a:rPr lang="en-GB" i="1" dirty="0" err="1"/>
              <a:t>v</a:t>
            </a:r>
            <a:r>
              <a:rPr lang="en-GB" dirty="0" err="1"/>
              <a:t>,</a:t>
            </a:r>
            <a:r>
              <a:rPr lang="en-GB" i="1" dirty="0" err="1"/>
              <a:t>k</a:t>
            </a:r>
            <a:r>
              <a:rPr lang="en-GB" dirty="0"/>
              <a:t>), the implicit definition may reach block </a:t>
            </a:r>
            <a:r>
              <a:rPr lang="en-GB" i="1" dirty="0"/>
              <a:t>k</a:t>
            </a:r>
            <a:r>
              <a:rPr lang="en-GB" dirty="0"/>
              <a:t> which uses </a:t>
            </a:r>
            <a:r>
              <a:rPr lang="en-GB" i="1" dirty="0"/>
              <a:t>v</a:t>
            </a:r>
            <a:r>
              <a:rPr lang="en-GB" dirty="0"/>
              <a:t> </a:t>
            </a:r>
            <a:r>
              <a:rPr lang="en-GB" dirty="0">
                <a:sym typeface="Wingdings" pitchFamily="2" charset="2"/>
              </a:rPr>
              <a:t> </a:t>
            </a:r>
            <a:r>
              <a:rPr lang="en-GB" i="1" dirty="0"/>
              <a:t>v</a:t>
            </a:r>
            <a:r>
              <a:rPr lang="en-GB" dirty="0"/>
              <a:t> may be </a:t>
            </a:r>
            <a:r>
              <a:rPr lang="en-GB" b="1" dirty="0"/>
              <a:t>used before </a:t>
            </a:r>
            <a:r>
              <a:rPr lang="en-GB" dirty="0"/>
              <a:t>any explicit </a:t>
            </a:r>
            <a:r>
              <a:rPr lang="en-GB" b="1" dirty="0"/>
              <a:t>assignment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0134F3-107A-DA93-DD3F-DBF2C3F5F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6048" y="2888392"/>
            <a:ext cx="42799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9440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43F83-CB2F-BF14-9935-0B72826BD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46F86-A16D-4E61-14AF-D71680D7E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Symbolic Execution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4A0C7-6274-47B4-64E5-33CD05FDF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16 -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FB5C9E-B3FC-7C19-6858-51936027F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22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D19166A-AEC4-BB3A-FABD-D6B0E2347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/>
          </a:bodyPr>
          <a:lstStyle/>
          <a:p>
            <a:r>
              <a:rPr lang="en-GB" dirty="0"/>
              <a:t>Executes programs with </a:t>
            </a:r>
            <a:r>
              <a:rPr lang="en-GB" b="1" dirty="0"/>
              <a:t>symbolic inputs</a:t>
            </a:r>
          </a:p>
          <a:p>
            <a:r>
              <a:rPr lang="en-GB" dirty="0"/>
              <a:t>Explore multiple execution paths simultaneously to check given </a:t>
            </a:r>
            <a:r>
              <a:rPr lang="en-GB" b="1" dirty="0"/>
              <a:t>properties</a:t>
            </a:r>
          </a:p>
          <a:p>
            <a:pPr lvl="1"/>
            <a:r>
              <a:rPr lang="en-GB" b="1" dirty="0"/>
              <a:t>Reachability</a:t>
            </a:r>
            <a:r>
              <a:rPr lang="en-GB" dirty="0"/>
              <a:t>: can a program location be reached during execution?</a:t>
            </a:r>
          </a:p>
          <a:p>
            <a:pPr lvl="1"/>
            <a:r>
              <a:rPr lang="en-GB" b="1" dirty="0"/>
              <a:t>Path feasibility</a:t>
            </a:r>
            <a:r>
              <a:rPr lang="en-GB" dirty="0"/>
              <a:t>: is a specific execution path actually executable?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198EC5-C41B-D0C8-3B9A-AEBD5A93E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357" y="4295696"/>
            <a:ext cx="6868298" cy="188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7563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5618C-CFA2-2A81-D942-ABF85D738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21713-5EA8-5747-822C-7DD480139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Symbolic Execution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B3B9E-1562-AECB-9CF3-495F37874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16 -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1DCD2C-175F-1A12-5AA8-6CDF715E4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23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A8FB47A-780A-87C3-8F2A-8A03652F0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/>
          </a:bodyPr>
          <a:lstStyle/>
          <a:p>
            <a:r>
              <a:rPr lang="en-GB" b="1" dirty="0"/>
              <a:t>Note</a:t>
            </a:r>
            <a:r>
              <a:rPr lang="en-GB" dirty="0"/>
              <a:t>: symbolic execution is not “purely static”</a:t>
            </a:r>
          </a:p>
          <a:p>
            <a:r>
              <a:rPr lang="en-GB" dirty="0"/>
              <a:t>It blends characteristics of both paradigms: static and dynamic analysis</a:t>
            </a:r>
          </a:p>
        </p:txBody>
      </p:sp>
    </p:spTree>
    <p:extLst>
      <p:ext uri="{BB962C8B-B14F-4D97-AF65-F5344CB8AC3E}">
        <p14:creationId xmlns:p14="http://schemas.microsoft.com/office/powerpoint/2010/main" val="7492125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64E02-A36C-258C-2C71-1B6C3D5CE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0BDE9-42F0-B038-754E-8DDEFD950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Symbolic Execution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F6B25-F658-8065-E223-92A2ADC74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16 -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EFED90-9F8F-E7F5-73A7-B49EFD462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24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F6B1273-777C-4111-E2FB-FCF3D299954E}"/>
              </a:ext>
            </a:extLst>
          </p:cNvPr>
          <p:cNvGrpSpPr/>
          <p:nvPr/>
        </p:nvGrpSpPr>
        <p:grpSpPr>
          <a:xfrm>
            <a:off x="708626" y="2419350"/>
            <a:ext cx="3653309" cy="1893158"/>
            <a:chOff x="1353236" y="2147502"/>
            <a:chExt cx="3949700" cy="201930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4720AAB-DA72-4C58-2C27-E71C83610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53236" y="2147502"/>
              <a:ext cx="3949700" cy="2019300"/>
            </a:xfrm>
            <a:prstGeom prst="rect">
              <a:avLst/>
            </a:prstGeom>
          </p:spPr>
        </p:pic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A80ECE1-4044-567E-A32A-93F7972C7143}"/>
                </a:ext>
              </a:extLst>
            </p:cNvPr>
            <p:cNvCxnSpPr>
              <a:cxnSpLocks/>
            </p:cNvCxnSpPr>
            <p:nvPr/>
          </p:nvCxnSpPr>
          <p:spPr>
            <a:xfrm>
              <a:off x="5290579" y="2256891"/>
              <a:ext cx="0" cy="1820839"/>
            </a:xfrm>
            <a:prstGeom prst="line">
              <a:avLst/>
            </a:prstGeom>
            <a:ln w="158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F2833591-371E-862F-60D6-ACEC03133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936" y="1690688"/>
            <a:ext cx="6180438" cy="46233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4C2F2CD-7321-BEC4-43E1-6A4615EC6803}"/>
              </a:ext>
            </a:extLst>
          </p:cNvPr>
          <p:cNvSpPr txBox="1"/>
          <p:nvPr/>
        </p:nvSpPr>
        <p:spPr>
          <a:xfrm>
            <a:off x="1820308" y="1844197"/>
            <a:ext cx="1429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Pseudocode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083664-E011-972C-4328-49B6BBA2A4F3}"/>
              </a:ext>
            </a:extLst>
          </p:cNvPr>
          <p:cNvSpPr txBox="1"/>
          <p:nvPr/>
        </p:nvSpPr>
        <p:spPr>
          <a:xfrm>
            <a:off x="7249586" y="1321356"/>
            <a:ext cx="2576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Symbolic execution tree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5FE1253-E30E-FFFD-EF64-D145656C177E}"/>
              </a:ext>
            </a:extLst>
          </p:cNvPr>
          <p:cNvCxnSpPr/>
          <p:nvPr/>
        </p:nvCxnSpPr>
        <p:spPr>
          <a:xfrm flipH="1">
            <a:off x="7080422" y="1977081"/>
            <a:ext cx="1173892" cy="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prstDash val="sysDash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F3C59AF-2F32-009E-71F3-0020D66644D1}"/>
              </a:ext>
            </a:extLst>
          </p:cNvPr>
          <p:cNvSpPr txBox="1"/>
          <p:nvPr/>
        </p:nvSpPr>
        <p:spPr>
          <a:xfrm>
            <a:off x="5955956" y="1807804"/>
            <a:ext cx="9886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600" dirty="0"/>
              <a:t>variables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2DEC5A5-05A5-290E-98AC-1599C52F5209}"/>
              </a:ext>
            </a:extLst>
          </p:cNvPr>
          <p:cNvCxnSpPr>
            <a:cxnSpLocks/>
          </p:cNvCxnSpPr>
          <p:nvPr/>
        </p:nvCxnSpPr>
        <p:spPr>
          <a:xfrm flipH="1">
            <a:off x="6783859" y="2213529"/>
            <a:ext cx="1470455" cy="308377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prstDash val="sysDash"/>
            <a:headEnd type="none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C45669F-FA11-5FA2-8525-749ED8B146DB}"/>
              </a:ext>
            </a:extLst>
          </p:cNvPr>
          <p:cNvSpPr txBox="1"/>
          <p:nvPr/>
        </p:nvSpPr>
        <p:spPr>
          <a:xfrm>
            <a:off x="5690079" y="2367717"/>
            <a:ext cx="12465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S</a:t>
            </a:r>
            <a:r>
              <a:rPr lang="en-IT" sz="1600" dirty="0"/>
              <a:t>ymbolic</a:t>
            </a:r>
            <a:br>
              <a:rPr lang="en-IT" sz="1600" dirty="0"/>
            </a:br>
            <a:r>
              <a:rPr lang="en-IT" sz="1600" dirty="0"/>
              <a:t>expressions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CD525F2-5CC3-093A-F7C4-783EAA52DE29}"/>
              </a:ext>
            </a:extLst>
          </p:cNvPr>
          <p:cNvCxnSpPr>
            <a:cxnSpLocks/>
          </p:cNvCxnSpPr>
          <p:nvPr/>
        </p:nvCxnSpPr>
        <p:spPr>
          <a:xfrm>
            <a:off x="9275169" y="2213529"/>
            <a:ext cx="630746" cy="37072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prstDash val="sysDash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EDB0684-9ECD-E9F7-CFF4-73E7CB478224}"/>
              </a:ext>
            </a:extLst>
          </p:cNvPr>
          <p:cNvSpPr txBox="1"/>
          <p:nvPr/>
        </p:nvSpPr>
        <p:spPr>
          <a:xfrm>
            <a:off x="9905915" y="2075329"/>
            <a:ext cx="10246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Path</a:t>
            </a:r>
            <a:br>
              <a:rPr lang="en-IT" sz="1600" dirty="0"/>
            </a:br>
            <a:r>
              <a:rPr lang="en-IT" sz="1600" dirty="0"/>
              <a:t>condition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19D3D7-A756-8D67-95BE-0AEC9DDF4610}"/>
              </a:ext>
            </a:extLst>
          </p:cNvPr>
          <p:cNvSpPr txBox="1"/>
          <p:nvPr/>
        </p:nvSpPr>
        <p:spPr>
          <a:xfrm>
            <a:off x="9428205" y="4705647"/>
            <a:ext cx="24135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Path</a:t>
            </a:r>
            <a:r>
              <a:rPr lang="en-IT" sz="1600" dirty="0"/>
              <a:t> condition cannot</a:t>
            </a:r>
            <a:br>
              <a:rPr lang="en-IT" sz="1600" dirty="0"/>
            </a:br>
            <a:r>
              <a:rPr lang="en-IT" sz="1600" dirty="0"/>
              <a:t>be satisfied </a:t>
            </a:r>
            <a:r>
              <a:rPr lang="en-IT" sz="1600" dirty="0">
                <a:sym typeface="Wingdings" pitchFamily="2" charset="2"/>
              </a:rPr>
              <a:t> &lt;1,2,3,5&gt; is not feasible</a:t>
            </a:r>
            <a:endParaRPr lang="en-IT" sz="1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161EB05-DE60-23EB-F006-D55A3DB3249B}"/>
              </a:ext>
            </a:extLst>
          </p:cNvPr>
          <p:cNvSpPr txBox="1"/>
          <p:nvPr/>
        </p:nvSpPr>
        <p:spPr>
          <a:xfrm>
            <a:off x="8210501" y="5750419"/>
            <a:ext cx="32311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Path</a:t>
            </a:r>
            <a:r>
              <a:rPr lang="en-IT" sz="1600" dirty="0"/>
              <a:t> condition can be satisfied </a:t>
            </a:r>
            <a:r>
              <a:rPr lang="en-IT" sz="1600" dirty="0">
                <a:sym typeface="Wingdings" pitchFamily="2" charset="2"/>
              </a:rPr>
              <a:t> &lt;1,2,3,4,5,6&gt; is feasible</a:t>
            </a:r>
            <a:endParaRPr lang="en-IT" sz="1600" dirty="0"/>
          </a:p>
        </p:txBody>
      </p:sp>
    </p:spTree>
    <p:extLst>
      <p:ext uri="{BB962C8B-B14F-4D97-AF65-F5344CB8AC3E}">
        <p14:creationId xmlns:p14="http://schemas.microsoft.com/office/powerpoint/2010/main" val="42102357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CEE5E-9DAC-9484-50DC-EFE30385A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309AE-4A0D-1DCD-56C7-146AD6D58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Symbolic Execution: Strengths and Limits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E8992-BBAB-6CFE-6333-1E2977B0C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16 -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E58A8D-31CE-E6BB-1730-998E1F133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25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400F6-989B-8547-CFF1-A69601679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/>
          </a:bodyPr>
          <a:lstStyle/>
          <a:p>
            <a:r>
              <a:rPr lang="en-GB" dirty="0"/>
              <a:t>Strengths:</a:t>
            </a:r>
          </a:p>
          <a:p>
            <a:pPr lvl="1"/>
            <a:r>
              <a:rPr lang="en-GB" dirty="0"/>
              <a:t>High precision</a:t>
            </a:r>
          </a:p>
          <a:p>
            <a:pPr lvl="1"/>
            <a:r>
              <a:rPr lang="en-GB" dirty="0"/>
              <a:t>Systematic path exploration</a:t>
            </a:r>
          </a:p>
          <a:p>
            <a:r>
              <a:rPr lang="en-GB" dirty="0"/>
              <a:t>Limitations:</a:t>
            </a:r>
          </a:p>
          <a:p>
            <a:pPr lvl="1"/>
            <a:r>
              <a:rPr lang="en-GB" dirty="0"/>
              <a:t>Path explosion</a:t>
            </a:r>
          </a:p>
          <a:p>
            <a:pPr lvl="1"/>
            <a:r>
              <a:rPr lang="en-GB" dirty="0"/>
              <a:t>Constraint solver complexity</a:t>
            </a:r>
          </a:p>
          <a:p>
            <a:pPr lvl="1"/>
            <a:r>
              <a:rPr lang="en-GB" dirty="0"/>
              <a:t>Scalability challenges</a:t>
            </a:r>
          </a:p>
        </p:txBody>
      </p:sp>
    </p:spTree>
    <p:extLst>
      <p:ext uri="{BB962C8B-B14F-4D97-AF65-F5344CB8AC3E}">
        <p14:creationId xmlns:p14="http://schemas.microsoft.com/office/powerpoint/2010/main" val="2785018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Wrap-up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Software analysis complements testing</a:t>
            </a:r>
          </a:p>
          <a:p>
            <a:pPr lvl="0"/>
            <a:r>
              <a:rPr lang="en-US" dirty="0"/>
              <a:t>Over-approximation enables sound analysis</a:t>
            </a:r>
          </a:p>
          <a:p>
            <a:pPr lvl="0"/>
            <a:r>
              <a:rPr lang="en-US" dirty="0"/>
              <a:t>Data-flow analysis makes use of CFGs</a:t>
            </a:r>
          </a:p>
          <a:p>
            <a:pPr lvl="0"/>
            <a:r>
              <a:rPr lang="en-US" dirty="0"/>
              <a:t>Symbolic execution bridges analysis and testing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E4987-08DF-4D87-6ABF-C6328947F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16 -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F1D207-5537-8DFC-81A0-66948D41A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5140</TotalTime>
  <Words>2117</Words>
  <Application>Microsoft Macintosh PowerPoint</Application>
  <PresentationFormat>Widescreen</PresentationFormat>
  <Paragraphs>210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Aptos Display</vt:lpstr>
      <vt:lpstr>Arial</vt:lpstr>
      <vt:lpstr>Helvetica</vt:lpstr>
      <vt:lpstr>Wingdings</vt:lpstr>
      <vt:lpstr>Office Theme</vt:lpstr>
      <vt:lpstr>Chapter 16:  Software Analysis</vt:lpstr>
      <vt:lpstr>Software Analysis</vt:lpstr>
      <vt:lpstr>Learning objectives</vt:lpstr>
      <vt:lpstr>What is Software Analysis?</vt:lpstr>
      <vt:lpstr>Why Software Analysis Matters</vt:lpstr>
      <vt:lpstr>Principles of Software Analysis</vt:lpstr>
      <vt:lpstr>Manual Software Analysis</vt:lpstr>
      <vt:lpstr>Automated Software Analysis</vt:lpstr>
      <vt:lpstr>Automated Software Analysis</vt:lpstr>
      <vt:lpstr>Over- vs Under-Approximation</vt:lpstr>
      <vt:lpstr>Over-Approximation: Control-Flow Graphs</vt:lpstr>
      <vt:lpstr>Over-Approximation: Control-Flow Graphs</vt:lpstr>
      <vt:lpstr>Over-Approximation: Control-Flow Graphs</vt:lpstr>
      <vt:lpstr>Data-Flow Analysis</vt:lpstr>
      <vt:lpstr>Live Variables Analysis</vt:lpstr>
      <vt:lpstr>Live Variables Analysis: Equations</vt:lpstr>
      <vt:lpstr>Live Variables Analysis</vt:lpstr>
      <vt:lpstr>Reaching Definitions: Preliminaries</vt:lpstr>
      <vt:lpstr>Reaching Definitions: Preliminaries</vt:lpstr>
      <vt:lpstr>Reaching Definitions: Equations</vt:lpstr>
      <vt:lpstr>Reaching Definitions</vt:lpstr>
      <vt:lpstr>Reaching Definitions: Use-Def Chains</vt:lpstr>
      <vt:lpstr>Symbolic Execution</vt:lpstr>
      <vt:lpstr>Symbolic Execution</vt:lpstr>
      <vt:lpstr>Symbolic Execution</vt:lpstr>
      <vt:lpstr>Symbolic Execution: Strengths and Limits</vt:lpstr>
      <vt:lpstr>Wrap-up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Elisabetta Di Nitto</dc:creator>
  <cp:lastModifiedBy>Matteo Camilli</cp:lastModifiedBy>
  <cp:revision>200</cp:revision>
  <dcterms:created xsi:type="dcterms:W3CDTF">2025-05-15T11:20:47Z</dcterms:created>
  <dcterms:modified xsi:type="dcterms:W3CDTF">2026-01-07T14:53:38Z</dcterms:modified>
</cp:coreProperties>
</file>