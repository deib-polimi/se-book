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5" r:id="rId7"/>
    <p:sldId id="262" r:id="rId8"/>
    <p:sldId id="263" r:id="rId9"/>
    <p:sldId id="276" r:id="rId10"/>
    <p:sldId id="264" r:id="rId11"/>
    <p:sldId id="277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8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1CC26-0DDC-F74C-9610-A5AFC3939A25}" v="107" dt="2025-10-14T21:31:43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2"/>
    <p:restoredTop sz="94671"/>
  </p:normalViewPr>
  <p:slideViewPr>
    <p:cSldViewPr snapToGrid="0">
      <p:cViewPr varScale="1">
        <p:scale>
          <a:sx n="158" d="100"/>
          <a:sy n="158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E4A305-5980-51C4-00CE-A1E53A478C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708C23-44BA-83EE-805A-FA7D5AC43C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4D2014-878F-FF20-787E-1D8B6C11D5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2EB2575-90E9-434C-12F2-9D9182668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5503364-8263-0069-3E15-E53AA0FF6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864F53-95E2-27F6-7EA4-B017856047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B43AA4-1E44-6DFE-BF73-0153DA219E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46854FA-170D-685D-1287-0C3212C8DC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E73371F-ED2D-3D2D-E868-196FF8A3C5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88B0B06-D280-3222-7446-AB54F002D4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207AFF0-B925-74CB-DFC0-13BDE847C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Chapter 5: </a:t>
            </a:r>
            <a:br>
              <a:rPr lang="en-GB" dirty="0"/>
            </a:br>
            <a:r>
              <a:rPr lang="en-GB" dirty="0"/>
              <a:t>Basic Concepts of Requirements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Requirements Engineering (RE)?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b="1" dirty="0"/>
              <a:t>Definition (</a:t>
            </a:r>
            <a:r>
              <a:rPr b="1" dirty="0" err="1"/>
              <a:t>Nuseibeh</a:t>
            </a:r>
            <a:r>
              <a:rPr b="1" dirty="0"/>
              <a:t> and Easterbrook 2000):</a:t>
            </a:r>
          </a:p>
          <a:p>
            <a:pPr lvl="1"/>
            <a:r>
              <a:rPr dirty="0"/>
              <a:t>The primary measure of software system success is how well it meets its intended purpose</a:t>
            </a:r>
          </a:p>
          <a:p>
            <a:pPr lvl="1"/>
            <a:r>
              <a:rPr b="1" dirty="0"/>
              <a:t>RE is the process of discovering that purpose</a:t>
            </a:r>
            <a:r>
              <a:rPr dirty="0"/>
              <a:t> by identifying stakeholders, their needs, and documenting these in an analyzable, communicable, and implementable form</a:t>
            </a:r>
          </a:p>
          <a:p>
            <a:pPr lvl="0"/>
            <a:r>
              <a:rPr b="1" dirty="0"/>
              <a:t>Key </a:t>
            </a:r>
            <a:r>
              <a:rPr lang="it-IT" b="1" dirty="0"/>
              <a:t>i</a:t>
            </a:r>
            <a:r>
              <a:rPr b="1" dirty="0" err="1"/>
              <a:t>ssues</a:t>
            </a:r>
            <a:r>
              <a:rPr b="1" dirty="0"/>
              <a:t> </a:t>
            </a:r>
            <a:r>
              <a:rPr lang="it-IT" b="1" dirty="0"/>
              <a:t>a</a:t>
            </a:r>
            <a:r>
              <a:rPr b="1" dirty="0" err="1"/>
              <a:t>ddressed</a:t>
            </a:r>
            <a:r>
              <a:rPr b="1" dirty="0"/>
              <a:t> by RE:</a:t>
            </a:r>
          </a:p>
          <a:p>
            <a:pPr lvl="1"/>
            <a:r>
              <a:rPr dirty="0"/>
              <a:t>What is the main objective of the system?</a:t>
            </a:r>
          </a:p>
          <a:p>
            <a:pPr lvl="1"/>
            <a:r>
              <a:rPr dirty="0"/>
              <a:t>Who will be affected by the system?</a:t>
            </a:r>
          </a:p>
          <a:p>
            <a:pPr lvl="1"/>
            <a:r>
              <a:rPr dirty="0"/>
              <a:t>Will the system’s functionality be truly useful and improve users’ lives?</a:t>
            </a:r>
          </a:p>
          <a:p>
            <a:pPr lvl="0"/>
            <a:r>
              <a:rPr b="1" dirty="0"/>
              <a:t>Core </a:t>
            </a:r>
            <a:r>
              <a:rPr lang="it-IT" b="1" dirty="0"/>
              <a:t>i</a:t>
            </a:r>
            <a:r>
              <a:rPr b="1" dirty="0" err="1"/>
              <a:t>dea</a:t>
            </a:r>
            <a:r>
              <a:rPr b="1" dirty="0"/>
              <a:t>:</a:t>
            </a:r>
            <a:r>
              <a:rPr dirty="0"/>
              <a:t> Software systems are created to address someone’s needs, and identifying these needs is central to 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0B136-54A0-D356-58FA-8D05AF07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F8C9E-EAC6-A4F4-67DE-67FFCC4B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Ambulance Dispatching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Scenario:</a:t>
            </a:r>
            <a:r>
              <a:rPr dirty="0"/>
              <a:t> Developing a system to manage the dispatch of ambulances in response to emergencies within a given region</a:t>
            </a:r>
          </a:p>
          <a:p>
            <a:pPr lvl="0"/>
            <a:r>
              <a:rPr b="1" dirty="0"/>
              <a:t>Target:</a:t>
            </a:r>
            <a:r>
              <a:rPr dirty="0"/>
              <a:t> An ambulance on site no later than 15 minutes after the report is filed</a:t>
            </a:r>
          </a:p>
          <a:p>
            <a:pPr lvl="0"/>
            <a:r>
              <a:rPr b="1" dirty="0"/>
              <a:t>Key </a:t>
            </a:r>
            <a:r>
              <a:rPr lang="it-IT" b="1" dirty="0" err="1"/>
              <a:t>q</a:t>
            </a:r>
            <a:r>
              <a:rPr b="1" dirty="0" err="1"/>
              <a:t>uestions</a:t>
            </a:r>
            <a:r>
              <a:rPr b="1" dirty="0"/>
              <a:t> for Software Engineers:</a:t>
            </a:r>
          </a:p>
          <a:p>
            <a:pPr lvl="1"/>
            <a:r>
              <a:rPr dirty="0"/>
              <a:t>What is the main objective (e.g., dispatching vs. guiding)?</a:t>
            </a:r>
          </a:p>
          <a:p>
            <a:pPr lvl="1"/>
            <a:r>
              <a:rPr dirty="0"/>
              <a:t>Who is affected and benefits (operators, crew, drivers, citizens)?</a:t>
            </a:r>
          </a:p>
          <a:p>
            <a:pPr lvl="1"/>
            <a:r>
              <a:rPr dirty="0"/>
              <a:t>Will the system be useful (e.g., correct, precise instructions)?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A0C20-87E6-55EE-4584-0BBFCF7E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C0C94-6AAC-E27E-E844-8FE373CC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 in 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b="1" dirty="0"/>
              <a:t>Definition:</a:t>
            </a:r>
            <a:r>
              <a:rPr dirty="0"/>
              <a:t> People (individually or institutionally) who are affected by, or have an interest in, the system</a:t>
            </a:r>
          </a:p>
          <a:p>
            <a:pPr lvl="0"/>
            <a:r>
              <a:rPr b="1" dirty="0"/>
              <a:t>Examples from Case Study:</a:t>
            </a:r>
            <a:r>
              <a:rPr dirty="0"/>
              <a:t> Operators, ambulance crews, ambulance drivers, and indirect beneficiaries like citizens</a:t>
            </a:r>
          </a:p>
          <a:p>
            <a:pPr lvl="0"/>
            <a:r>
              <a:rPr b="1" dirty="0"/>
              <a:t>Beyond </a:t>
            </a:r>
            <a:r>
              <a:rPr lang="it-IT" b="1" dirty="0"/>
              <a:t>h</a:t>
            </a:r>
            <a:r>
              <a:rPr b="1" dirty="0" err="1"/>
              <a:t>uman</a:t>
            </a:r>
            <a:r>
              <a:rPr b="1" dirty="0"/>
              <a:t> </a:t>
            </a:r>
            <a:r>
              <a:rPr lang="it-IT" b="1" dirty="0"/>
              <a:t>u</a:t>
            </a:r>
            <a:r>
              <a:rPr b="1" dirty="0" err="1"/>
              <a:t>sers</a:t>
            </a:r>
            <a:r>
              <a:rPr b="1" dirty="0"/>
              <a:t>:</a:t>
            </a:r>
            <a:r>
              <a:rPr dirty="0"/>
              <a:t> Systems can also provide functionality to other software systems (e.g., via API) or interface with legacy systems</a:t>
            </a:r>
          </a:p>
          <a:p>
            <a:pPr lvl="0"/>
            <a:r>
              <a:rPr b="1" dirty="0"/>
              <a:t>Identifying </a:t>
            </a:r>
            <a:r>
              <a:rPr lang="it-IT" b="1" dirty="0" err="1"/>
              <a:t>s</a:t>
            </a:r>
            <a:r>
              <a:rPr b="1" dirty="0" err="1"/>
              <a:t>takeholders</a:t>
            </a:r>
            <a:r>
              <a:rPr b="1" dirty="0"/>
              <a:t>:</a:t>
            </a:r>
            <a:r>
              <a:rPr dirty="0"/>
              <a:t> Not always immediate</a:t>
            </a:r>
            <a:endParaRPr lang="it-IT" dirty="0"/>
          </a:p>
          <a:p>
            <a:pPr lvl="1"/>
            <a:r>
              <a:rPr lang="it-IT" dirty="0"/>
              <a:t>The stakeholders of an </a:t>
            </a:r>
            <a:r>
              <a:rPr lang="it-IT" dirty="0" err="1"/>
              <a:t>application</a:t>
            </a:r>
            <a:r>
              <a:rPr lang="it-IT" dirty="0"/>
              <a:t> for scheduling classes </a:t>
            </a:r>
            <a:r>
              <a:rPr lang="it-IT" dirty="0" err="1"/>
              <a:t>at</a:t>
            </a:r>
            <a:r>
              <a:rPr lang="it-IT" dirty="0"/>
              <a:t> a </a:t>
            </a:r>
            <a:r>
              <a:rPr lang="it-IT" dirty="0" err="1"/>
              <a:t>university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</a:t>
            </a:r>
            <a:r>
              <a:rPr dirty="0"/>
              <a:t>transportation authorities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69393-D81B-74B0-9757-8D128C9D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0E9D7-A644-A793-CEF0-B1C5B0B6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Another</a:t>
            </a:r>
            <a:r>
              <a:rPr lang="it-IT" dirty="0"/>
              <a:t> </a:t>
            </a:r>
            <a:r>
              <a:rPr lang="it-IT" dirty="0" err="1"/>
              <a:t>view</a:t>
            </a:r>
            <a:r>
              <a:rPr lang="it-IT" dirty="0"/>
              <a:t> of 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Definition (</a:t>
            </a:r>
            <a:r>
              <a:rPr b="1" dirty="0" err="1"/>
              <a:t>Zave</a:t>
            </a:r>
            <a:r>
              <a:rPr b="1" dirty="0"/>
              <a:t> and Jackson 1995):</a:t>
            </a:r>
            <a:endParaRPr lang="it-IT" b="1" dirty="0"/>
          </a:p>
          <a:p>
            <a:pPr lvl="1"/>
            <a:r>
              <a:rPr dirty="0"/>
              <a:t>RE is concerned with </a:t>
            </a:r>
            <a:r>
              <a:rPr b="1" dirty="0"/>
              <a:t>real-world goals, functions, and constraints</a:t>
            </a:r>
            <a:r>
              <a:rPr dirty="0"/>
              <a:t> on software systems, and their relationship to precise specifications and evolution over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94E02-504F-E0B8-0A0E-34924ACA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51B87-2795-A8EA-336F-547BC24E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B040-978B-A27F-840D-991FBE42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5214-A8DD-FF58-6490-B5EAE0F1B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Evolving Nature of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6B647-1856-6693-A3A9-A182EA090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1639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GB" b="1" dirty="0"/>
              <a:t>Dynamic nature:</a:t>
            </a:r>
            <a:r>
              <a:rPr lang="en-GB" dirty="0"/>
              <a:t> Goals and requirements are not static; they evolve even during development</a:t>
            </a:r>
          </a:p>
          <a:p>
            <a:pPr lvl="0"/>
            <a:r>
              <a:rPr lang="en-GB" b="1" dirty="0"/>
              <a:t>Adaptability:</a:t>
            </a:r>
            <a:r>
              <a:rPr lang="en-GB" dirty="0"/>
              <a:t> Systems need to be adaptable to changing environments (e.g., new transportation requirements due to a pandemic)</a:t>
            </a:r>
          </a:p>
          <a:p>
            <a:pPr lvl="0"/>
            <a:r>
              <a:rPr lang="en-GB" b="1" dirty="0"/>
              <a:t>Requirements volatility:</a:t>
            </a:r>
            <a:r>
              <a:rPr lang="en-GB" dirty="0"/>
              <a:t> The tendency of requirements to change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C7285-8A28-BAEA-838D-805B860CD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341" y="2439194"/>
            <a:ext cx="5410200" cy="31242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6918154-53DE-C8A8-403B-881AA5E0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9545C-65CF-8AB6-C2D9-7EB10BDC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3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Separating the World from the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b="1" dirty="0"/>
              <a:t>Core </a:t>
            </a:r>
            <a:r>
              <a:rPr lang="it-IT" b="1" dirty="0"/>
              <a:t>c</a:t>
            </a:r>
            <a:r>
              <a:rPr b="1" dirty="0" err="1"/>
              <a:t>oncept</a:t>
            </a:r>
            <a:r>
              <a:rPr b="1" dirty="0"/>
              <a:t>:</a:t>
            </a:r>
            <a:r>
              <a:rPr dirty="0"/>
              <a:t> Requirements emerge from the interaction between the software (the </a:t>
            </a:r>
            <a:r>
              <a:rPr b="1" dirty="0"/>
              <a:t>machine</a:t>
            </a:r>
            <a:r>
              <a:rPr dirty="0"/>
              <a:t>) and its environment (the </a:t>
            </a:r>
            <a:r>
              <a:rPr b="1" dirty="0"/>
              <a:t>world</a:t>
            </a:r>
            <a:r>
              <a:rPr dirty="0"/>
              <a:t>)</a:t>
            </a:r>
          </a:p>
          <a:p>
            <a:pPr lvl="0"/>
            <a:r>
              <a:rPr b="1" dirty="0"/>
              <a:t>Crucial </a:t>
            </a:r>
            <a:r>
              <a:rPr lang="it-IT" b="1" dirty="0" err="1"/>
              <a:t>s</a:t>
            </a:r>
            <a:r>
              <a:rPr b="1" dirty="0" err="1"/>
              <a:t>tep</a:t>
            </a:r>
            <a:r>
              <a:rPr b="1" dirty="0"/>
              <a:t>:</a:t>
            </a:r>
            <a:r>
              <a:rPr dirty="0"/>
              <a:t> Precisely understanding and separating the problem (world) from the solution (machine) and clearly drawing the boundary between them</a:t>
            </a:r>
          </a:p>
          <a:p>
            <a:pPr lvl="0"/>
            <a:r>
              <a:rPr b="1" dirty="0"/>
              <a:t>Impact of </a:t>
            </a:r>
            <a:r>
              <a:rPr lang="it-IT" b="1" dirty="0"/>
              <a:t>b</a:t>
            </a:r>
            <a:r>
              <a:rPr b="1" dirty="0" err="1"/>
              <a:t>oundary</a:t>
            </a:r>
            <a:r>
              <a:rPr b="1" dirty="0"/>
              <a:t>:</a:t>
            </a:r>
            <a:r>
              <a:rPr dirty="0"/>
              <a:t> What is considered "machine" versus "world" significantly changes the system’s tasks and functions</a:t>
            </a:r>
          </a:p>
          <a:p>
            <a:pPr lvl="1"/>
            <a:r>
              <a:rPr b="1" dirty="0"/>
              <a:t>Example:</a:t>
            </a:r>
            <a:r>
              <a:rPr dirty="0"/>
              <a:t> Is guiding the ambulance </a:t>
            </a:r>
            <a:r>
              <a:rPr lang="it-IT" dirty="0"/>
              <a:t>to the </a:t>
            </a:r>
            <a:r>
              <a:rPr lang="it-IT" dirty="0" err="1"/>
              <a:t>accident's</a:t>
            </a:r>
            <a:r>
              <a:rPr lang="it-IT" dirty="0"/>
              <a:t> site </a:t>
            </a:r>
            <a:r>
              <a:rPr dirty="0"/>
              <a:t>part of the system’s scope, or is it delegated to the world (e.g., an external map service)?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D077D-9B9B-9207-D106-741739C47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64547-156D-2570-E5CF-20115CCD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and Machine Phenomena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b="1" dirty="0"/>
              <a:t>Categories of </a:t>
            </a:r>
            <a:r>
              <a:rPr lang="it-IT" b="1" dirty="0" err="1"/>
              <a:t>p</a:t>
            </a:r>
            <a:r>
              <a:rPr b="1" dirty="0" err="1"/>
              <a:t>henomena</a:t>
            </a:r>
            <a:r>
              <a:rPr b="1" dirty="0"/>
              <a:t>:</a:t>
            </a:r>
          </a:p>
          <a:p>
            <a:pPr lvl="1"/>
            <a:r>
              <a:rPr b="1" dirty="0"/>
              <a:t>World-only phenomena:</a:t>
            </a:r>
            <a:r>
              <a:rPr dirty="0"/>
              <a:t> Occur in the world, machine is unaware</a:t>
            </a:r>
            <a:endParaRPr lang="it-IT" dirty="0"/>
          </a:p>
          <a:p>
            <a:pPr lvl="2"/>
            <a:r>
              <a:rPr dirty="0"/>
              <a:t>e.g., occurrence of accidents in the city, citizens calling emergency lines</a:t>
            </a:r>
          </a:p>
          <a:p>
            <a:pPr lvl="1"/>
            <a:r>
              <a:rPr b="1" dirty="0"/>
              <a:t>Machine-only phenomena:</a:t>
            </a:r>
            <a:r>
              <a:rPr dirty="0"/>
              <a:t> Occur in the machine, world is unaware</a:t>
            </a:r>
            <a:endParaRPr lang="it-IT" dirty="0"/>
          </a:p>
          <a:p>
            <a:pPr lvl="2"/>
            <a:r>
              <a:rPr dirty="0"/>
              <a:t>e.g., storing accident info in a database, computing shortest paths</a:t>
            </a:r>
          </a:p>
          <a:p>
            <a:pPr lvl="1"/>
            <a:r>
              <a:rPr b="1" dirty="0"/>
              <a:t>World-controlled shared phenomena:</a:t>
            </a:r>
            <a:r>
              <a:rPr dirty="0"/>
              <a:t> Originate in the world, experienced by machine</a:t>
            </a:r>
            <a:endParaRPr lang="it-IT" dirty="0"/>
          </a:p>
          <a:p>
            <a:pPr lvl="2"/>
            <a:r>
              <a:rPr dirty="0"/>
              <a:t>e.g., emergency report entered into the system by operator, accident detection system informing the dispatching system</a:t>
            </a:r>
          </a:p>
          <a:p>
            <a:pPr lvl="1"/>
            <a:r>
              <a:rPr b="1" dirty="0"/>
              <a:t>Machine-controlled shared phenomena:</a:t>
            </a:r>
            <a:r>
              <a:rPr dirty="0"/>
              <a:t> Originate in the machine, world is aware</a:t>
            </a:r>
            <a:endParaRPr lang="it-IT" dirty="0"/>
          </a:p>
          <a:p>
            <a:pPr lvl="2"/>
            <a:r>
              <a:rPr dirty="0"/>
              <a:t>e.g., system notifying ambulance crew of dispatch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8D316-BF73-944B-F7A7-9F4B351E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B992E-24B4-1649-0F8F-E9593882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886DA-E8A0-E9DB-25F7-4D085CCD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Example of world and machine phenomena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01ACA-1190-8132-C16A-57615A1A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7ABFC-0EA3-CB55-B5A6-5166D4C25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65695"/>
            <a:ext cx="7772400" cy="45799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A6F711-5D97-0A0E-35E5-69CC1571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0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Goals, Domain Assumptions,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dirty="0"/>
              <a:t>System success requires collaboration between the software (machine) and the environment (world).</a:t>
            </a:r>
          </a:p>
          <a:p>
            <a:pPr lvl="0"/>
            <a:r>
              <a:rPr b="1" dirty="0"/>
              <a:t>Three </a:t>
            </a:r>
            <a:r>
              <a:rPr lang="it-IT" b="1" dirty="0"/>
              <a:t>c</a:t>
            </a:r>
            <a:r>
              <a:rPr b="1" dirty="0"/>
              <a:t>ore </a:t>
            </a:r>
            <a:r>
              <a:rPr lang="it-IT" b="1" dirty="0"/>
              <a:t>c</a:t>
            </a:r>
            <a:r>
              <a:rPr b="1" dirty="0" err="1"/>
              <a:t>ategories</a:t>
            </a:r>
            <a:r>
              <a:rPr b="1" dirty="0"/>
              <a:t> </a:t>
            </a:r>
            <a:r>
              <a:rPr lang="it-IT" b="1" dirty="0"/>
              <a:t>of </a:t>
            </a:r>
            <a:r>
              <a:rPr lang="it-IT" b="1" dirty="0" err="1"/>
              <a:t>properties</a:t>
            </a:r>
            <a:r>
              <a:rPr lang="it-IT" b="1" dirty="0"/>
              <a:t> </a:t>
            </a:r>
            <a:r>
              <a:rPr b="1" dirty="0"/>
              <a:t>in RE:</a:t>
            </a:r>
          </a:p>
          <a:p>
            <a:pPr lvl="1"/>
            <a:r>
              <a:rPr b="1" dirty="0"/>
              <a:t>Goals (G):</a:t>
            </a:r>
            <a:r>
              <a:rPr dirty="0"/>
              <a:t> </a:t>
            </a:r>
            <a:r>
              <a:rPr i="1" dirty="0"/>
              <a:t>Prescriptive</a:t>
            </a:r>
            <a:r>
              <a:rPr dirty="0"/>
              <a:t> assertions (desired properties) in terms of </a:t>
            </a:r>
            <a:r>
              <a:rPr i="1" dirty="0"/>
              <a:t>world phenomena</a:t>
            </a:r>
            <a:r>
              <a:rPr dirty="0"/>
              <a:t>, from stakeholders’ perspective</a:t>
            </a:r>
            <a:endParaRPr lang="it-IT" dirty="0"/>
          </a:p>
          <a:p>
            <a:pPr lvl="2"/>
            <a:r>
              <a:rPr dirty="0"/>
              <a:t>e.g., get ambulance to site within 15 min</a:t>
            </a:r>
          </a:p>
          <a:p>
            <a:pPr lvl="1"/>
            <a:r>
              <a:rPr b="1" dirty="0"/>
              <a:t>Domain Assumptions (D):</a:t>
            </a:r>
            <a:r>
              <a:rPr dirty="0"/>
              <a:t> </a:t>
            </a:r>
            <a:r>
              <a:rPr i="1" dirty="0"/>
              <a:t>Descriptive</a:t>
            </a:r>
            <a:r>
              <a:rPr dirty="0"/>
              <a:t> assertions about the world’s behavior that the system has </a:t>
            </a:r>
            <a:r>
              <a:rPr i="1" dirty="0"/>
              <a:t>no control over</a:t>
            </a:r>
            <a:r>
              <a:rPr dirty="0"/>
              <a:t>; taken for granted by developers</a:t>
            </a:r>
            <a:endParaRPr lang="it-IT" dirty="0"/>
          </a:p>
          <a:p>
            <a:pPr lvl="2"/>
            <a:r>
              <a:rPr dirty="0"/>
              <a:t>e.g., ambulance driver follows fastest path, location updates are accurate</a:t>
            </a:r>
          </a:p>
          <a:p>
            <a:pPr lvl="1"/>
            <a:r>
              <a:rPr b="1" dirty="0"/>
              <a:t>Requirements (R):</a:t>
            </a:r>
            <a:r>
              <a:rPr dirty="0"/>
              <a:t> </a:t>
            </a:r>
            <a:r>
              <a:rPr i="1" dirty="0"/>
              <a:t>Prescriptive</a:t>
            </a:r>
            <a:r>
              <a:rPr dirty="0"/>
              <a:t> assertions specifying what the system </a:t>
            </a:r>
            <a:r>
              <a:rPr i="1" dirty="0"/>
              <a:t>shall do</a:t>
            </a:r>
            <a:r>
              <a:rPr dirty="0"/>
              <a:t>, formulated in terms of </a:t>
            </a:r>
            <a:r>
              <a:rPr i="1" dirty="0"/>
              <a:t>shared phenomena</a:t>
            </a:r>
            <a:r>
              <a:rPr dirty="0"/>
              <a:t> </a:t>
            </a:r>
            <a:endParaRPr lang="it-IT" dirty="0"/>
          </a:p>
          <a:p>
            <a:pPr lvl="2"/>
            <a:r>
              <a:rPr dirty="0"/>
              <a:t>e.g., system dispatches nearest available ambulance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7E0FE-FA86-55D3-183E-DA4B5551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563A6-6588-FDE0-7039-9F080F3D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8A629-7F31-1E60-5E20-433DBD9E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8A1F-963A-6156-DBF3-CADB4399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Goals, Domain Assumptions,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F76BF-7D16-41A3-FF8C-1FA765AD8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dirty="0"/>
              <a:t>Requirements act as a "bridge" between the world and the machine, enforced by implementation to meet goals.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8FEBE-1564-395B-372D-46D5FBE29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78A2D-670E-8EA1-C1ED-1C5660C70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3140248"/>
            <a:ext cx="7759700" cy="2273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8521E-37F7-7934-9480-C4EB2860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50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Goal-Assumption-Requirement Relationship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it-IT" b="1" dirty="0"/>
                  <a:t>In </a:t>
                </a:r>
                <a:r>
                  <a:rPr lang="it-IT" b="1" dirty="0" err="1"/>
                  <a:t>mathematical</a:t>
                </a:r>
                <a:r>
                  <a:rPr lang="it-IT" b="1" dirty="0"/>
                  <a:t> </a:t>
                </a:r>
                <a:r>
                  <a:rPr lang="it-IT" b="1" dirty="0" err="1"/>
                  <a:t>terms</a:t>
                </a:r>
                <a:r>
                  <a:rPr b="1" dirty="0"/>
                  <a:t>:</a:t>
                </a:r>
                <a:r>
                  <a:rPr dirty="0"/>
                  <a:t> 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dirty="0"/>
                  <a:t> 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dirty="0"/>
                  <a:t> G</a:t>
                </a:r>
              </a:p>
              <a:p>
                <a:pPr lvl="1"/>
                <a:r>
                  <a:rPr dirty="0"/>
                  <a:t>If the requirements (R) and domain assumptions (D) both hold, then the goals (G) will be satisfied</a:t>
                </a:r>
              </a:p>
              <a:p>
                <a:pPr lvl="0"/>
                <a:r>
                  <a:rPr b="1" dirty="0"/>
                  <a:t>Key </a:t>
                </a:r>
                <a:r>
                  <a:rPr lang="it-IT" b="1" dirty="0"/>
                  <a:t>d</a:t>
                </a:r>
                <a:r>
                  <a:rPr b="1" dirty="0" err="1"/>
                  <a:t>ifference</a:t>
                </a:r>
                <a:r>
                  <a:rPr b="1" dirty="0"/>
                  <a:t>:</a:t>
                </a:r>
                <a:r>
                  <a:rPr dirty="0"/>
                  <a:t> Requirements are </a:t>
                </a:r>
                <a:r>
                  <a:rPr i="1" dirty="0"/>
                  <a:t>enforced</a:t>
                </a:r>
                <a:r>
                  <a:rPr dirty="0"/>
                  <a:t> by the system’s implementation, while domain assumptions are </a:t>
                </a:r>
                <a:r>
                  <a:rPr i="1" dirty="0"/>
                  <a:t>taken for granted</a:t>
                </a:r>
                <a:r>
                  <a:rPr dirty="0"/>
                  <a:t> and developers have no control over their validity</a:t>
                </a:r>
              </a:p>
              <a:p>
                <a:pPr lvl="0"/>
                <a:r>
                  <a:rPr b="1" dirty="0"/>
                  <a:t>Importance of Accuracy:</a:t>
                </a:r>
                <a:r>
                  <a:rPr dirty="0"/>
                  <a:t> If domain assumptions incorrectly capture environment features, the system may still fail its goals, even if requirements are perfectly implemented.</a:t>
                </a:r>
                <a:endParaRPr lang="it-IT" dirty="0"/>
              </a:p>
              <a:p>
                <a:pPr lvl="1"/>
                <a:r>
                  <a:rPr dirty="0"/>
                  <a:t>This highlights the criticality of domain knowledge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2D385-7695-93B2-6811-5A352F72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3BD34-4729-4CCD-47A3-9C9C3622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Case: Airplane Braking System Failure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lvl="0"/>
                <a:r>
                  <a:rPr b="1" dirty="0"/>
                  <a:t>Incident (1993):</a:t>
                </a:r>
                <a:r>
                  <a:rPr dirty="0"/>
                  <a:t> A flight from Frankfurt to Warsaw overran the runway, causing fatalities</a:t>
                </a:r>
              </a:p>
              <a:p>
                <a:pPr lvl="0"/>
                <a:r>
                  <a:rPr b="1" dirty="0"/>
                  <a:t>Cause:</a:t>
                </a:r>
                <a:r>
                  <a:rPr dirty="0"/>
                  <a:t> A critical flaw in requirements analysis, not software bugs</a:t>
                </a:r>
              </a:p>
              <a:p>
                <a:pPr lvl="0"/>
                <a:r>
                  <a:rPr b="1" dirty="0"/>
                  <a:t>System Design:</a:t>
                </a:r>
                <a:r>
                  <a:rPr dirty="0"/>
                  <a:t> Braking system relied on wheel sensors to detect "on ground" status, reversing thrust only if wheels were spinning</a:t>
                </a:r>
              </a:p>
              <a:p>
                <a:pPr lvl="0"/>
                <a:r>
                  <a:rPr b="1" dirty="0"/>
                  <a:t>Identified Properties:</a:t>
                </a:r>
              </a:p>
              <a:p>
                <a:pPr lvl="1"/>
                <a:r>
                  <a:rPr b="1" dirty="0"/>
                  <a:t>Goal (G):</a:t>
                </a:r>
                <a:r>
                  <a:rPr dirty="0"/>
                  <a:t> Reverse thrust is enabled if, and only if, the airplane is moving on the runway</a:t>
                </a:r>
              </a:p>
              <a:p>
                <a:pPr lvl="1"/>
                <a:r>
                  <a:rPr b="1" dirty="0"/>
                  <a:t>Domain Assumption 1 (DA1):</a:t>
                </a:r>
                <a:r>
                  <a:rPr dirty="0"/>
                  <a:t> The wheels are turning if, and only if, the airplane is moving on the runway</a:t>
                </a:r>
              </a:p>
              <a:p>
                <a:pPr lvl="1"/>
                <a:r>
                  <a:rPr b="1" dirty="0"/>
                  <a:t>Domain Assumption 2 (DA2):</a:t>
                </a:r>
                <a:r>
                  <a:rPr dirty="0"/>
                  <a:t> The wheel sensors detect that the wheels are turning if, and only if, the wheels are indeed turning</a:t>
                </a:r>
              </a:p>
              <a:p>
                <a:pPr lvl="1"/>
                <a:r>
                  <a:rPr b="1" dirty="0"/>
                  <a:t>Requirement (R):</a:t>
                </a:r>
                <a:r>
                  <a:rPr dirty="0"/>
                  <a:t> Reverse thrust is enabled if, and only if, the wheel sensors detect that the wheels are turning</a:t>
                </a:r>
              </a:p>
              <a:p>
                <a:pPr lvl="0"/>
                <a:r>
                  <a:rPr b="1" dirty="0"/>
                  <a:t>The Flaw:</a:t>
                </a:r>
                <a:r>
                  <a:rPr dirty="0"/>
                  <a:t> 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dirty="0"/>
                  <a:t> 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dirty="0"/>
                  <a:t> G held in theory, but </a:t>
                </a:r>
                <a:r>
                  <a:rPr b="1" dirty="0"/>
                  <a:t>DA1 was invalidated</a:t>
                </a:r>
                <a:r>
                  <a:rPr dirty="0"/>
                  <a:t> by real-world conditions (hydroplaning on wet runway, wheels didn’t turn for 9 seconds after landing).</a:t>
                </a:r>
              </a:p>
              <a:p>
                <a:pPr lvl="0"/>
                <a:r>
                  <a:rPr b="1" dirty="0"/>
                  <a:t>Lesson:</a:t>
                </a:r>
                <a:r>
                  <a:rPr dirty="0"/>
                  <a:t> Correct software implementation is not enough; incorrect or poorly understood requirements and domain assumptions can lead to disaster, underscoring the vital role of domain knowledge.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203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EB878-0207-4FF5-EA79-A571755A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46B4-EC4D-2505-2357-9C8F13F8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Three </a:t>
            </a:r>
            <a:r>
              <a:rPr lang="it-IT" b="1" dirty="0"/>
              <a:t>m</a:t>
            </a:r>
            <a:r>
              <a:rPr b="1" dirty="0" err="1"/>
              <a:t>ain</a:t>
            </a:r>
            <a:r>
              <a:rPr b="1" dirty="0"/>
              <a:t> </a:t>
            </a:r>
            <a:r>
              <a:rPr lang="it-IT" b="1" dirty="0"/>
              <a:t>c</a:t>
            </a:r>
            <a:r>
              <a:rPr b="1" dirty="0" err="1"/>
              <a:t>ategories</a:t>
            </a:r>
            <a:r>
              <a:rPr b="1" dirty="0"/>
              <a:t>:</a:t>
            </a:r>
          </a:p>
          <a:p>
            <a:pPr marL="914377" lvl="1" indent="-457189">
              <a:buAutoNum type="arabicPeriod"/>
            </a:pPr>
            <a:r>
              <a:rPr b="1" dirty="0"/>
              <a:t>Functional </a:t>
            </a:r>
            <a:r>
              <a:rPr lang="it-IT" b="1" dirty="0" err="1"/>
              <a:t>r</a:t>
            </a:r>
            <a:r>
              <a:rPr b="1" dirty="0" err="1"/>
              <a:t>equirements</a:t>
            </a:r>
            <a:r>
              <a:rPr b="1" dirty="0"/>
              <a:t>:</a:t>
            </a:r>
            <a:r>
              <a:rPr dirty="0"/>
              <a:t> What the software </a:t>
            </a:r>
            <a:r>
              <a:rPr i="1" dirty="0"/>
              <a:t>should do</a:t>
            </a:r>
            <a:r>
              <a:rPr dirty="0"/>
              <a:t> in its interactions with the environment.</a:t>
            </a:r>
          </a:p>
          <a:p>
            <a:pPr marL="914377" lvl="1" indent="-457189">
              <a:buAutoNum type="arabicPeriod"/>
            </a:pPr>
            <a:r>
              <a:rPr b="1" dirty="0"/>
              <a:t>Non-functional </a:t>
            </a:r>
            <a:r>
              <a:rPr lang="it-IT" b="1" dirty="0" err="1"/>
              <a:t>r</a:t>
            </a:r>
            <a:r>
              <a:rPr b="1" dirty="0" err="1"/>
              <a:t>equirements</a:t>
            </a:r>
            <a:r>
              <a:rPr b="1" dirty="0"/>
              <a:t>:</a:t>
            </a:r>
            <a:r>
              <a:rPr dirty="0"/>
              <a:t> Characterize aspects of the system perceived by users, not directly related to functionality (i.e., </a:t>
            </a:r>
            <a:r>
              <a:rPr i="1" dirty="0"/>
              <a:t>how well</a:t>
            </a:r>
            <a:r>
              <a:rPr dirty="0"/>
              <a:t> it does it).</a:t>
            </a:r>
          </a:p>
          <a:p>
            <a:pPr marL="914377" lvl="1" indent="-457189">
              <a:buAutoNum type="arabicPeriod"/>
            </a:pPr>
            <a:r>
              <a:rPr b="1" dirty="0"/>
              <a:t>Constraints (</a:t>
            </a:r>
            <a:r>
              <a:rPr lang="it-IT" b="1" dirty="0"/>
              <a:t>t</a:t>
            </a:r>
            <a:r>
              <a:rPr b="1" dirty="0" err="1"/>
              <a:t>echnical</a:t>
            </a:r>
            <a:r>
              <a:rPr b="1" dirty="0"/>
              <a:t> </a:t>
            </a:r>
            <a:r>
              <a:rPr lang="it-IT" b="1" dirty="0"/>
              <a:t>r</a:t>
            </a:r>
            <a:r>
              <a:rPr b="1" dirty="0" err="1"/>
              <a:t>equirements</a:t>
            </a:r>
            <a:r>
              <a:rPr b="1" dirty="0"/>
              <a:t>):</a:t>
            </a:r>
            <a:r>
              <a:rPr dirty="0"/>
              <a:t> Internal aspects of the software mandated by customers or the environment.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E530-6E97-9229-309A-FB0213B7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E231C-3D3C-1E79-CBC3-186987B3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b="1" dirty="0"/>
              <a:t>Focus:</a:t>
            </a:r>
            <a:r>
              <a:rPr dirty="0"/>
              <a:t> Describe the </a:t>
            </a:r>
            <a:r>
              <a:rPr b="1" dirty="0"/>
              <a:t>functions</a:t>
            </a:r>
            <a:r>
              <a:rPr dirty="0"/>
              <a:t> the system provides to users (the "what").</a:t>
            </a:r>
          </a:p>
          <a:p>
            <a:pPr lvl="0"/>
            <a:r>
              <a:rPr b="1" dirty="0"/>
              <a:t>Nature:</a:t>
            </a:r>
            <a:r>
              <a:rPr dirty="0"/>
              <a:t> They specify </a:t>
            </a:r>
            <a:r>
              <a:rPr i="1" dirty="0"/>
              <a:t>what</a:t>
            </a:r>
            <a:r>
              <a:rPr dirty="0"/>
              <a:t> the system performs, not </a:t>
            </a:r>
            <a:r>
              <a:rPr i="1" dirty="0"/>
              <a:t>how</a:t>
            </a:r>
            <a:r>
              <a:rPr dirty="0"/>
              <a:t> it performs it </a:t>
            </a:r>
            <a:endParaRPr lang="it-IT" dirty="0"/>
          </a:p>
          <a:p>
            <a:pPr lvl="1"/>
            <a:r>
              <a:rPr dirty="0"/>
              <a:t>e.g., they don’t detail algorithms</a:t>
            </a:r>
          </a:p>
          <a:p>
            <a:pPr lvl="0"/>
            <a:r>
              <a:rPr b="1" dirty="0"/>
              <a:t>Examples (Ambulance Dispatching System):</a:t>
            </a:r>
          </a:p>
          <a:p>
            <a:pPr lvl="1"/>
            <a:r>
              <a:rPr dirty="0"/>
              <a:t>When a call reporting an accident is received, the system </a:t>
            </a:r>
            <a:r>
              <a:rPr b="1" dirty="0"/>
              <a:t>shall determine</a:t>
            </a:r>
            <a:r>
              <a:rPr dirty="0"/>
              <a:t> the nearest available ambulance</a:t>
            </a:r>
          </a:p>
          <a:p>
            <a:pPr lvl="1"/>
            <a:r>
              <a:rPr dirty="0"/>
              <a:t>When the system receives a new position from an ambulance, it </a:t>
            </a:r>
            <a:r>
              <a:rPr b="1" dirty="0"/>
              <a:t>shall update</a:t>
            </a:r>
            <a:r>
              <a:rPr dirty="0"/>
              <a:t> the recorded ambulance position</a:t>
            </a:r>
          </a:p>
          <a:p>
            <a:pPr lvl="1"/>
            <a:r>
              <a:rPr dirty="0"/>
              <a:t>The system </a:t>
            </a:r>
            <a:r>
              <a:rPr b="1" dirty="0"/>
              <a:t>shall allow</a:t>
            </a:r>
            <a:r>
              <a:rPr dirty="0"/>
              <a:t> operators to select a specific ambulance to be sent to an accident site</a:t>
            </a:r>
          </a:p>
          <a:p>
            <a:pPr lvl="1"/>
            <a:r>
              <a:rPr dirty="0"/>
              <a:t>When an ambulance is assigned, the system </a:t>
            </a:r>
            <a:r>
              <a:rPr b="1" dirty="0"/>
              <a:t>shall notify</a:t>
            </a:r>
            <a:r>
              <a:rPr dirty="0"/>
              <a:t> the ambulance crew of the assignment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875AD-7EC7-4B4C-8489-BBE9255A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33428-803A-693F-2D6B-BE18A2BB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 (NFRs)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b="1" dirty="0"/>
              <a:t>Focus:</a:t>
            </a:r>
            <a:r>
              <a:rPr dirty="0"/>
              <a:t> Describe the </a:t>
            </a:r>
            <a:r>
              <a:rPr b="1" dirty="0"/>
              <a:t>qualities</a:t>
            </a:r>
            <a:r>
              <a:rPr dirty="0"/>
              <a:t> with which the system delivers its functions (the "how well")</a:t>
            </a:r>
          </a:p>
          <a:p>
            <a:pPr lvl="0"/>
            <a:r>
              <a:rPr b="1" dirty="0"/>
              <a:t>Measurability:</a:t>
            </a:r>
            <a:r>
              <a:rPr dirty="0"/>
              <a:t> Must be expressed in measurable and quantifiable terms for validation and verification</a:t>
            </a:r>
            <a:endParaRPr lang="it-IT" dirty="0"/>
          </a:p>
          <a:p>
            <a:pPr lvl="1"/>
            <a:r>
              <a:rPr dirty="0"/>
              <a:t>e.g., "send notifications within 1 second," not "be fast"</a:t>
            </a:r>
          </a:p>
          <a:p>
            <a:pPr lvl="0"/>
            <a:r>
              <a:rPr lang="it-IT" b="1" dirty="0" err="1"/>
              <a:t>Commonly</a:t>
            </a:r>
            <a:r>
              <a:rPr lang="it-IT" b="1" dirty="0"/>
              <a:t> </a:t>
            </a:r>
            <a:r>
              <a:rPr lang="it-IT" b="1" dirty="0" err="1"/>
              <a:t>found</a:t>
            </a:r>
            <a:r>
              <a:rPr lang="it-IT" b="1" dirty="0"/>
              <a:t> c</a:t>
            </a:r>
            <a:r>
              <a:rPr b="1" dirty="0" err="1"/>
              <a:t>ategories</a:t>
            </a:r>
            <a:r>
              <a:rPr b="1" dirty="0"/>
              <a:t>:</a:t>
            </a:r>
          </a:p>
          <a:p>
            <a:pPr lvl="1"/>
            <a:r>
              <a:rPr b="1" dirty="0"/>
              <a:t>Performance:</a:t>
            </a:r>
            <a:r>
              <a:rPr dirty="0"/>
              <a:t> Efficiency, response times</a:t>
            </a:r>
            <a:endParaRPr lang="it-IT" dirty="0"/>
          </a:p>
          <a:p>
            <a:pPr lvl="2"/>
            <a:r>
              <a:rPr dirty="0"/>
              <a:t>e.g., </a:t>
            </a:r>
            <a:r>
              <a:rPr lang="it-IT" dirty="0"/>
              <a:t>the system </a:t>
            </a:r>
            <a:r>
              <a:rPr lang="it-IT" b="1" dirty="0" err="1"/>
              <a:t>shall</a:t>
            </a:r>
            <a:r>
              <a:rPr lang="it-IT" b="1" dirty="0"/>
              <a:t> </a:t>
            </a:r>
            <a:r>
              <a:rPr lang="it-IT" b="1" dirty="0" err="1"/>
              <a:t>send</a:t>
            </a:r>
            <a:r>
              <a:rPr lang="it-IT" dirty="0"/>
              <a:t> </a:t>
            </a:r>
            <a:r>
              <a:rPr dirty="0"/>
              <a:t>notifications </a:t>
            </a:r>
            <a:r>
              <a:rPr lang="it-IT" dirty="0"/>
              <a:t>of </a:t>
            </a:r>
            <a:r>
              <a:rPr lang="it-IT" dirty="0" err="1"/>
              <a:t>assignments</a:t>
            </a:r>
            <a:r>
              <a:rPr lang="it-IT" dirty="0"/>
              <a:t> </a:t>
            </a:r>
            <a:r>
              <a:rPr dirty="0"/>
              <a:t>within 1 second</a:t>
            </a:r>
          </a:p>
          <a:p>
            <a:pPr lvl="1"/>
            <a:r>
              <a:rPr b="1" dirty="0"/>
              <a:t>Reliability:</a:t>
            </a:r>
            <a:r>
              <a:rPr dirty="0"/>
              <a:t> Correct functioning over time, even with faults</a:t>
            </a:r>
            <a:endParaRPr lang="it-IT" dirty="0"/>
          </a:p>
          <a:p>
            <a:pPr lvl="1"/>
            <a:r>
              <a:rPr b="1" dirty="0"/>
              <a:t>Scalability:</a:t>
            </a:r>
            <a:r>
              <a:rPr dirty="0"/>
              <a:t> Maintain performance under increased load</a:t>
            </a:r>
          </a:p>
          <a:p>
            <a:pPr lvl="1"/>
            <a:r>
              <a:rPr b="1" dirty="0"/>
              <a:t>Security:</a:t>
            </a:r>
            <a:r>
              <a:rPr dirty="0"/>
              <a:t> Privacy, confidentiality, integrity, authenticity</a:t>
            </a:r>
            <a:endParaRPr lang="it-IT" dirty="0"/>
          </a:p>
          <a:p>
            <a:pPr lvl="2"/>
            <a:r>
              <a:rPr dirty="0"/>
              <a:t>e.g., </a:t>
            </a:r>
            <a:r>
              <a:rPr lang="en-GB" dirty="0"/>
              <a:t>the positions of the ambulances </a:t>
            </a:r>
            <a:r>
              <a:rPr lang="en-GB" b="1" dirty="0"/>
              <a:t>shall be kept confidential</a:t>
            </a:r>
            <a:r>
              <a:rPr lang="en-GB" dirty="0"/>
              <a:t> and accessible only to</a:t>
            </a:r>
          </a:p>
          <a:p>
            <a:pPr lvl="2"/>
            <a:r>
              <a:rPr lang="en-GB" dirty="0"/>
              <a:t>users with specific access permission</a:t>
            </a:r>
            <a:endParaRPr dirty="0"/>
          </a:p>
          <a:p>
            <a:pPr lvl="1"/>
            <a:r>
              <a:rPr b="1" dirty="0"/>
              <a:t>Interoperability:</a:t>
            </a:r>
            <a:r>
              <a:rPr dirty="0"/>
              <a:t> Collaboration and data exchange with other systems</a:t>
            </a:r>
          </a:p>
          <a:p>
            <a:pPr lvl="1"/>
            <a:r>
              <a:rPr b="1" dirty="0"/>
              <a:t>User-friendliness:</a:t>
            </a:r>
            <a:r>
              <a:rPr dirty="0"/>
              <a:t> Ease of interaction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88D78-C11E-C83B-929E-B4B2B484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CC782-97D0-1CC0-D01C-BDED7297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Constraints (Technical Requirements)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b="1" dirty="0"/>
              <a:t>Focus:</a:t>
            </a:r>
            <a:r>
              <a:rPr dirty="0"/>
              <a:t> Capture technical properties imposed by stakeholders or the environment.</a:t>
            </a:r>
          </a:p>
          <a:p>
            <a:pPr lvl="0"/>
            <a:r>
              <a:rPr b="1" dirty="0"/>
              <a:t>Impact:</a:t>
            </a:r>
            <a:r>
              <a:rPr dirty="0"/>
              <a:t> Can lead to specific technological choices or adoption of certain solutions.</a:t>
            </a:r>
          </a:p>
          <a:p>
            <a:pPr lvl="0"/>
            <a:r>
              <a:rPr b="1" dirty="0"/>
              <a:t>Examples (Ambulance Dispatching System):</a:t>
            </a:r>
          </a:p>
          <a:p>
            <a:pPr lvl="1"/>
            <a:r>
              <a:rPr dirty="0"/>
              <a:t>The system </a:t>
            </a:r>
            <a:r>
              <a:rPr b="1" dirty="0"/>
              <a:t>shall run</a:t>
            </a:r>
            <a:r>
              <a:rPr dirty="0"/>
              <a:t> on machines equipped with the Linux operating system</a:t>
            </a:r>
          </a:p>
          <a:p>
            <a:pPr lvl="1"/>
            <a:r>
              <a:rPr dirty="0"/>
              <a:t>The system </a:t>
            </a:r>
            <a:r>
              <a:rPr b="1" dirty="0"/>
              <a:t>shall use</a:t>
            </a:r>
            <a:r>
              <a:rPr dirty="0"/>
              <a:t> the Data Distribution Service (DDS) standard to distribute notifications</a:t>
            </a:r>
          </a:p>
          <a:p>
            <a:pPr lvl="0"/>
            <a:r>
              <a:rPr dirty="0"/>
              <a:t>Constraints often derive from existing infrastructure, cost considerations, or legal/organizational mandates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EBC69-C8C1-F9D3-4C8C-FCD38E73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8E0FA-3CD6-2F2B-F05A-C21FC31D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Requirements Engineering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Non-trivial Process:</a:t>
            </a:r>
            <a:r>
              <a:rPr dirty="0"/>
              <a:t> Involves several key activities</a:t>
            </a:r>
          </a:p>
          <a:p>
            <a:pPr lvl="0"/>
            <a:r>
              <a:rPr b="1" dirty="0"/>
              <a:t>Typical Workflow: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20CF2-71F2-A5C3-49E6-5D5F4DA50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1201D6-A806-1A75-4E7D-AEAA44969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64" y="2439896"/>
            <a:ext cx="6625936" cy="387200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C8CAD-32E1-27BD-4E45-AB726869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 Process: Elicitation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Elicitation (Identification):</a:t>
            </a:r>
          </a:p>
          <a:p>
            <a:pPr lvl="1"/>
            <a:r>
              <a:rPr b="1" dirty="0"/>
              <a:t>Method:</a:t>
            </a:r>
            <a:r>
              <a:rPr dirty="0"/>
              <a:t> Exploring the system’s environment</a:t>
            </a:r>
          </a:p>
          <a:p>
            <a:pPr lvl="1"/>
            <a:r>
              <a:rPr b="1" dirty="0"/>
              <a:t>Sources:</a:t>
            </a:r>
            <a:r>
              <a:rPr dirty="0"/>
              <a:t> Interviewing stakeholders, existing systems, domain documents (e.g., procedures)</a:t>
            </a:r>
          </a:p>
          <a:p>
            <a:pPr lvl="0"/>
            <a:r>
              <a:rPr b="1" dirty="0"/>
              <a:t>Modeling/Expression:</a:t>
            </a:r>
          </a:p>
          <a:p>
            <a:pPr lvl="1"/>
            <a:r>
              <a:rPr b="1" dirty="0"/>
              <a:t>Purpose:</a:t>
            </a:r>
            <a:r>
              <a:rPr dirty="0"/>
              <a:t> To communicate requirements to interested parties</a:t>
            </a:r>
          </a:p>
          <a:p>
            <a:pPr lvl="1"/>
            <a:r>
              <a:rPr b="1" dirty="0"/>
              <a:t>Notations:</a:t>
            </a:r>
            <a:r>
              <a:rPr dirty="0"/>
              <a:t> Can range from natural language to </a:t>
            </a:r>
            <a:r>
              <a:rPr lang="it-IT" dirty="0" err="1"/>
              <a:t>notations</a:t>
            </a:r>
            <a:r>
              <a:rPr lang="it-IT" dirty="0"/>
              <a:t> with </a:t>
            </a:r>
            <a:r>
              <a:rPr lang="it-IT" dirty="0" err="1"/>
              <a:t>various</a:t>
            </a:r>
            <a:r>
              <a:rPr lang="it-IT" dirty="0"/>
              <a:t> </a:t>
            </a:r>
            <a:r>
              <a:rPr dirty="0"/>
              <a:t>degrees of formal </a:t>
            </a:r>
            <a:r>
              <a:rPr lang="it-IT" dirty="0"/>
              <a:t>rigor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4B1BC-DB20-D24D-BE2D-A30A5402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88D3A-09A6-9716-DEF4-B31FBAFF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 Process: Analysis</a:t>
            </a:r>
            <a:r>
              <a:rPr lang="it-IT" dirty="0"/>
              <a:t> and</a:t>
            </a:r>
            <a:r>
              <a:rPr dirty="0"/>
              <a:t>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74426" cy="4351338"/>
          </a:xfrm>
        </p:spPr>
        <p:txBody>
          <a:bodyPr>
            <a:normAutofit fontScale="92500"/>
          </a:bodyPr>
          <a:lstStyle/>
          <a:p>
            <a:r>
              <a:rPr b="1" dirty="0"/>
              <a:t>Crucial:</a:t>
            </a:r>
            <a:r>
              <a:rPr dirty="0"/>
              <a:t> Catch potential errors as early as possible</a:t>
            </a:r>
          </a:p>
          <a:p>
            <a:r>
              <a:rPr b="1" dirty="0"/>
              <a:t>Impact of Early Detection:</a:t>
            </a:r>
            <a:r>
              <a:rPr dirty="0"/>
              <a:t> The cost of correcting errors in requirements escalates dramatically later in the development process</a:t>
            </a:r>
            <a:endParaRPr lang="it-IT" dirty="0"/>
          </a:p>
          <a:p>
            <a:pPr lvl="1"/>
            <a:r>
              <a:rPr dirty="0"/>
              <a:t>e.g., 1x cost in elicitation vs. 200x after deployment</a:t>
            </a:r>
          </a:p>
          <a:p>
            <a:r>
              <a:rPr b="1" dirty="0"/>
              <a:t>Example:</a:t>
            </a:r>
            <a:r>
              <a:rPr dirty="0"/>
              <a:t> Thorough analysis of the airplane braking system’s domain assumptions could have prevented the accident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5F2AD-8576-2109-81C4-0B6707546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A0B3FB-D987-4A37-4006-08261EACD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626" y="2391433"/>
            <a:ext cx="4458087" cy="378553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EAC29-F553-7817-AEBD-33591609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1A48F-A196-B23D-00DA-4391059A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BDF6-043A-3E1F-0567-199BF719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 Process: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CE4A3-039D-F315-A97A-4D4AD1EF6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Purpose:</a:t>
            </a:r>
            <a:r>
              <a:rPr dirty="0"/>
              <a:t> To communicate requirements to different groups (customers, programmers, testers)</a:t>
            </a:r>
          </a:p>
          <a:p>
            <a:r>
              <a:rPr b="1" dirty="0"/>
              <a:t>Deliverable:</a:t>
            </a:r>
            <a:r>
              <a:rPr dirty="0"/>
              <a:t> Requirements Analysis and Specification Document (RASD) presents outcomes clearly and completely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2E82E-3E05-1191-96C5-D8D38F89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A433C-8AFC-C90E-B8E8-198C5B0F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93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Wrap-up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lvl="0"/>
                <a:r>
                  <a:rPr b="1" dirty="0"/>
                  <a:t>Fundamental </a:t>
                </a:r>
                <a:r>
                  <a:rPr lang="it-IT" b="1" dirty="0"/>
                  <a:t>c</a:t>
                </a:r>
                <a:r>
                  <a:rPr b="1" dirty="0" err="1"/>
                  <a:t>oncepts</a:t>
                </a:r>
                <a:r>
                  <a:rPr b="1" dirty="0"/>
                  <a:t>:</a:t>
                </a:r>
                <a:r>
                  <a:rPr dirty="0"/>
                  <a:t> Introduced RE, distinguishing the "world" from the "machine" through shared and private "phenomena"</a:t>
                </a:r>
              </a:p>
              <a:p>
                <a:pPr lvl="0"/>
                <a:r>
                  <a:rPr b="1" dirty="0"/>
                  <a:t>Core </a:t>
                </a:r>
                <a:r>
                  <a:rPr lang="it-IT" b="1" dirty="0" err="1"/>
                  <a:t>p</a:t>
                </a:r>
                <a:r>
                  <a:rPr b="1" dirty="0" err="1"/>
                  <a:t>illars</a:t>
                </a:r>
                <a:r>
                  <a:rPr b="1" dirty="0"/>
                  <a:t>:</a:t>
                </a:r>
                <a:r>
                  <a:rPr dirty="0"/>
                  <a:t> Defined Goals, Domain Assumptions, and Requirements, and their crucial interrelationship (R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dirty="0"/>
                  <a:t> 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dirty="0"/>
                  <a:t> G)</a:t>
                </a:r>
              </a:p>
              <a:p>
                <a:pPr lvl="0"/>
                <a:r>
                  <a:rPr b="1" dirty="0"/>
                  <a:t>Requirement </a:t>
                </a:r>
                <a:r>
                  <a:rPr lang="it-IT" b="1" dirty="0"/>
                  <a:t>c</a:t>
                </a:r>
                <a:r>
                  <a:rPr b="1" dirty="0" err="1"/>
                  <a:t>ategories</a:t>
                </a:r>
                <a:r>
                  <a:rPr b="1" dirty="0"/>
                  <a:t>:</a:t>
                </a:r>
                <a:r>
                  <a:rPr dirty="0"/>
                  <a:t> Explored Functional, Non-functional, and Constraints</a:t>
                </a:r>
              </a:p>
              <a:p>
                <a:pPr lvl="0"/>
                <a:r>
                  <a:rPr b="1" dirty="0"/>
                  <a:t>RE Process:</a:t>
                </a:r>
                <a:r>
                  <a:rPr dirty="0"/>
                  <a:t> Outlined the main activities: elicitation, modeling, analysis/validation, and documentation</a:t>
                </a:r>
              </a:p>
              <a:p>
                <a:pPr lvl="0"/>
                <a:r>
                  <a:rPr b="1" dirty="0"/>
                  <a:t>Importance:</a:t>
                </a:r>
                <a:r>
                  <a:rPr dirty="0"/>
                  <a:t> Emphasized the significance of understanding the environment and managing requirement evolution for successful </a:t>
                </a:r>
                <a:r>
                  <a:t>software development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r="-96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83631-E01C-EC73-0C2E-9CE4725C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AD4E7-3A65-9FD8-EA5F-3E5EDD64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2807</Words>
  <Application>Microsoft Macintosh PowerPoint</Application>
  <PresentationFormat>Widescreen</PresentationFormat>
  <Paragraphs>176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Office Theme</vt:lpstr>
      <vt:lpstr>Chapter 5:  Basic Concepts of Requirements Engineering</vt:lpstr>
      <vt:lpstr>What is Requirements Engineering (RE)?</vt:lpstr>
      <vt:lpstr>Case Study: Ambulance Dispatching System</vt:lpstr>
      <vt:lpstr>Stakeholders in RE</vt:lpstr>
      <vt:lpstr>Another view of RE</vt:lpstr>
      <vt:lpstr>The Evolving Nature of Requirements</vt:lpstr>
      <vt:lpstr>Separating the World from the Machine</vt:lpstr>
      <vt:lpstr>World and Machine Phenomena</vt:lpstr>
      <vt:lpstr>Example of world and machine phenomena</vt:lpstr>
      <vt:lpstr>Goals, Domain Assumptions, Requirements</vt:lpstr>
      <vt:lpstr>Goals, Domain Assumptions, Requirements</vt:lpstr>
      <vt:lpstr>The Goal-Assumption-Requirement Relationship</vt:lpstr>
      <vt:lpstr>Real-world Case: Airplane Braking System Failure</vt:lpstr>
      <vt:lpstr>Types of Requirements</vt:lpstr>
      <vt:lpstr>Functional Requirements</vt:lpstr>
      <vt:lpstr>Non-functional Requirements (NFRs)</vt:lpstr>
      <vt:lpstr>Constraints (Technical Requirements)</vt:lpstr>
      <vt:lpstr>The Requirements Engineering Process</vt:lpstr>
      <vt:lpstr>RE Process: Elicitation &amp; Modeling</vt:lpstr>
      <vt:lpstr>RE Process: Analysis and Validation</vt:lpstr>
      <vt:lpstr>RE Process: Documentation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Matteo G. Rossi</cp:lastModifiedBy>
  <cp:revision>16</cp:revision>
  <dcterms:created xsi:type="dcterms:W3CDTF">2025-05-15T11:20:47Z</dcterms:created>
  <dcterms:modified xsi:type="dcterms:W3CDTF">2026-01-03T16:38:35Z</dcterms:modified>
</cp:coreProperties>
</file>