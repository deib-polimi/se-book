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28" r:id="rId3"/>
    <p:sldId id="329" r:id="rId4"/>
    <p:sldId id="261" r:id="rId5"/>
    <p:sldId id="330" r:id="rId6"/>
    <p:sldId id="331" r:id="rId7"/>
    <p:sldId id="337" r:id="rId8"/>
    <p:sldId id="332" r:id="rId9"/>
    <p:sldId id="338" r:id="rId10"/>
    <p:sldId id="339" r:id="rId11"/>
    <p:sldId id="333" r:id="rId12"/>
    <p:sldId id="334" r:id="rId13"/>
    <p:sldId id="335" r:id="rId14"/>
    <p:sldId id="336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1CC26-0DDC-F74C-9610-A5AFC3939A25}" v="107" dt="2025-10-14T21:31:43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/>
    <p:restoredTop sz="94643"/>
  </p:normalViewPr>
  <p:slideViewPr>
    <p:cSldViewPr snapToGrid="0">
      <p:cViewPr varScale="1">
        <p:scale>
          <a:sx n="110" d="100"/>
          <a:sy n="110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Chapter 8: </a:t>
            </a:r>
            <a:br>
              <a:rPr lang="en-GB" dirty="0"/>
            </a:br>
            <a:r>
              <a:rPr lang="en-GB" dirty="0"/>
              <a:t>Requirements Engineering in Practice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Iterative Nature of 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practice, RE is not a linear sequence but an </a:t>
            </a:r>
            <a:r>
              <a:rPr b="1" dirty="0"/>
              <a:t>iterative interplay</a:t>
            </a:r>
            <a:endParaRPr dirty="0"/>
          </a:p>
          <a:p>
            <a:pPr lvl="1"/>
            <a:r>
              <a:rPr dirty="0"/>
              <a:t>Engineers start with existing documents, interviews, and legacy knowledge</a:t>
            </a:r>
          </a:p>
          <a:p>
            <a:pPr lvl="1"/>
            <a:r>
              <a:rPr dirty="0"/>
              <a:t>This identifies </a:t>
            </a:r>
            <a:r>
              <a:rPr b="1" dirty="0"/>
              <a:t>scenarios</a:t>
            </a:r>
            <a:r>
              <a:rPr dirty="0"/>
              <a:t> and </a:t>
            </a:r>
            <a:r>
              <a:rPr b="1" dirty="0"/>
              <a:t>phenomena</a:t>
            </a:r>
            <a:endParaRPr dirty="0"/>
          </a:p>
          <a:p>
            <a:pPr lvl="1"/>
            <a:r>
              <a:rPr dirty="0"/>
              <a:t>These insights lead to more precise </a:t>
            </a:r>
            <a:r>
              <a:rPr b="1" dirty="0"/>
              <a:t>use cases, goals, domain assumptions</a:t>
            </a:r>
            <a:r>
              <a:rPr dirty="0"/>
              <a:t>, and eventually </a:t>
            </a:r>
            <a:r>
              <a:rPr b="1" dirty="0"/>
              <a:t>requirements</a:t>
            </a:r>
            <a:endParaRPr dirty="0"/>
          </a:p>
          <a:p>
            <a:pPr lvl="1"/>
            <a:r>
              <a:rPr dirty="0"/>
              <a:t>Insights from modeling often prompt a revisit and refinement of earlier artifacts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B52E-FDC3-27EB-8C3A-27BDC1CF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C89B3-9F99-0B1B-BFB4-0F0A428D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 TelePlus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TelePlus</a:t>
            </a:r>
            <a:r>
              <a:rPr dirty="0"/>
              <a:t> is a streaming platform for TV series designed for families</a:t>
            </a:r>
          </a:p>
          <a:p>
            <a:pPr lvl="0"/>
            <a:r>
              <a:rPr b="1" dirty="0"/>
              <a:t>Key Feature</a:t>
            </a:r>
            <a:r>
              <a:rPr dirty="0"/>
              <a:t>: Allows multiple members to share a plan while maintaining individual preferences</a:t>
            </a:r>
          </a:p>
          <a:p>
            <a:pPr lvl="0"/>
            <a:r>
              <a:rPr b="1" dirty="0"/>
              <a:t>Constraints</a:t>
            </a:r>
            <a:r>
              <a:rPr dirty="0"/>
              <a:t>: Strict limits on concurrent streaming sessions and detection of fraudulent plan sharing (e.g., logins from different geographic locations)</a:t>
            </a:r>
          </a:p>
          <a:p>
            <a:pPr lvl="0"/>
            <a:r>
              <a:rPr b="1" dirty="0"/>
              <a:t>Enforcement</a:t>
            </a:r>
            <a:r>
              <a:rPr dirty="0"/>
              <a:t>: The system tracks device activity and suspends plans if violations occur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7CED3-4E11-E2B0-572F-763DD10B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E2A2D-6F4B-2738-923C-72C79E70C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Categorizing Phenomena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dirty="0"/>
                  <a:t>Scenarios help identify different types of phenomena in the </a:t>
                </a:r>
                <a:r>
                  <a:rPr dirty="0" err="1"/>
                  <a:t>TelePlus</a:t>
                </a:r>
                <a:r>
                  <a:rPr dirty="0"/>
                  <a:t> domain</a:t>
                </a:r>
                <a:endParaRPr lang="it-IT" dirty="0"/>
              </a:p>
              <a:p>
                <a:r>
                  <a:rPr lang="it-IT" dirty="0" err="1"/>
                  <a:t>Examples</a:t>
                </a:r>
                <a:r>
                  <a:rPr lang="it-IT" dirty="0"/>
                  <a:t> of </a:t>
                </a:r>
                <a:r>
                  <a:rPr lang="it-IT" dirty="0" err="1"/>
                  <a:t>phenomena</a:t>
                </a:r>
                <a:r>
                  <a:rPr lang="it-IT" dirty="0"/>
                  <a:t>:</a:t>
                </a:r>
                <a:endParaRPr dirty="0"/>
              </a:p>
              <a:p>
                <a:pPr lvl="1"/>
                <a:r>
                  <a:rPr b="1" dirty="0"/>
                  <a:t>World-only (WP)</a:t>
                </a:r>
                <a:r>
                  <a:rPr dirty="0"/>
                  <a:t>: A member watches a series from home</a:t>
                </a:r>
              </a:p>
              <a:p>
                <a:pPr lvl="1"/>
                <a:r>
                  <a:rPr b="1" dirty="0"/>
                  <a:t>Shared world-controlled (SWP)</a:t>
                </a:r>
                <a:r>
                  <a:rPr dirty="0"/>
                  <a:t>: A subscriber invites a family member</a:t>
                </a:r>
              </a:p>
              <a:p>
                <a:pPr lvl="1"/>
                <a:r>
                  <a:rPr b="1" dirty="0"/>
                  <a:t>Shared machine-controlled (SMP)</a:t>
                </a:r>
                <a:r>
                  <a:rPr dirty="0"/>
                  <a:t>: The system retrieves a device’s location</a:t>
                </a:r>
              </a:p>
              <a:p>
                <a:pPr lvl="1"/>
                <a:r>
                  <a:rPr b="1" dirty="0"/>
                  <a:t>Machine-only (MP)</a:t>
                </a:r>
                <a:r>
                  <a:rPr dirty="0"/>
                  <a:t>: The system checks if the streaming location 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&gt;200</m:t>
                    </m:r>
                  </m:oMath>
                </a14:m>
                <a:r>
                  <a:rPr dirty="0"/>
                  <a:t> meters from home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2A390-B8D1-92E0-DBB6-402D527B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ADD2D-0234-F901-DAD6-02BBC034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vs. Domain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b="1" dirty="0"/>
                  <a:t>Goals</a:t>
                </a:r>
                <a:endParaRPr lang="en-GB" b="1" dirty="0"/>
              </a:p>
              <a:p>
                <a:pPr lvl="1"/>
                <a:r>
                  <a:rPr lang="en-GB" b="1" dirty="0"/>
                  <a:t>G1</a:t>
                </a:r>
                <a:r>
                  <a:rPr lang="en-GB" dirty="0"/>
                  <a:t>: Members want to watch series simultaneously via a shared plan</a:t>
                </a:r>
              </a:p>
              <a:p>
                <a:pPr lvl="1"/>
                <a:r>
                  <a:rPr b="1" dirty="0"/>
                  <a:t>G2</a:t>
                </a:r>
                <a:r>
                  <a:rPr dirty="0"/>
                  <a:t>: Owners want to avoid fraudulent plan sharing</a:t>
                </a:r>
              </a:p>
              <a:p>
                <a:r>
                  <a:rPr lang="it-IT" b="1" dirty="0"/>
                  <a:t>(some) </a:t>
                </a:r>
                <a:r>
                  <a:rPr b="1" dirty="0"/>
                  <a:t>Domain Assumptions</a:t>
                </a:r>
              </a:p>
              <a:p>
                <a:pPr lvl="1"/>
                <a:r>
                  <a:rPr b="1" dirty="0"/>
                  <a:t>DA2</a:t>
                </a:r>
                <a:r>
                  <a:rPr dirty="0"/>
                  <a:t>: Devices report positions with an error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&lt;50</m:t>
                    </m:r>
                  </m:oMath>
                </a14:m>
                <a:r>
                  <a:rPr dirty="0"/>
                  <a:t> meters</a:t>
                </a:r>
              </a:p>
              <a:p>
                <a:pPr lvl="1"/>
                <a:r>
                  <a:rPr b="1" dirty="0"/>
                  <a:t>DA3</a:t>
                </a:r>
                <a:r>
                  <a:rPr dirty="0"/>
                  <a:t>: No home is more than 200 meters wide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B9538-A693-4FC3-6F03-1D26B0CB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1F3BA-96AE-4C34-BF16-AED558B2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UML Use Case (UC) diagrams provide a functional overview</a:t>
            </a:r>
          </a:p>
          <a:p>
            <a:pPr lvl="0"/>
            <a:r>
              <a:rPr b="1" dirty="0"/>
              <a:t>Primary Actors</a:t>
            </a:r>
            <a:r>
              <a:rPr dirty="0"/>
              <a:t>: Family Member, Main Subscriber, Device, and Customer Service Operator</a:t>
            </a:r>
          </a:p>
          <a:p>
            <a:pPr lvl="0"/>
            <a:r>
              <a:rPr b="1" dirty="0"/>
              <a:t>Key UCs</a:t>
            </a:r>
            <a:r>
              <a:rPr dirty="0"/>
              <a:t>:</a:t>
            </a:r>
          </a:p>
          <a:p>
            <a:pPr lvl="1"/>
            <a:r>
              <a:rPr i="1" dirty="0"/>
              <a:t>Stream TV series</a:t>
            </a:r>
            <a:r>
              <a:rPr dirty="0"/>
              <a:t>: The central function including limit and violation checks</a:t>
            </a:r>
          </a:p>
          <a:p>
            <a:pPr lvl="1"/>
            <a:r>
              <a:rPr i="1" dirty="0"/>
              <a:t>Check violation</a:t>
            </a:r>
            <a:r>
              <a:rPr dirty="0"/>
              <a:t>: Specifically monitors location and suspends plans if necessary</a:t>
            </a:r>
          </a:p>
          <a:p>
            <a:pPr lvl="1"/>
            <a:r>
              <a:rPr i="1" dirty="0"/>
              <a:t>Reactivate plan</a:t>
            </a:r>
            <a:r>
              <a:rPr dirty="0"/>
              <a:t>: Handled by operators after suspension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1AA02-CCA8-8C6F-5CFE-4E5836FB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71F15-0AF9-DA7E-AA5B-550D4DB1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9877-55DF-CBBA-BCF8-84C6ED83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47663" cy="2100283"/>
          </a:xfrm>
        </p:spPr>
        <p:txBody>
          <a:bodyPr/>
          <a:lstStyle/>
          <a:p>
            <a:r>
              <a:rPr lang="en-IT" dirty="0"/>
              <a:t>Use Case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76BF4-DA24-7C52-879B-374A10F9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5D5D7-E24E-51D2-2D95-86CE39B93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075" y="136525"/>
            <a:ext cx="7480300" cy="6070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852686-799E-92C5-8DB3-8FF72636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8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305537" cy="4351338"/>
          </a:xfrm>
        </p:spPr>
        <p:txBody>
          <a:bodyPr/>
          <a:lstStyle/>
          <a:p>
            <a:pPr lvl="0"/>
            <a:r>
              <a:rPr b="1" dirty="0"/>
              <a:t>Domain Model (Class Diagram)</a:t>
            </a:r>
            <a:r>
              <a:rPr dirty="0"/>
              <a:t>: Captures conceptual entities like </a:t>
            </a:r>
            <a:r>
              <a:rPr i="1" dirty="0" err="1"/>
              <a:t>RegisteredUser</a:t>
            </a:r>
            <a:r>
              <a:rPr dirty="0"/>
              <a:t>, </a:t>
            </a:r>
            <a:r>
              <a:rPr i="1" dirty="0" err="1"/>
              <a:t>FamilyPlan</a:t>
            </a:r>
            <a:r>
              <a:rPr dirty="0"/>
              <a:t>, and </a:t>
            </a:r>
            <a:r>
              <a:rPr i="1" dirty="0" err="1"/>
              <a:t>StreamingSession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D330A-6F64-6691-238C-8854DF7C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C4560-5556-B9C1-AA93-584247E31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347" y="1224986"/>
            <a:ext cx="7699626" cy="49519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D93DA-CA54-91A4-3BC5-1CBD14BD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7A00C-E783-77A7-D4F6-A1B028D4F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C9BE-5DD6-9147-9D9B-F849E771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Behavioral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A0F0F-4AF3-0CC3-F939-E5E2D6C4F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Sequence Diagrams</a:t>
            </a:r>
            <a:r>
              <a:rPr dirty="0"/>
              <a:t>: </a:t>
            </a:r>
            <a:r>
              <a:rPr lang="it-IT" i="1" dirty="0"/>
              <a:t>Stream TV </a:t>
            </a:r>
            <a:r>
              <a:rPr lang="it-IT" i="1" dirty="0" err="1"/>
              <a:t>series</a:t>
            </a:r>
            <a:r>
              <a:rPr lang="it-IT" dirty="0"/>
              <a:t> and </a:t>
            </a:r>
            <a:r>
              <a:rPr lang="it-IT" i="1" dirty="0"/>
              <a:t>Check </a:t>
            </a:r>
            <a:r>
              <a:rPr lang="it-IT" i="1" dirty="0" err="1"/>
              <a:t>violation</a:t>
            </a:r>
            <a:endParaRPr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3E32-EC9C-6F9E-4FBE-650386AC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873A1-D255-49CC-4A27-38CDD50B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76" y="2354254"/>
            <a:ext cx="3141322" cy="3957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F2D98D-5D3F-7155-A648-C7963AE84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71" y="2354254"/>
            <a:ext cx="4518659" cy="39572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21696-89F3-4D33-03FA-9B44B884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6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3162-0C4D-EBC8-A508-CED6F3DF6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74C7-F5CD-22CA-A052-F6F3CD1E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Behavioral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28340-3DE4-4B53-141E-FA15E7E76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State Machine Diagrams</a:t>
            </a:r>
            <a:r>
              <a:rPr dirty="0"/>
              <a:t>: Model the lifecycle of entities, such as a </a:t>
            </a:r>
            <a:r>
              <a:rPr b="1" dirty="0"/>
              <a:t>Plan</a:t>
            </a:r>
            <a:r>
              <a:rPr dirty="0"/>
              <a:t> transitioning from </a:t>
            </a:r>
            <a:r>
              <a:rPr i="1" dirty="0"/>
              <a:t>Active</a:t>
            </a:r>
            <a:r>
              <a:rPr dirty="0"/>
              <a:t> to </a:t>
            </a:r>
            <a:r>
              <a:rPr i="1" dirty="0"/>
              <a:t>Suspended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8A013-7789-210F-DBE2-F8ABA0ED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F4E0D-7674-0692-CFA7-448A45DFC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15" y="2838370"/>
            <a:ext cx="7726569" cy="304157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79D7D-52FE-1F23-5357-C8C02C0C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6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Formulating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Requirements are derived from goals and UCs to specify what the system </a:t>
            </a:r>
            <a:r>
              <a:rPr i="1" dirty="0"/>
              <a:t>shall</a:t>
            </a:r>
            <a:r>
              <a:rPr dirty="0"/>
              <a:t> do:</a:t>
            </a:r>
          </a:p>
          <a:p>
            <a:pPr lvl="1"/>
            <a:r>
              <a:rPr b="1" dirty="0"/>
              <a:t>R9</a:t>
            </a:r>
            <a:r>
              <a:rPr dirty="0"/>
              <a:t>: </a:t>
            </a:r>
            <a:r>
              <a:rPr lang="en-GB" dirty="0"/>
              <a:t>When a request exceeds the maximum number of simultaneous streams, </a:t>
            </a:r>
            <a:r>
              <a:rPr lang="en-GB" dirty="0" err="1"/>
              <a:t>TelePlus</a:t>
            </a:r>
            <a:r>
              <a:rPr lang="en-GB" dirty="0"/>
              <a:t> shall deny the stream request and show an error message stating that the limit has been reached</a:t>
            </a:r>
            <a:endParaRPr dirty="0"/>
          </a:p>
          <a:p>
            <a:pPr lvl="1"/>
            <a:r>
              <a:rPr b="1" dirty="0"/>
              <a:t>R12</a:t>
            </a:r>
            <a:r>
              <a:rPr dirty="0"/>
              <a:t>: </a:t>
            </a:r>
            <a:r>
              <a:rPr lang="en-GB" dirty="0"/>
              <a:t>If </a:t>
            </a:r>
            <a:r>
              <a:rPr lang="en-GB" dirty="0" err="1"/>
              <a:t>TelePlus</a:t>
            </a:r>
            <a:r>
              <a:rPr lang="en-GB" dirty="0"/>
              <a:t> detects that the position of the streaming device is more than 200 meters away from the main location, it shall suspend the plan</a:t>
            </a:r>
            <a:endParaRPr dirty="0"/>
          </a:p>
          <a:p>
            <a:pPr lvl="1"/>
            <a:r>
              <a:rPr b="1" dirty="0"/>
              <a:t>Technical Requirements (TR14)</a:t>
            </a:r>
            <a:r>
              <a:rPr dirty="0"/>
              <a:t>: </a:t>
            </a:r>
            <a:r>
              <a:rPr lang="en-GB" dirty="0" err="1"/>
              <a:t>TelePlus</a:t>
            </a:r>
            <a:r>
              <a:rPr lang="en-GB" dirty="0"/>
              <a:t> shall be able to interact with common mobile devices, and in particular those built on the Android and iOS operating systems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3AA0-D979-B0C4-372D-7F04F96F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102AF-1784-490E-8649-5E6A15B9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RASD: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</a:t>
            </a:r>
            <a:r>
              <a:rPr b="1" dirty="0"/>
              <a:t>Requirements Analysis and Specification Document (RASD)</a:t>
            </a:r>
            <a:r>
              <a:rPr dirty="0"/>
              <a:t> serves three main roles</a:t>
            </a:r>
            <a:r>
              <a:rPr lang="it-IT" dirty="0"/>
              <a:t>:</a:t>
            </a:r>
            <a:endParaRPr dirty="0"/>
          </a:p>
          <a:p>
            <a:pPr marL="457189" indent="-457189">
              <a:buAutoNum type="arabicPeriod"/>
            </a:pPr>
            <a:r>
              <a:rPr b="1" dirty="0"/>
              <a:t>Communication</a:t>
            </a:r>
            <a:r>
              <a:rPr dirty="0"/>
              <a:t>: Bridges the gap between technical and non-technical stakeholders regarding system objectives and the domain</a:t>
            </a:r>
          </a:p>
          <a:p>
            <a:pPr marL="457189" indent="-457189">
              <a:buAutoNum type="arabicPeriod"/>
            </a:pPr>
            <a:r>
              <a:rPr b="1" dirty="0"/>
              <a:t>Contractual Foundation</a:t>
            </a:r>
            <a:r>
              <a:rPr dirty="0"/>
              <a:t>: Acts as the definitive legal agreement on what must be delivered</a:t>
            </a:r>
          </a:p>
          <a:p>
            <a:pPr marL="457189" indent="-457189">
              <a:buAutoNum type="arabicPeriod"/>
            </a:pPr>
            <a:r>
              <a:rPr b="1" dirty="0"/>
              <a:t>Development Baseline</a:t>
            </a:r>
            <a:r>
              <a:rPr dirty="0"/>
              <a:t>: Used for project planning, cost estimation, and as a reference for verification and validation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368E2-E3AD-04D9-251D-506195D5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5844C-D4B4-E1CE-8CD2-EE25E458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 of the RASD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RASD is a multi-purpose document for various profiles:</a:t>
            </a:r>
          </a:p>
          <a:p>
            <a:pPr lvl="0"/>
            <a:r>
              <a:rPr b="1" dirty="0"/>
              <a:t>Customers/Users</a:t>
            </a:r>
            <a:r>
              <a:rPr dirty="0"/>
              <a:t>: Validate that high-level goals and workflows are met</a:t>
            </a:r>
          </a:p>
          <a:p>
            <a:pPr lvl="0"/>
            <a:r>
              <a:rPr b="1" dirty="0"/>
              <a:t>Systems Analysts</a:t>
            </a:r>
            <a:r>
              <a:rPr dirty="0"/>
              <a:t>: Define interfaces and manage dependencies</a:t>
            </a:r>
          </a:p>
          <a:p>
            <a:pPr lvl="0"/>
            <a:r>
              <a:rPr b="1" dirty="0"/>
              <a:t>Developers</a:t>
            </a:r>
            <a:r>
              <a:rPr dirty="0"/>
              <a:t>: Use it as a blueprint for implementation</a:t>
            </a:r>
          </a:p>
          <a:p>
            <a:pPr lvl="0"/>
            <a:r>
              <a:rPr b="1" dirty="0"/>
              <a:t>QA Teams</a:t>
            </a:r>
            <a:r>
              <a:rPr dirty="0"/>
              <a:t>: Design tests to verify functional and non-functional requirements</a:t>
            </a:r>
          </a:p>
          <a:p>
            <a:pPr lvl="0"/>
            <a:r>
              <a:rPr b="1" dirty="0"/>
              <a:t>Project Managers</a:t>
            </a:r>
            <a:r>
              <a:rPr dirty="0"/>
              <a:t>: Track progress and manage risks/scope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E74A0-5058-32E2-5122-486F8438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DB731-29F0-535B-62C1-3753580D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RASD Structure (ISO/IEC/IEEE 29148)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F24F3-C649-37BF-7AEA-F8BCA733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9D2396-84BD-ABBF-2619-911AB31DB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465393"/>
            <a:ext cx="9886950" cy="47061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5251B4-443F-F064-BA26-912B2352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Traceability and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Traceability Matrix</a:t>
            </a:r>
            <a:r>
              <a:rPr dirty="0"/>
              <a:t>: A structured table mapping requirements to scenarios, UCs, and goals to ensure all needs are addressed</a:t>
            </a:r>
          </a:p>
          <a:p>
            <a:pPr lvl="0"/>
            <a:r>
              <a:rPr b="1" dirty="0"/>
              <a:t>Quality Properties</a:t>
            </a:r>
            <a:r>
              <a:rPr dirty="0"/>
              <a:t>: A high-quality RASD must be </a:t>
            </a:r>
            <a:r>
              <a:rPr b="1" dirty="0"/>
              <a:t>Complete</a:t>
            </a:r>
            <a:r>
              <a:rPr dirty="0"/>
              <a:t> (no placeholders like TBD), </a:t>
            </a:r>
            <a:r>
              <a:rPr b="1" dirty="0"/>
              <a:t>Precise</a:t>
            </a:r>
            <a:r>
              <a:rPr dirty="0"/>
              <a:t>, </a:t>
            </a:r>
            <a:r>
              <a:rPr b="1" dirty="0"/>
              <a:t>Unambiguous</a:t>
            </a:r>
            <a:r>
              <a:rPr dirty="0"/>
              <a:t>, </a:t>
            </a:r>
            <a:r>
              <a:rPr b="1" dirty="0"/>
              <a:t>Pertinent</a:t>
            </a:r>
            <a:r>
              <a:rPr dirty="0"/>
              <a:t> (every requirement traces to a goal), and </a:t>
            </a:r>
            <a:r>
              <a:rPr b="1" dirty="0"/>
              <a:t>Consistent</a:t>
            </a:r>
            <a:endParaRPr dirty="0"/>
          </a:p>
          <a:p>
            <a:pPr lvl="0"/>
            <a:r>
              <a:rPr dirty="0"/>
              <a:t>It must also be </a:t>
            </a:r>
            <a:r>
              <a:rPr b="1" dirty="0"/>
              <a:t>Feasible</a:t>
            </a:r>
            <a:r>
              <a:rPr dirty="0"/>
              <a:t>, </a:t>
            </a:r>
            <a:r>
              <a:rPr b="1" dirty="0"/>
              <a:t>Understandable</a:t>
            </a:r>
            <a:r>
              <a:rPr dirty="0"/>
              <a:t>, and </a:t>
            </a:r>
            <a:r>
              <a:rPr b="1" dirty="0"/>
              <a:t>Modifiable</a:t>
            </a:r>
            <a:r>
              <a:rPr dirty="0"/>
              <a:t> to support evolution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492F1-5AD2-CBBA-2E30-72C8CE69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1D378-3992-212D-6F32-9BCF24F2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Engineering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Software tools enhance efficiency and quality throughout the RE life cycle</a:t>
            </a:r>
          </a:p>
          <a:p>
            <a:pPr lvl="0"/>
            <a:r>
              <a:rPr b="1" dirty="0"/>
              <a:t>Dedicated RE Tools (e.g., IBM DOORS)</a:t>
            </a:r>
            <a:r>
              <a:rPr dirty="0"/>
              <a:t>: Support authoring, complex traceability, and NLP-based quality checks</a:t>
            </a:r>
          </a:p>
          <a:p>
            <a:pPr lvl="0"/>
            <a:r>
              <a:rPr b="1" dirty="0"/>
              <a:t>Modeling Tools (e.g., Enterprise Architect)</a:t>
            </a:r>
            <a:r>
              <a:rPr dirty="0"/>
              <a:t>: Focus on visual UML modeling and architectural design</a:t>
            </a:r>
          </a:p>
          <a:p>
            <a:pPr lvl="0"/>
            <a:r>
              <a:rPr b="1" dirty="0"/>
              <a:t>Verification-centric Tools (e.g., </a:t>
            </a:r>
            <a:r>
              <a:rPr b="1" dirty="0" err="1"/>
              <a:t>ReqTest</a:t>
            </a:r>
            <a:r>
              <a:rPr b="1" dirty="0"/>
              <a:t>)</a:t>
            </a:r>
            <a:r>
              <a:rPr dirty="0"/>
              <a:t>: Align requirements with test cases and responsibility allocation</a:t>
            </a:r>
          </a:p>
          <a:p>
            <a:pPr lvl="0"/>
            <a:r>
              <a:rPr b="1" dirty="0"/>
              <a:t>Agile Tools (e.g., Jira, Azure DevOps)</a:t>
            </a:r>
            <a:r>
              <a:rPr dirty="0"/>
              <a:t>: Use “User Stories” and “Epics” for more lightweight settings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0960C-6E60-15CF-09A0-35E701F1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A65FD-FF90-4630-D293-107A3646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Wrap-up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RE in practice is an </a:t>
            </a:r>
            <a:r>
              <a:rPr b="1" dirty="0"/>
              <a:t>iterative, modeling-heavy</a:t>
            </a:r>
            <a:r>
              <a:rPr dirty="0"/>
              <a:t> process</a:t>
            </a:r>
          </a:p>
          <a:p>
            <a:pPr lvl="0"/>
            <a:r>
              <a:rPr dirty="0"/>
              <a:t>The </a:t>
            </a:r>
            <a:r>
              <a:rPr b="1" dirty="0"/>
              <a:t>RASD</a:t>
            </a:r>
            <a:r>
              <a:rPr dirty="0"/>
              <a:t> is the critical artifact that binds stakeholders, developers, and testers to a shared vision</a:t>
            </a:r>
          </a:p>
          <a:p>
            <a:pPr lvl="0"/>
            <a:r>
              <a:rPr dirty="0"/>
              <a:t>While </a:t>
            </a:r>
            <a:r>
              <a:rPr b="1" dirty="0"/>
              <a:t>tools</a:t>
            </a:r>
            <a:r>
              <a:rPr dirty="0"/>
              <a:t> are powerful enablers for traceability and management, the core of RE remains </a:t>
            </a:r>
            <a:r>
              <a:rPr b="1" dirty="0"/>
              <a:t>critical thinking and stakeholder engagement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3DCA5-71D4-826A-8FF8-05F30227D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8 -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2CB6C-9849-4AD4-BAF2-09AC0133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4985</TotalTime>
  <Words>1633</Words>
  <Application>Microsoft Macintosh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Chapter 8:  Requirements Engineering in Practice</vt:lpstr>
      <vt:lpstr>The Iterative Nature of RE</vt:lpstr>
      <vt:lpstr>Case Study: The TelePlus System</vt:lpstr>
      <vt:lpstr>Categorizing Phenomena</vt:lpstr>
      <vt:lpstr>Goals vs. Domain Assumptions</vt:lpstr>
      <vt:lpstr>Use Case Modeling</vt:lpstr>
      <vt:lpstr>Use Case Diagram</vt:lpstr>
      <vt:lpstr>Structural Models</vt:lpstr>
      <vt:lpstr>Behavioral Models</vt:lpstr>
      <vt:lpstr>Behavioral Models</vt:lpstr>
      <vt:lpstr>Formulating Requirements</vt:lpstr>
      <vt:lpstr>The RASD: Purpose</vt:lpstr>
      <vt:lpstr>Target Audience of the RASD</vt:lpstr>
      <vt:lpstr>RASD Structure (ISO/IEC/IEEE 29148)</vt:lpstr>
      <vt:lpstr>Traceability and Quality</vt:lpstr>
      <vt:lpstr>Requirements Engineering Tools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Matteo G. Rossi</cp:lastModifiedBy>
  <cp:revision>40</cp:revision>
  <dcterms:created xsi:type="dcterms:W3CDTF">2025-05-15T11:20:47Z</dcterms:created>
  <dcterms:modified xsi:type="dcterms:W3CDTF">2026-01-03T16:39:26Z</dcterms:modified>
</cp:coreProperties>
</file>