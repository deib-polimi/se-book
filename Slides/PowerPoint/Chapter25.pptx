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88" r:id="rId5"/>
    <p:sldId id="289" r:id="rId6"/>
    <p:sldId id="290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45"/>
    <p:restoredTop sz="94658"/>
  </p:normalViewPr>
  <p:slideViewPr>
    <p:cSldViewPr snapToGrid="0">
      <p:cViewPr varScale="1">
        <p:scale>
          <a:sx n="111" d="100"/>
          <a:sy n="111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25:</a:t>
            </a:r>
            <a:br>
              <a:rPr lang="en-US" dirty="0"/>
            </a:br>
            <a:r>
              <a:rPr lang="en-US" dirty="0"/>
              <a:t>Process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25</a:t>
            </a:r>
          </a:p>
          <a:p>
            <a:r>
              <a:rPr lang="en-GB" b="1" dirty="0"/>
              <a:t>Focus</a:t>
            </a:r>
            <a:r>
              <a:rPr lang="en-GB" dirty="0"/>
              <a:t>: ways to manifest change </a:t>
            </a:r>
          </a:p>
          <a:p>
            <a:pPr marL="0" indent="0">
              <a:buNone/>
            </a:pPr>
            <a:r>
              <a:rPr lang="en-GB" dirty="0"/>
              <a:t>in sw. processes, organizational </a:t>
            </a:r>
            <a:r>
              <a:rPr lang="en-GB"/>
              <a:t>change mgmt.;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Improvement: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processes are artefacts themselves and can therefore be (continuously) improved;</a:t>
            </a:r>
          </a:p>
          <a:p>
            <a:endParaRPr lang="en-US" dirty="0"/>
          </a:p>
          <a:p>
            <a:r>
              <a:rPr lang="en-US" dirty="0"/>
              <a:t>Software metrics are a key asset to instrument and drive the improvement;</a:t>
            </a:r>
          </a:p>
          <a:p>
            <a:endParaRPr lang="en-US" dirty="0"/>
          </a:p>
          <a:p>
            <a:r>
              <a:rPr lang="en-US" dirty="0"/>
              <a:t>Several approaches exist, GenAI is bound to assist in all of them;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6D09-98FE-37DC-A6FA-EDC77438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9350-5A8C-8EAC-AEB9-E9C26CD4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Improvement: The Software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E399-D86B-E8ED-E9BD-8DAD75B9E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Software </a:t>
            </a:r>
            <a:r>
              <a:rPr lang="en-US" b="1" u="sng" dirty="0"/>
              <a:t>organizations</a:t>
            </a:r>
            <a:r>
              <a:rPr lang="en-US" dirty="0"/>
              <a:t> reflect </a:t>
            </a:r>
            <a:r>
              <a:rPr lang="en-US" b="1" u="sng" dirty="0"/>
              <a:t>people</a:t>
            </a:r>
            <a:r>
              <a:rPr lang="en-US" dirty="0"/>
              <a:t> and their </a:t>
            </a:r>
            <a:r>
              <a:rPr lang="en-US" b="1" u="sng" dirty="0"/>
              <a:t>collaboration</a:t>
            </a:r>
            <a:r>
              <a:rPr lang="en-US" dirty="0"/>
              <a:t> over </a:t>
            </a:r>
            <a:r>
              <a:rPr lang="en-US" b="1" u="sng" dirty="0"/>
              <a:t>artefacts</a:t>
            </a:r>
            <a:r>
              <a:rPr lang="en-US" dirty="0"/>
              <a:t> via specific </a:t>
            </a:r>
            <a:r>
              <a:rPr lang="en-US" b="1" u="sng" dirty="0"/>
              <a:t>communication</a:t>
            </a:r>
            <a:r>
              <a:rPr lang="en-US" dirty="0"/>
              <a:t> channels</a:t>
            </a:r>
          </a:p>
          <a:p>
            <a:endParaRPr lang="en-US" dirty="0"/>
          </a:p>
          <a:p>
            <a:r>
              <a:rPr lang="en-US" dirty="0"/>
              <a:t>Where one can migrate from Architecture X to Architecture Y, same applies to organizations;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48D1D-2419-99EF-0B32-9CF86D0F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D185A-6197-0AB4-D40A-7BE6F554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7" name="Picture 6" descr="A diagram of software development&#10;&#10;AI-generated content may be incorrect.">
            <a:extLst>
              <a:ext uri="{FF2B5EF4-FFF2-40B4-BE49-F238E27FC236}">
                <a16:creationId xmlns:a16="http://schemas.microsoft.com/office/drawing/2014/main" id="{4C5A9956-9A48-D09C-4A1D-909B7ED3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073" y="1690688"/>
            <a:ext cx="5387375" cy="410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8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4CBAF74-A371-A978-E02D-922D7DFD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5113422" cy="1600200"/>
          </a:xfrm>
        </p:spPr>
        <p:txBody>
          <a:bodyPr>
            <a:normAutofit/>
          </a:bodyPr>
          <a:lstStyle/>
          <a:p>
            <a:r>
              <a:rPr lang="en-US" sz="4400" dirty="0"/>
              <a:t>Organizational Improvement </a:t>
            </a:r>
          </a:p>
        </p:txBody>
      </p:sp>
      <p:pic>
        <p:nvPicPr>
          <p:cNvPr id="7" name="Content Placeholder 6" descr="A diagram of a market&#10;&#10;AI-generated content may be incorrect.">
            <a:extLst>
              <a:ext uri="{FF2B5EF4-FFF2-40B4-BE49-F238E27FC236}">
                <a16:creationId xmlns:a16="http://schemas.microsoft.com/office/drawing/2014/main" id="{9ECC503D-3CA3-E075-F73F-0A88E7EC76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5951621" y="995363"/>
            <a:ext cx="5657886" cy="4873625"/>
          </a:xfr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A45CC34-4086-E2F4-0C67-535398A5D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692911" cy="381158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Across markets and new infrastructure options, organizational evolution follows the same software evolution rules laid out for regular software;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Process assessment and improvement are crucial activities that require specific methods and expertise; 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Tools and methods are nowadays bridging technology, methodology, and organizational sciences;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A1C67-BD73-FE96-3F03-7EE56CD4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900" dirty="0"/>
              <a:t>Chapter 25 - M. Camilli, E. Di Nitto, A. Fuggetta, A. Margara, M.G. Rossi, D.A. Tamburri.  Software Engineering: a Structured Journey from Inception to Delivery. BUP 2025.</a:t>
            </a:r>
            <a:endParaRPr lang="en-US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97F87-B337-EA13-97EB-949292B0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204BADD-F420-F54C-BEF5-604E8EEED029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29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C3AE-8C92-4CA0-D1C7-773ABA80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"/>
            <a:ext cx="9497603" cy="1018573"/>
          </a:xfrm>
        </p:spPr>
        <p:txBody>
          <a:bodyPr>
            <a:normAutofit/>
          </a:bodyPr>
          <a:lstStyle/>
          <a:p>
            <a:r>
              <a:rPr lang="en-IT" sz="4400" dirty="0"/>
              <a:t>Software Metrics: Key to improvement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F13F1-42BB-243D-BE2A-519AD37AB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281319" cy="4298950"/>
          </a:xfrm>
        </p:spPr>
        <p:txBody>
          <a:bodyPr>
            <a:normAutofit/>
          </a:bodyPr>
          <a:lstStyle/>
          <a:p>
            <a:r>
              <a:rPr lang="en-GB" dirty="0"/>
              <a:t>O</a:t>
            </a:r>
            <a:r>
              <a:rPr lang="en-IT" dirty="0"/>
              <a:t>nce metrics are established then several approaches exist:</a:t>
            </a:r>
          </a:p>
          <a:p>
            <a:pPr marL="342900" indent="-342900">
              <a:buAutoNum type="arabicPeriod"/>
            </a:pPr>
            <a:r>
              <a:rPr lang="en-IT" b="1" dirty="0"/>
              <a:t>Kaizen</a:t>
            </a:r>
            <a:r>
              <a:rPr lang="en-IT" dirty="0"/>
              <a:t> –  </a:t>
            </a:r>
            <a:r>
              <a:rPr lang="en-GB" dirty="0"/>
              <a:t>implement small, incremental changes in processes, systems, and workplace practices to enhance quality, efficiency, and overall operational effectiveness.</a:t>
            </a:r>
            <a:endParaRPr lang="en-IT" dirty="0"/>
          </a:p>
          <a:p>
            <a:pPr marL="342900" indent="-342900">
              <a:buAutoNum type="arabicPeriod"/>
            </a:pPr>
            <a:endParaRPr lang="en-IT" dirty="0"/>
          </a:p>
          <a:p>
            <a:pPr marL="342900" indent="-342900">
              <a:buAutoNum type="arabicPeriod"/>
            </a:pPr>
            <a:r>
              <a:rPr lang="en-IT" b="1" dirty="0"/>
              <a:t>GQM</a:t>
            </a:r>
            <a:r>
              <a:rPr lang="en-IT" dirty="0"/>
              <a:t> – stands for Goal/Question/Metrics, offers a way to define KPIs in a way consistent with business targets;</a:t>
            </a:r>
          </a:p>
          <a:p>
            <a:pPr marL="342900" indent="-342900">
              <a:buAutoNum type="arabicPeriod"/>
            </a:pPr>
            <a:endParaRPr lang="en-IT" dirty="0"/>
          </a:p>
          <a:p>
            <a:pPr marL="342900" indent="-342900">
              <a:buAutoNum type="arabicPeriod"/>
            </a:pPr>
            <a:r>
              <a:rPr lang="en-IT" b="1" dirty="0"/>
              <a:t>CMMI</a:t>
            </a:r>
            <a:r>
              <a:rPr lang="en-IT" dirty="0"/>
              <a:t> – </a:t>
            </a:r>
            <a:r>
              <a:rPr lang="en-GB" dirty="0"/>
              <a:t>framework-driven approach that helps organizations improve their processes and practices;</a:t>
            </a:r>
            <a:endParaRPr lang="en-IT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9D5B5-3D78-2F7C-CE29-F7CDE2DE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Chapter 25 -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42973-47E2-9D55-B155-2D8C8EF4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pic>
        <p:nvPicPr>
          <p:cNvPr id="10" name="Picture 9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93608B19-4E09-7DE2-BF14-B5392648C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107" y="2057400"/>
            <a:ext cx="6312653" cy="30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9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EC6-0C40-0354-F9E8-6879A8F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11C-1D4C-BD13-BCBB-41A01B7A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3D28F1-6F72-DE01-DBA8-BE484553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organizations must identify a specific responsibility in charge of observing, studying, assessing, and improving a software processes;</a:t>
            </a:r>
          </a:p>
          <a:p>
            <a:endParaRPr lang="en-US" dirty="0"/>
          </a:p>
          <a:p>
            <a:r>
              <a:rPr lang="en-US" dirty="0"/>
              <a:t>Improvement cannot be improvised: it must be a systematic and structured endeavor;</a:t>
            </a:r>
          </a:p>
          <a:p>
            <a:endParaRPr lang="en-US" dirty="0"/>
          </a:p>
          <a:p>
            <a:r>
              <a:rPr lang="en-US" dirty="0"/>
              <a:t>Improvement initiatives must be endorsed by all managerial levels;</a:t>
            </a:r>
          </a:p>
          <a:p>
            <a:endParaRPr lang="en-US" dirty="0"/>
          </a:p>
          <a:p>
            <a:r>
              <a:rPr lang="en-US" dirty="0"/>
              <a:t>Improvement must be based on committed persons who are supported in this journey;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5FD-40EB-1C8B-0BAB-C3D01A1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en-GB" dirty="0"/>
              <a:t>Chapter 25 -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B82C-5867-96A9-5D54-326A9A4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628</Words>
  <Application>Microsoft Macintosh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Chapter 25: Process Improvement</vt:lpstr>
      <vt:lpstr>Process Improvement</vt:lpstr>
      <vt:lpstr>Process Improvement: an Overview</vt:lpstr>
      <vt:lpstr>Process Improvement: The Software Organization</vt:lpstr>
      <vt:lpstr>Organizational Improvement </vt:lpstr>
      <vt:lpstr>Software Metrics: Key to improvement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Damian Andrew Tamburri</cp:lastModifiedBy>
  <cp:revision>177</cp:revision>
  <dcterms:created xsi:type="dcterms:W3CDTF">2025-05-15T11:20:47Z</dcterms:created>
  <dcterms:modified xsi:type="dcterms:W3CDTF">2026-01-27T13:22:56Z</dcterms:modified>
</cp:coreProperties>
</file>