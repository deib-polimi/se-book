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32"/>
  </p:notesMasterIdLst>
  <p:sldIdLst>
    <p:sldId id="256" r:id="rId2"/>
    <p:sldId id="259" r:id="rId3"/>
    <p:sldId id="268" r:id="rId4"/>
    <p:sldId id="269" r:id="rId5"/>
    <p:sldId id="270" r:id="rId6"/>
    <p:sldId id="2134805282" r:id="rId7"/>
    <p:sldId id="272" r:id="rId8"/>
    <p:sldId id="273" r:id="rId9"/>
    <p:sldId id="274" r:id="rId10"/>
    <p:sldId id="275" r:id="rId11"/>
    <p:sldId id="2134805293" r:id="rId12"/>
    <p:sldId id="2134805286" r:id="rId13"/>
    <p:sldId id="2134805287" r:id="rId14"/>
    <p:sldId id="2134805288" r:id="rId15"/>
    <p:sldId id="2134805291" r:id="rId16"/>
    <p:sldId id="2134805292" r:id="rId17"/>
    <p:sldId id="2134805294" r:id="rId18"/>
    <p:sldId id="2134805295" r:id="rId19"/>
    <p:sldId id="2134805296" r:id="rId20"/>
    <p:sldId id="2134805297" r:id="rId21"/>
    <p:sldId id="2134805298" r:id="rId22"/>
    <p:sldId id="2134805299" r:id="rId23"/>
    <p:sldId id="2134805300" r:id="rId24"/>
    <p:sldId id="2134805301" r:id="rId25"/>
    <p:sldId id="2134805305" r:id="rId26"/>
    <p:sldId id="2134805302" r:id="rId27"/>
    <p:sldId id="2134805304" r:id="rId28"/>
    <p:sldId id="2134805306" r:id="rId29"/>
    <p:sldId id="2134805303" r:id="rId30"/>
    <p:sldId id="213480530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11CC26-0DDC-F74C-9610-A5AFC3939A25}" v="107" dt="2025-10-14T21:31:43.6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11"/>
    <p:restoredTop sz="94640"/>
  </p:normalViewPr>
  <p:slideViewPr>
    <p:cSldViewPr snapToGrid="0">
      <p:cViewPr varScale="1">
        <p:scale>
          <a:sx n="86" d="100"/>
          <a:sy n="86" d="100"/>
        </p:scale>
        <p:origin x="224"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1A6552-0A6C-D244-A2C8-B478F33B238A}" type="datetimeFigureOut">
              <a:rPr lang="en-US" smtClean="0"/>
              <a:t>1/16/26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40C50-DB3F-694F-A5EA-834EAC917A9F}" type="slidenum">
              <a:rPr lang="en-US" smtClean="0"/>
              <a:t>‹#›</a:t>
            </a:fld>
            <a:endParaRPr lang="en-US"/>
          </a:p>
        </p:txBody>
      </p:sp>
    </p:spTree>
    <p:extLst>
      <p:ext uri="{BB962C8B-B14F-4D97-AF65-F5344CB8AC3E}">
        <p14:creationId xmlns:p14="http://schemas.microsoft.com/office/powerpoint/2010/main" val="1522306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3BC2B-6CDA-72E2-229B-18DEF391FAD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A6613BC-7CB8-5A38-CD30-2C58A648B3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297053D-FB66-9EF0-41B9-05675F1D829F}"/>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pic>
        <p:nvPicPr>
          <p:cNvPr id="5" name="Picture 2">
            <a:extLst>
              <a:ext uri="{FF2B5EF4-FFF2-40B4-BE49-F238E27FC236}">
                <a16:creationId xmlns:a16="http://schemas.microsoft.com/office/drawing/2014/main" id="{C5E4A305-5980-51C4-00CE-A1E53A478C1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342797"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765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9C6C1-E6BA-4617-CEA1-A46333E5BF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E7A5070-78BD-D7FC-3836-A86EAF52079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E56B37-1922-E8D3-885A-1BEDCB2C3938}"/>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28FEE563-D749-E1BC-79F7-18DBB9ADCAF4}"/>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5" name="Picture 2">
            <a:extLst>
              <a:ext uri="{FF2B5EF4-FFF2-40B4-BE49-F238E27FC236}">
                <a16:creationId xmlns:a16="http://schemas.microsoft.com/office/drawing/2014/main" id="{9C708C23-44BA-83EE-805A-FA7D5AC43C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067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653B9-9588-F242-424C-FCBB884F62C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910FA4E-8AC2-FBC2-6505-59158EC906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40E71F0-A64A-9841-1C40-6F5056C752E2}"/>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4B43019A-A54C-4805-AC3B-89DFDA94F105}"/>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7" name="Picture 2">
            <a:extLst>
              <a:ext uri="{FF2B5EF4-FFF2-40B4-BE49-F238E27FC236}">
                <a16:creationId xmlns:a16="http://schemas.microsoft.com/office/drawing/2014/main" id="{F74D2014-878F-FF20-787E-1D8B6C11D57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161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4EC80-0B57-11D7-6A08-DA72C26DB99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F099C45-27E0-950B-DC56-2883613570A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CFFEE44-6404-140F-5A0B-666C2995905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A3AA74-7D0B-6A68-C6F1-58669BD5ECDA}"/>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sp>
        <p:nvSpPr>
          <p:cNvPr id="7" name="Slide Number Placeholder 6">
            <a:extLst>
              <a:ext uri="{FF2B5EF4-FFF2-40B4-BE49-F238E27FC236}">
                <a16:creationId xmlns:a16="http://schemas.microsoft.com/office/drawing/2014/main" id="{33435119-2D05-18ED-1F86-7B52DBC90FB3}"/>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8" name="Picture 2">
            <a:extLst>
              <a:ext uri="{FF2B5EF4-FFF2-40B4-BE49-F238E27FC236}">
                <a16:creationId xmlns:a16="http://schemas.microsoft.com/office/drawing/2014/main" id="{32EB2575-90E9-434C-12F2-9D918266825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792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79FF7-A942-3ABB-E89F-C11FE71A633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41B25CB-87EE-7F13-C2E5-98AEFE3A08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C61A3B3-B0C2-D253-5839-21704BC92F1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AF3FF5C-DC76-BE96-FF09-1D64C4C206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8E43628-B25A-5FA2-726A-C013AEF1F8E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46CB1D8-8615-69BE-A5AC-84686035CE65}"/>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sp>
        <p:nvSpPr>
          <p:cNvPr id="9" name="Slide Number Placeholder 8">
            <a:extLst>
              <a:ext uri="{FF2B5EF4-FFF2-40B4-BE49-F238E27FC236}">
                <a16:creationId xmlns:a16="http://schemas.microsoft.com/office/drawing/2014/main" id="{EB28A28F-B43E-6906-568E-3DE2F621CB89}"/>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10" name="Picture 2">
            <a:extLst>
              <a:ext uri="{FF2B5EF4-FFF2-40B4-BE49-F238E27FC236}">
                <a16:creationId xmlns:a16="http://schemas.microsoft.com/office/drawing/2014/main" id="{25503364-8263-0069-3E15-E53AA0FF60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937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300EA-D986-DFE9-8606-5412B250443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8319164-4796-E83E-B99E-763DDB92EC7B}"/>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4081A88B-6D57-DFC8-99F7-A2961B377017}"/>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6" name="Picture 2">
            <a:extLst>
              <a:ext uri="{FF2B5EF4-FFF2-40B4-BE49-F238E27FC236}">
                <a16:creationId xmlns:a16="http://schemas.microsoft.com/office/drawing/2014/main" id="{2E864F53-95E2-27F6-7EA4-B017856047C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959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42A436-0A8C-6244-CE2E-050985EC4819}"/>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sp>
        <p:nvSpPr>
          <p:cNvPr id="4" name="Slide Number Placeholder 3">
            <a:extLst>
              <a:ext uri="{FF2B5EF4-FFF2-40B4-BE49-F238E27FC236}">
                <a16:creationId xmlns:a16="http://schemas.microsoft.com/office/drawing/2014/main" id="{E2507374-4A63-ABE6-3E1E-6AAAA27B41B3}"/>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5" name="Picture 2">
            <a:extLst>
              <a:ext uri="{FF2B5EF4-FFF2-40B4-BE49-F238E27FC236}">
                <a16:creationId xmlns:a16="http://schemas.microsoft.com/office/drawing/2014/main" id="{48B43AA4-1E44-6DFE-BF73-0153DA219E6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483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8E67-882E-9559-4DC2-620237B006F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8A7F3FA-6A4E-B9A6-59F4-5716FADEDF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6CB5F38-CD1E-152F-206F-9B75CE0191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6D44107-E234-3C60-AC0C-0944629298CF}"/>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sp>
        <p:nvSpPr>
          <p:cNvPr id="7" name="Slide Number Placeholder 6">
            <a:extLst>
              <a:ext uri="{FF2B5EF4-FFF2-40B4-BE49-F238E27FC236}">
                <a16:creationId xmlns:a16="http://schemas.microsoft.com/office/drawing/2014/main" id="{2106735C-C2AF-213F-7E15-6C8911E07470}"/>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8" name="Picture 2">
            <a:extLst>
              <a:ext uri="{FF2B5EF4-FFF2-40B4-BE49-F238E27FC236}">
                <a16:creationId xmlns:a16="http://schemas.microsoft.com/office/drawing/2014/main" id="{E46854FA-170D-685D-1287-0C3212C8DC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252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652A8-28B3-1332-FFCA-4F93330C25B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E6512B4-F468-3058-3490-9303023C0F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A5CBC0-DBE9-B3FB-9FD1-DD37BA890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41C05A0-55BA-F897-9634-005771C15C04}"/>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sp>
        <p:nvSpPr>
          <p:cNvPr id="7" name="Slide Number Placeholder 6">
            <a:extLst>
              <a:ext uri="{FF2B5EF4-FFF2-40B4-BE49-F238E27FC236}">
                <a16:creationId xmlns:a16="http://schemas.microsoft.com/office/drawing/2014/main" id="{8EAE172D-4AC8-7CF1-F3B6-457AA86515C3}"/>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8" name="Picture 2">
            <a:extLst>
              <a:ext uri="{FF2B5EF4-FFF2-40B4-BE49-F238E27FC236}">
                <a16:creationId xmlns:a16="http://schemas.microsoft.com/office/drawing/2014/main" id="{EE73371F-ED2D-3D2D-E868-196FF8A3C5F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423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B8E8-F679-8710-D25A-4D057489651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2589DAA-8279-691A-D5BF-F5C892E671E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4CC9042-AEE3-BD22-0364-B68E58C92B50}"/>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D9AEF517-351F-E660-6564-F4A1D829F275}"/>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7" name="Picture 2">
            <a:extLst>
              <a:ext uri="{FF2B5EF4-FFF2-40B4-BE49-F238E27FC236}">
                <a16:creationId xmlns:a16="http://schemas.microsoft.com/office/drawing/2014/main" id="{E88B0B06-D280-3222-7446-AB54F002D4F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671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4BD917-C4A5-7822-91C2-F4F96DE15AA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EE0A98C-EF04-BC3B-CF4A-B93A2E36EF0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8B9D545-B6AE-6057-9E2E-C7C2246673AC}"/>
              </a:ext>
            </a:extLst>
          </p:cNvPr>
          <p:cNvSpPr>
            <a:spLocks noGrp="1"/>
          </p:cNvSpPr>
          <p:nvPr>
            <p:ph type="dt" sz="half" idx="10"/>
          </p:nvPr>
        </p:nvSpPr>
        <p:spPr/>
        <p:txBody>
          <a:bodyPr/>
          <a:lstStyle/>
          <a:p>
            <a:r>
              <a:rPr lang="en-GB" dirty="0"/>
              <a:t>Chapter 9 -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798A4EF9-342D-74DD-C592-195AD2BADB1C}"/>
              </a:ext>
            </a:extLst>
          </p:cNvPr>
          <p:cNvSpPr>
            <a:spLocks noGrp="1"/>
          </p:cNvSpPr>
          <p:nvPr>
            <p:ph type="sldNum" sz="quarter" idx="12"/>
          </p:nvPr>
        </p:nvSpPr>
        <p:spPr/>
        <p:txBody>
          <a:bodyPr/>
          <a:lstStyle/>
          <a:p>
            <a:fld id="{D204BADD-F420-F54C-BEF5-604E8EEED029}" type="slidenum">
              <a:rPr lang="en-US" smtClean="0"/>
              <a:t>‹#›</a:t>
            </a:fld>
            <a:endParaRPr lang="en-US"/>
          </a:p>
        </p:txBody>
      </p:sp>
      <p:pic>
        <p:nvPicPr>
          <p:cNvPr id="7" name="Picture 2">
            <a:extLst>
              <a:ext uri="{FF2B5EF4-FFF2-40B4-BE49-F238E27FC236}">
                <a16:creationId xmlns:a16="http://schemas.microsoft.com/office/drawing/2014/main" id="{D207AFF0-B925-74CB-DFC0-13BDE847CAF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74211" y="6307083"/>
            <a:ext cx="1325203" cy="46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004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F49B1-067C-B555-26D2-ABA3FE3990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6BAAED-978F-CD12-11C3-500EA50021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7F1C8E-C17C-A942-A064-333E0C969508}"/>
              </a:ext>
            </a:extLst>
          </p:cNvPr>
          <p:cNvSpPr>
            <a:spLocks noGrp="1"/>
          </p:cNvSpPr>
          <p:nvPr>
            <p:ph type="dt" sz="half" idx="2"/>
          </p:nvPr>
        </p:nvSpPr>
        <p:spPr>
          <a:xfrm>
            <a:off x="838199" y="6356350"/>
            <a:ext cx="7699625"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GB" dirty="0"/>
              <a:t>Chapter 9 -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9BDFB1A4-8411-5ABB-AC32-FD865BAB7492}"/>
              </a:ext>
            </a:extLst>
          </p:cNvPr>
          <p:cNvSpPr>
            <a:spLocks noGrp="1"/>
          </p:cNvSpPr>
          <p:nvPr>
            <p:ph type="sldNum" sz="quarter" idx="4"/>
          </p:nvPr>
        </p:nvSpPr>
        <p:spPr>
          <a:xfrm>
            <a:off x="10335802" y="6356350"/>
            <a:ext cx="1017998"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04BADD-F420-F54C-BEF5-604E8EEED029}" type="slidenum">
              <a:rPr lang="en-US" smtClean="0"/>
              <a:t>‹#›</a:t>
            </a:fld>
            <a:endParaRPr lang="en-US"/>
          </a:p>
        </p:txBody>
      </p:sp>
    </p:spTree>
    <p:extLst>
      <p:ext uri="{BB962C8B-B14F-4D97-AF65-F5344CB8AC3E}">
        <p14:creationId xmlns:p14="http://schemas.microsoft.com/office/powerpoint/2010/main" val="3830785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hyperlink" Target="https://www.chromium.org/developers/design-documents/multi-process-architectur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8E8F-6B80-712E-4BC4-802945BDC26F}"/>
              </a:ext>
            </a:extLst>
          </p:cNvPr>
          <p:cNvSpPr>
            <a:spLocks noGrp="1"/>
          </p:cNvSpPr>
          <p:nvPr>
            <p:ph type="ctrTitle"/>
          </p:nvPr>
        </p:nvSpPr>
        <p:spPr/>
        <p:txBody>
          <a:bodyPr>
            <a:normAutofit fontScale="90000"/>
          </a:bodyPr>
          <a:lstStyle/>
          <a:p>
            <a:r>
              <a:rPr lang="en-GB" dirty="0"/>
              <a:t>Chapter 9: </a:t>
            </a:r>
            <a:br>
              <a:rPr lang="en-GB" dirty="0"/>
            </a:br>
            <a:r>
              <a:rPr lang="en-GB" dirty="0"/>
              <a:t>Software Design – Basic Concepts</a:t>
            </a:r>
            <a:endParaRPr lang="en-US" dirty="0"/>
          </a:p>
        </p:txBody>
      </p:sp>
      <p:sp>
        <p:nvSpPr>
          <p:cNvPr id="3" name="Subtitle 2">
            <a:extLst>
              <a:ext uri="{FF2B5EF4-FFF2-40B4-BE49-F238E27FC236}">
                <a16:creationId xmlns:a16="http://schemas.microsoft.com/office/drawing/2014/main" id="{5BD62A6B-8524-A31B-0489-93460027EC67}"/>
              </a:ext>
            </a:extLst>
          </p:cNvPr>
          <p:cNvSpPr>
            <a:spLocks noGrp="1"/>
          </p:cNvSpPr>
          <p:nvPr>
            <p:ph type="subTitle" idx="1"/>
          </p:nvPr>
        </p:nvSpPr>
        <p:spPr/>
        <p:txBody>
          <a:bodyPr>
            <a:normAutofit/>
          </a:bodyPr>
          <a:lstStyle/>
          <a:p>
            <a:r>
              <a:rPr lang="en-GB" dirty="0"/>
              <a:t>Summary slides from</a:t>
            </a:r>
            <a:br>
              <a:rPr lang="en-GB" dirty="0"/>
            </a:br>
            <a:r>
              <a:rPr lang="en-GB" dirty="0"/>
              <a:t>M. Camilli, E. Di Nitto, A. Fuggetta, </a:t>
            </a:r>
            <a:br>
              <a:rPr lang="en-GB" dirty="0"/>
            </a:br>
            <a:r>
              <a:rPr lang="en-GB" dirty="0"/>
              <a:t>A. Margara, M.G. Rossi, D.A. Tamburri. Software Engineering: a Structured Journey from Inception to Delivery. BUP 2025. </a:t>
            </a:r>
            <a:endParaRPr lang="en-US" dirty="0"/>
          </a:p>
        </p:txBody>
      </p:sp>
    </p:spTree>
    <p:extLst>
      <p:ext uri="{BB962C8B-B14F-4D97-AF65-F5344CB8AC3E}">
        <p14:creationId xmlns:p14="http://schemas.microsoft.com/office/powerpoint/2010/main" val="2220450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Design – Basic Concepts</a:t>
            </a:r>
            <a:endParaRPr dirty="0"/>
          </a:p>
        </p:txBody>
      </p:sp>
      <p:sp>
        <p:nvSpPr>
          <p:cNvPr id="3" name="Content Placeholder 2"/>
          <p:cNvSpPr>
            <a:spLocks noGrp="1"/>
          </p:cNvSpPr>
          <p:nvPr>
            <p:ph idx="1"/>
          </p:nvPr>
        </p:nvSpPr>
        <p:spPr>
          <a:xfrm>
            <a:off x="838200" y="1825625"/>
            <a:ext cx="7118268" cy="4351338"/>
          </a:xfrm>
        </p:spPr>
        <p:txBody>
          <a:bodyPr/>
          <a:lstStyle/>
          <a:p>
            <a:r>
              <a:rPr lang="en-GB" b="1" dirty="0"/>
              <a:t>Chapter 9</a:t>
            </a:r>
          </a:p>
          <a:p>
            <a:r>
              <a:rPr lang="en-GB" b="1" dirty="0"/>
              <a:t>Focus</a:t>
            </a:r>
            <a:r>
              <a:rPr lang="en-GB" dirty="0"/>
              <a:t>: Importance of software design and descriptions suitable to it</a:t>
            </a:r>
            <a:endParaRPr dirty="0"/>
          </a:p>
        </p:txBody>
      </p:sp>
      <p:sp>
        <p:nvSpPr>
          <p:cNvPr id="4" name="Date Placeholder 3">
            <a:extLst>
              <a:ext uri="{FF2B5EF4-FFF2-40B4-BE49-F238E27FC236}">
                <a16:creationId xmlns:a16="http://schemas.microsoft.com/office/drawing/2014/main" id="{569EA63C-1FBB-4436-9082-3A2E9D519F1F}"/>
              </a:ext>
            </a:extLst>
          </p:cNvPr>
          <p:cNvSpPr>
            <a:spLocks noGrp="1"/>
          </p:cNvSpPr>
          <p:nvPr>
            <p:ph type="dt" sz="half" idx="10"/>
          </p:nvPr>
        </p:nvSpPr>
        <p:spPr/>
        <p:txBody>
          <a:bodyPr/>
          <a:lstStyle/>
          <a:p>
            <a:r>
              <a:rPr lang="it-IT" dirty="0" err="1"/>
              <a:t>Chapter</a:t>
            </a:r>
            <a:r>
              <a:rPr lang="it-IT" dirty="0"/>
              <a:t> 9 - M. Camilli, E. Di Nitto, A. Fuggetta, A. Margara, M.G. Rossi, D.A. Tamburri.  Software Engineering: </a:t>
            </a:r>
            <a:br>
              <a:rPr lang="it-IT" dirty="0"/>
            </a:br>
            <a:r>
              <a:rPr lang="it-IT" dirty="0"/>
              <a:t>a </a:t>
            </a:r>
            <a:r>
              <a:rPr lang="it-IT" dirty="0" err="1"/>
              <a:t>Structured</a:t>
            </a:r>
            <a:r>
              <a:rPr lang="it-IT" dirty="0"/>
              <a:t> </a:t>
            </a:r>
            <a:r>
              <a:rPr lang="it-IT" dirty="0" err="1"/>
              <a:t>Journey</a:t>
            </a:r>
            <a:r>
              <a:rPr lang="it-IT" dirty="0"/>
              <a:t> from </a:t>
            </a:r>
            <a:r>
              <a:rPr lang="it-IT" dirty="0" err="1"/>
              <a:t>Inception</a:t>
            </a:r>
            <a:r>
              <a:rPr lang="it-IT" dirty="0"/>
              <a:t> to Delivery. BUP 2025.</a:t>
            </a:r>
            <a:endParaRPr lang="en-US" dirty="0"/>
          </a:p>
        </p:txBody>
      </p:sp>
      <p:sp>
        <p:nvSpPr>
          <p:cNvPr id="5" name="Slide Number Placeholder 4">
            <a:extLst>
              <a:ext uri="{FF2B5EF4-FFF2-40B4-BE49-F238E27FC236}">
                <a16:creationId xmlns:a16="http://schemas.microsoft.com/office/drawing/2014/main" id="{01346A0E-47BD-D559-F37B-1AAC951E0C7D}"/>
              </a:ext>
            </a:extLst>
          </p:cNvPr>
          <p:cNvSpPr>
            <a:spLocks noGrp="1"/>
          </p:cNvSpPr>
          <p:nvPr>
            <p:ph type="sldNum" sz="quarter" idx="12"/>
          </p:nvPr>
        </p:nvSpPr>
        <p:spPr/>
        <p:txBody>
          <a:bodyPr/>
          <a:lstStyle/>
          <a:p>
            <a:fld id="{D204BADD-F420-F54C-BEF5-604E8EEED029}" type="slidenum">
              <a:rPr lang="en-US" smtClean="0"/>
              <a:t>1</a:t>
            </a:fld>
            <a:endParaRPr lang="en-US"/>
          </a:p>
        </p:txBody>
      </p:sp>
      <p:pic>
        <p:nvPicPr>
          <p:cNvPr id="6" name="Picture 5">
            <a:extLst>
              <a:ext uri="{FF2B5EF4-FFF2-40B4-BE49-F238E27FC236}">
                <a16:creationId xmlns:a16="http://schemas.microsoft.com/office/drawing/2014/main" id="{FB4663F6-D297-735B-CDC9-15944492D12B}"/>
              </a:ext>
            </a:extLst>
          </p:cNvPr>
          <p:cNvPicPr>
            <a:picLocks noChangeAspect="1"/>
          </p:cNvPicPr>
          <p:nvPr/>
        </p:nvPicPr>
        <p:blipFill>
          <a:blip r:embed="rId2"/>
          <a:stretch>
            <a:fillRect/>
          </a:stretch>
        </p:blipFill>
        <p:spPr>
          <a:xfrm>
            <a:off x="8167817" y="1803177"/>
            <a:ext cx="2997872" cy="4263989"/>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DD7B6-024C-09C6-F3E3-FD06EBBC8663}"/>
              </a:ext>
            </a:extLst>
          </p:cNvPr>
          <p:cNvSpPr>
            <a:spLocks noGrp="1"/>
          </p:cNvSpPr>
          <p:nvPr>
            <p:ph type="title"/>
          </p:nvPr>
        </p:nvSpPr>
        <p:spPr/>
        <p:txBody>
          <a:bodyPr/>
          <a:lstStyle/>
          <a:p>
            <a:r>
              <a:rPr lang="en-US" dirty="0"/>
              <a:t>What Is Software Design?</a:t>
            </a:r>
          </a:p>
        </p:txBody>
      </p:sp>
      <p:sp>
        <p:nvSpPr>
          <p:cNvPr id="3" name="Content Placeholder 2">
            <a:extLst>
              <a:ext uri="{FF2B5EF4-FFF2-40B4-BE49-F238E27FC236}">
                <a16:creationId xmlns:a16="http://schemas.microsoft.com/office/drawing/2014/main" id="{E2DC8930-C75B-E892-BF0E-2D4120A46E1B}"/>
              </a:ext>
            </a:extLst>
          </p:cNvPr>
          <p:cNvSpPr>
            <a:spLocks noGrp="1"/>
          </p:cNvSpPr>
          <p:nvPr>
            <p:ph idx="1"/>
          </p:nvPr>
        </p:nvSpPr>
        <p:spPr/>
        <p:txBody>
          <a:bodyPr/>
          <a:lstStyle/>
          <a:p>
            <a:r>
              <a:rPr lang="en-GB" dirty="0"/>
              <a:t>Software Design = Deciding </a:t>
            </a:r>
            <a:r>
              <a:rPr lang="en-GB" i="1" dirty="0"/>
              <a:t>how</a:t>
            </a:r>
            <a:r>
              <a:rPr lang="en-GB" dirty="0"/>
              <a:t> a system </a:t>
            </a:r>
            <a:r>
              <a:rPr lang="en-GB" dirty="0" err="1"/>
              <a:t>fulfills</a:t>
            </a:r>
            <a:r>
              <a:rPr lang="en-GB" dirty="0"/>
              <a:t> its requirements</a:t>
            </a:r>
          </a:p>
          <a:p>
            <a:r>
              <a:rPr lang="en-GB" dirty="0"/>
              <a:t>Considers:</a:t>
            </a:r>
          </a:p>
          <a:p>
            <a:pPr lvl="1"/>
            <a:r>
              <a:rPr lang="en-GB" dirty="0"/>
              <a:t>Functional &amp; non-functional requirements</a:t>
            </a:r>
          </a:p>
          <a:p>
            <a:pPr lvl="1"/>
            <a:r>
              <a:rPr lang="en-GB" dirty="0"/>
              <a:t>Technological, budget, and resource constraints</a:t>
            </a:r>
          </a:p>
          <a:p>
            <a:pPr lvl="1"/>
            <a:r>
              <a:rPr lang="en-GB" dirty="0"/>
              <a:t>Organizational context</a:t>
            </a:r>
          </a:p>
          <a:p>
            <a:r>
              <a:rPr lang="en-US" dirty="0"/>
              <a:t>It is </a:t>
            </a:r>
            <a:r>
              <a:rPr lang="en-GB" dirty="0"/>
              <a:t>decision-making under constraints, thus, it is not just about structure, but trade-offs.</a:t>
            </a:r>
            <a:endParaRPr lang="en-US" dirty="0"/>
          </a:p>
        </p:txBody>
      </p:sp>
      <p:sp>
        <p:nvSpPr>
          <p:cNvPr id="4" name="Date Placeholder 3">
            <a:extLst>
              <a:ext uri="{FF2B5EF4-FFF2-40B4-BE49-F238E27FC236}">
                <a16:creationId xmlns:a16="http://schemas.microsoft.com/office/drawing/2014/main" id="{4EB9418A-C02E-FCBD-8E89-1F84746ECD28}"/>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789A29A9-6E00-3100-F754-2D0985013EF3}"/>
              </a:ext>
            </a:extLst>
          </p:cNvPr>
          <p:cNvSpPr>
            <a:spLocks noGrp="1"/>
          </p:cNvSpPr>
          <p:nvPr>
            <p:ph type="sldNum" sz="quarter" idx="12"/>
          </p:nvPr>
        </p:nvSpPr>
        <p:spPr/>
        <p:txBody>
          <a:bodyPr/>
          <a:lstStyle/>
          <a:p>
            <a:fld id="{D204BADD-F420-F54C-BEF5-604E8EEED029}" type="slidenum">
              <a:rPr lang="en-US" smtClean="0"/>
              <a:t>2</a:t>
            </a:fld>
            <a:endParaRPr lang="en-US"/>
          </a:p>
        </p:txBody>
      </p:sp>
    </p:spTree>
    <p:extLst>
      <p:ext uri="{BB962C8B-B14F-4D97-AF65-F5344CB8AC3E}">
        <p14:creationId xmlns:p14="http://schemas.microsoft.com/office/powerpoint/2010/main" val="1517022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CF763-8ABC-35EF-D83D-EF63B1733D81}"/>
              </a:ext>
            </a:extLst>
          </p:cNvPr>
          <p:cNvSpPr>
            <a:spLocks noGrp="1"/>
          </p:cNvSpPr>
          <p:nvPr>
            <p:ph type="title"/>
          </p:nvPr>
        </p:nvSpPr>
        <p:spPr/>
        <p:txBody>
          <a:bodyPr/>
          <a:lstStyle/>
          <a:p>
            <a:r>
              <a:rPr lang="en-US" dirty="0"/>
              <a:t>Why design decisions matter deeply? </a:t>
            </a:r>
            <a:br>
              <a:rPr lang="en-US" dirty="0"/>
            </a:br>
            <a:r>
              <a:rPr lang="en-US" dirty="0"/>
              <a:t>Case study: the Ariane 5 failure </a:t>
            </a:r>
          </a:p>
        </p:txBody>
      </p:sp>
      <p:sp>
        <p:nvSpPr>
          <p:cNvPr id="3" name="Content Placeholder 2">
            <a:extLst>
              <a:ext uri="{FF2B5EF4-FFF2-40B4-BE49-F238E27FC236}">
                <a16:creationId xmlns:a16="http://schemas.microsoft.com/office/drawing/2014/main" id="{40E35BDB-5778-E7B4-BC60-A7D0A1441A4A}"/>
              </a:ext>
            </a:extLst>
          </p:cNvPr>
          <p:cNvSpPr>
            <a:spLocks noGrp="1"/>
          </p:cNvSpPr>
          <p:nvPr>
            <p:ph idx="1"/>
          </p:nvPr>
        </p:nvSpPr>
        <p:spPr>
          <a:xfrm>
            <a:off x="5148196" y="1825625"/>
            <a:ext cx="6205603" cy="4351338"/>
          </a:xfrm>
        </p:spPr>
        <p:txBody>
          <a:bodyPr>
            <a:normAutofit fontScale="85000" lnSpcReduction="10000"/>
          </a:bodyPr>
          <a:lstStyle/>
          <a:p>
            <a:r>
              <a:rPr lang="en-GB" dirty="0"/>
              <a:t>Immediate trigger</a:t>
            </a:r>
          </a:p>
          <a:p>
            <a:pPr lvl="1"/>
            <a:r>
              <a:rPr lang="en-GB" dirty="0"/>
              <a:t>Incorrect 64-bit float to 16-bit integer conversion</a:t>
            </a:r>
          </a:p>
          <a:p>
            <a:r>
              <a:rPr lang="en-GB" dirty="0"/>
              <a:t>Root causes: design flaws in the Inertial Reference System (IRS) and its interaction with the On-Board Computer (OBC):</a:t>
            </a:r>
          </a:p>
          <a:p>
            <a:pPr lvl="1"/>
            <a:r>
              <a:rPr lang="en-US" b="1" dirty="0"/>
              <a:t>Inappropriate Reuse</a:t>
            </a:r>
            <a:r>
              <a:rPr lang="en-US" dirty="0"/>
              <a:t>: The IRS was designed for Ariane 4</a:t>
            </a:r>
          </a:p>
          <a:p>
            <a:pPr lvl="1"/>
            <a:r>
              <a:rPr lang="en-GB" b="1" dirty="0"/>
              <a:t>Inappropriate Exception Handling:</a:t>
            </a:r>
            <a:r>
              <a:rPr lang="en-GB" dirty="0"/>
              <a:t> the two replicas of the IRS both faced the incorrect conversion and  shutdown leaving the OBC with no information</a:t>
            </a:r>
          </a:p>
          <a:p>
            <a:pPr lvl="1"/>
            <a:r>
              <a:rPr lang="en-GB" b="1" dirty="0"/>
              <a:t>Vague Interaction Protocol:</a:t>
            </a:r>
            <a:r>
              <a:rPr lang="en-GB" dirty="0"/>
              <a:t> The OBC wrongly interpreted a </a:t>
            </a:r>
            <a:r>
              <a:rPr lang="en-GB" b="1" dirty="0"/>
              <a:t>diagnostic bit pattern</a:t>
            </a:r>
            <a:r>
              <a:rPr lang="en-GB" dirty="0"/>
              <a:t> sent by the failed IRS as flight data, leading it to command booster deflection</a:t>
            </a:r>
            <a:endParaRPr lang="en-US" dirty="0"/>
          </a:p>
        </p:txBody>
      </p:sp>
      <p:sp>
        <p:nvSpPr>
          <p:cNvPr id="4" name="Date Placeholder 3">
            <a:extLst>
              <a:ext uri="{FF2B5EF4-FFF2-40B4-BE49-F238E27FC236}">
                <a16:creationId xmlns:a16="http://schemas.microsoft.com/office/drawing/2014/main" id="{3EE6E449-E048-93D3-8E01-3B3C1C05DAC5}"/>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928FA35D-9DD0-A0F7-C7EE-DFCA26E8B4E9}"/>
              </a:ext>
            </a:extLst>
          </p:cNvPr>
          <p:cNvSpPr>
            <a:spLocks noGrp="1"/>
          </p:cNvSpPr>
          <p:nvPr>
            <p:ph type="sldNum" sz="quarter" idx="12"/>
          </p:nvPr>
        </p:nvSpPr>
        <p:spPr/>
        <p:txBody>
          <a:bodyPr/>
          <a:lstStyle/>
          <a:p>
            <a:fld id="{D204BADD-F420-F54C-BEF5-604E8EEED029}" type="slidenum">
              <a:rPr lang="en-US" smtClean="0"/>
              <a:t>3</a:t>
            </a:fld>
            <a:endParaRPr lang="en-US"/>
          </a:p>
        </p:txBody>
      </p:sp>
      <p:pic>
        <p:nvPicPr>
          <p:cNvPr id="1026" name="Picture 2" descr="Ariane 5 explosion. (retrieved from... | Download Scientific Diagram">
            <a:extLst>
              <a:ext uri="{FF2B5EF4-FFF2-40B4-BE49-F238E27FC236}">
                <a16:creationId xmlns:a16="http://schemas.microsoft.com/office/drawing/2014/main" id="{F1C5095B-7774-45D0-BC1D-3EEFE582B2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3123" y="1825625"/>
            <a:ext cx="2636206" cy="26362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59AEE37-2161-F16C-3DBB-C1A7BCC1027F}"/>
              </a:ext>
            </a:extLst>
          </p:cNvPr>
          <p:cNvSpPr txBox="1"/>
          <p:nvPr/>
        </p:nvSpPr>
        <p:spPr>
          <a:xfrm>
            <a:off x="975068" y="4975852"/>
            <a:ext cx="3685067" cy="1200329"/>
          </a:xfrm>
          <a:prstGeom prst="rect">
            <a:avLst/>
          </a:prstGeom>
          <a:noFill/>
        </p:spPr>
        <p:txBody>
          <a:bodyPr wrap="square" rtlCol="0">
            <a:spAutoFit/>
          </a:bodyPr>
          <a:lstStyle/>
          <a:p>
            <a:r>
              <a:rPr lang="en-US" dirty="0"/>
              <a:t>On June 4, 1996, the Ariane 5 launcher</a:t>
            </a:r>
            <a:br>
              <a:rPr lang="en-US" dirty="0"/>
            </a:br>
            <a:r>
              <a:rPr lang="en-US" dirty="0"/>
              <a:t>veered off course and exploded 37 seconds after liftoff</a:t>
            </a:r>
          </a:p>
        </p:txBody>
      </p:sp>
    </p:spTree>
    <p:extLst>
      <p:ext uri="{BB962C8B-B14F-4D97-AF65-F5344CB8AC3E}">
        <p14:creationId xmlns:p14="http://schemas.microsoft.com/office/powerpoint/2010/main" val="2268931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7B74B-BF7D-78F6-C7DD-B5F6A79AD93A}"/>
              </a:ext>
            </a:extLst>
          </p:cNvPr>
          <p:cNvSpPr>
            <a:spLocks noGrp="1"/>
          </p:cNvSpPr>
          <p:nvPr>
            <p:ph type="title"/>
          </p:nvPr>
        </p:nvSpPr>
        <p:spPr/>
        <p:txBody>
          <a:bodyPr/>
          <a:lstStyle/>
          <a:p>
            <a:r>
              <a:rPr lang="en-US" dirty="0"/>
              <a:t>Design in the software lifecycle</a:t>
            </a:r>
          </a:p>
        </p:txBody>
      </p:sp>
      <p:pic>
        <p:nvPicPr>
          <p:cNvPr id="7" name="Content Placeholder 6">
            <a:extLst>
              <a:ext uri="{FF2B5EF4-FFF2-40B4-BE49-F238E27FC236}">
                <a16:creationId xmlns:a16="http://schemas.microsoft.com/office/drawing/2014/main" id="{615DFA92-9C5C-DFB6-5DFC-C55FB4FA7471}"/>
              </a:ext>
            </a:extLst>
          </p:cNvPr>
          <p:cNvPicPr>
            <a:picLocks noGrp="1" noChangeAspect="1"/>
          </p:cNvPicPr>
          <p:nvPr>
            <p:ph idx="1"/>
          </p:nvPr>
        </p:nvPicPr>
        <p:blipFill>
          <a:blip r:embed="rId2"/>
          <a:stretch>
            <a:fillRect/>
          </a:stretch>
        </p:blipFill>
        <p:spPr>
          <a:xfrm>
            <a:off x="1415342" y="1825625"/>
            <a:ext cx="9361315" cy="4351338"/>
          </a:xfrm>
        </p:spPr>
      </p:pic>
      <p:sp>
        <p:nvSpPr>
          <p:cNvPr id="4" name="Date Placeholder 3">
            <a:extLst>
              <a:ext uri="{FF2B5EF4-FFF2-40B4-BE49-F238E27FC236}">
                <a16:creationId xmlns:a16="http://schemas.microsoft.com/office/drawing/2014/main" id="{05DEB742-C8D8-798F-B60A-1B4BFD1377B2}"/>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59F956D3-3D8F-FD85-4A6D-BB98FDF00B06}"/>
              </a:ext>
            </a:extLst>
          </p:cNvPr>
          <p:cNvSpPr>
            <a:spLocks noGrp="1"/>
          </p:cNvSpPr>
          <p:nvPr>
            <p:ph type="sldNum" sz="quarter" idx="12"/>
          </p:nvPr>
        </p:nvSpPr>
        <p:spPr/>
        <p:txBody>
          <a:bodyPr/>
          <a:lstStyle/>
          <a:p>
            <a:fld id="{D204BADD-F420-F54C-BEF5-604E8EEED029}" type="slidenum">
              <a:rPr lang="en-US" smtClean="0"/>
              <a:t>4</a:t>
            </a:fld>
            <a:endParaRPr lang="en-US"/>
          </a:p>
        </p:txBody>
      </p:sp>
    </p:spTree>
    <p:extLst>
      <p:ext uri="{BB962C8B-B14F-4D97-AF65-F5344CB8AC3E}">
        <p14:creationId xmlns:p14="http://schemas.microsoft.com/office/powerpoint/2010/main" val="1931901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4DA5D-120F-C164-3DDE-705FD8ABCE29}"/>
              </a:ext>
            </a:extLst>
          </p:cNvPr>
          <p:cNvSpPr>
            <a:spLocks noGrp="1"/>
          </p:cNvSpPr>
          <p:nvPr>
            <p:ph type="title"/>
          </p:nvPr>
        </p:nvSpPr>
        <p:spPr/>
        <p:txBody>
          <a:bodyPr/>
          <a:lstStyle/>
          <a:p>
            <a:r>
              <a:rPr lang="en-IT"/>
              <a:t>What is a Software Architecture?</a:t>
            </a:r>
          </a:p>
        </p:txBody>
      </p:sp>
      <p:sp>
        <p:nvSpPr>
          <p:cNvPr id="3" name="Content Placeholder 2">
            <a:extLst>
              <a:ext uri="{FF2B5EF4-FFF2-40B4-BE49-F238E27FC236}">
                <a16:creationId xmlns:a16="http://schemas.microsoft.com/office/drawing/2014/main" id="{9F1191EC-EB58-9FA0-4E1A-C98DA3B9F483}"/>
              </a:ext>
            </a:extLst>
          </p:cNvPr>
          <p:cNvSpPr>
            <a:spLocks noGrp="1"/>
          </p:cNvSpPr>
          <p:nvPr>
            <p:ph idx="1"/>
          </p:nvPr>
        </p:nvSpPr>
        <p:spPr/>
        <p:txBody>
          <a:bodyPr/>
          <a:lstStyle/>
          <a:p>
            <a:r>
              <a:rPr lang="en-GB" dirty="0"/>
              <a:t>The Software Architecture (SA) of a system is the </a:t>
            </a:r>
            <a:r>
              <a:rPr lang="en-GB" dirty="0">
                <a:solidFill>
                  <a:srgbClr val="FF0000"/>
                </a:solidFill>
              </a:rPr>
              <a:t>set of structures </a:t>
            </a:r>
            <a:r>
              <a:rPr lang="en-GB" dirty="0"/>
              <a:t>needed to reason about the system. These structures comprise software </a:t>
            </a:r>
            <a:r>
              <a:rPr lang="en-GB" dirty="0">
                <a:solidFill>
                  <a:srgbClr val="FF0000"/>
                </a:solidFill>
              </a:rPr>
              <a:t>elements</a:t>
            </a:r>
            <a:r>
              <a:rPr lang="en-GB" dirty="0"/>
              <a:t>, </a:t>
            </a:r>
            <a:r>
              <a:rPr lang="en-GB" dirty="0">
                <a:solidFill>
                  <a:srgbClr val="FF0000"/>
                </a:solidFill>
              </a:rPr>
              <a:t>relations</a:t>
            </a:r>
            <a:r>
              <a:rPr lang="en-GB" dirty="0"/>
              <a:t> among them, and </a:t>
            </a:r>
            <a:r>
              <a:rPr lang="en-GB" dirty="0">
                <a:solidFill>
                  <a:srgbClr val="FF0000"/>
                </a:solidFill>
              </a:rPr>
              <a:t>properties</a:t>
            </a:r>
            <a:r>
              <a:rPr lang="en-GB" dirty="0"/>
              <a:t> of both. [Bass et al. 2021]</a:t>
            </a:r>
          </a:p>
          <a:p>
            <a:r>
              <a:rPr lang="en-IT"/>
              <a:t>SA as a tool to reason about systems</a:t>
            </a:r>
          </a:p>
          <a:p>
            <a:r>
              <a:rPr lang="en-IT"/>
              <a:t>SA composed of a set of structures</a:t>
            </a:r>
          </a:p>
          <a:p>
            <a:pPr marL="0" indent="0">
              <a:buNone/>
            </a:pPr>
            <a:endParaRPr lang="en-IT"/>
          </a:p>
          <a:p>
            <a:pPr marL="0" indent="0">
              <a:buNone/>
            </a:pPr>
            <a:endParaRPr lang="en-IT"/>
          </a:p>
          <a:p>
            <a:pPr marL="0" indent="0">
              <a:buNone/>
            </a:pPr>
            <a:r>
              <a:rPr lang="en-GB" sz="1900" dirty="0"/>
              <a:t>[Bass et al. 2021] </a:t>
            </a:r>
            <a:r>
              <a:rPr lang="en-GB" sz="1900" i="1" dirty="0"/>
              <a:t>Bass, Len, et al. Software Architecture in Practice, Pearson Education, Limited, 2021.</a:t>
            </a:r>
            <a:endParaRPr lang="en-IT" sz="1900" i="1"/>
          </a:p>
        </p:txBody>
      </p:sp>
      <p:sp>
        <p:nvSpPr>
          <p:cNvPr id="6" name="Slide Number Placeholder 5">
            <a:extLst>
              <a:ext uri="{FF2B5EF4-FFF2-40B4-BE49-F238E27FC236}">
                <a16:creationId xmlns:a16="http://schemas.microsoft.com/office/drawing/2014/main" id="{AF1917FE-4F56-891C-A388-8497973EFBF3}"/>
              </a:ext>
            </a:extLst>
          </p:cNvPr>
          <p:cNvSpPr>
            <a:spLocks noGrp="1"/>
          </p:cNvSpPr>
          <p:nvPr>
            <p:ph type="sldNum" sz="quarter" idx="12"/>
          </p:nvPr>
        </p:nvSpPr>
        <p:spPr/>
        <p:txBody>
          <a:bodyPr/>
          <a:lstStyle/>
          <a:p>
            <a:fld id="{9940DCBF-6A0F-2A4A-812C-7CF1FBB50149}" type="slidenum">
              <a:rPr lang="en-IT" smtClean="0"/>
              <a:t>5</a:t>
            </a:fld>
            <a:endParaRPr lang="en-IT"/>
          </a:p>
        </p:txBody>
      </p:sp>
      <p:sp>
        <p:nvSpPr>
          <p:cNvPr id="4" name="Footer Placeholder 3">
            <a:extLst>
              <a:ext uri="{FF2B5EF4-FFF2-40B4-BE49-F238E27FC236}">
                <a16:creationId xmlns:a16="http://schemas.microsoft.com/office/drawing/2014/main" id="{1201528C-D99D-09A7-1D34-6F3CE29ABCAD}"/>
              </a:ext>
            </a:extLst>
          </p:cNvPr>
          <p:cNvSpPr>
            <a:spLocks noGrp="1"/>
          </p:cNvSpPr>
          <p:nvPr>
            <p:ph type="ftr" sz="quarter" idx="4294967295"/>
          </p:nvPr>
        </p:nvSpPr>
        <p:spPr>
          <a:xfrm>
            <a:off x="0" y="6356350"/>
            <a:ext cx="4114800" cy="365125"/>
          </a:xfrm>
          <a:prstGeom prst="rect">
            <a:avLst/>
          </a:prstGeom>
        </p:spPr>
        <p:txBody>
          <a:bodyPr vert="horz" lIns="91440" tIns="45720" rIns="91440" bIns="45720" rtlCol="0" anchor="ctr"/>
          <a:lstStyle>
            <a:defPPr>
              <a:defRPr lang="en-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t>SE2 - Software Architecture</a:t>
            </a:r>
            <a:endParaRPr lang="en-IT"/>
          </a:p>
        </p:txBody>
      </p:sp>
    </p:spTree>
    <p:extLst>
      <p:ext uri="{BB962C8B-B14F-4D97-AF65-F5344CB8AC3E}">
        <p14:creationId xmlns:p14="http://schemas.microsoft.com/office/powerpoint/2010/main" val="2344219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1C4E4-F1A7-25A5-7F1D-97FC1691E52C}"/>
              </a:ext>
            </a:extLst>
          </p:cNvPr>
          <p:cNvSpPr>
            <a:spLocks noGrp="1"/>
          </p:cNvSpPr>
          <p:nvPr>
            <p:ph type="title"/>
          </p:nvPr>
        </p:nvSpPr>
        <p:spPr/>
        <p:txBody>
          <a:bodyPr/>
          <a:lstStyle/>
          <a:p>
            <a:r>
              <a:rPr lang="en-US" dirty="0"/>
              <a:t>Architectural reasoning workflow</a:t>
            </a:r>
          </a:p>
        </p:txBody>
      </p:sp>
      <p:sp>
        <p:nvSpPr>
          <p:cNvPr id="4" name="Date Placeholder 3">
            <a:extLst>
              <a:ext uri="{FF2B5EF4-FFF2-40B4-BE49-F238E27FC236}">
                <a16:creationId xmlns:a16="http://schemas.microsoft.com/office/drawing/2014/main" id="{5D7820A7-D1ED-5A10-A618-CADE04B392E4}"/>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112A4F5B-14C4-1FC0-0ED6-6F1745C9F9B3}"/>
              </a:ext>
            </a:extLst>
          </p:cNvPr>
          <p:cNvSpPr>
            <a:spLocks noGrp="1"/>
          </p:cNvSpPr>
          <p:nvPr>
            <p:ph type="sldNum" sz="quarter" idx="12"/>
          </p:nvPr>
        </p:nvSpPr>
        <p:spPr/>
        <p:txBody>
          <a:bodyPr/>
          <a:lstStyle/>
          <a:p>
            <a:fld id="{D204BADD-F420-F54C-BEF5-604E8EEED029}" type="slidenum">
              <a:rPr lang="en-US" smtClean="0"/>
              <a:t>6</a:t>
            </a:fld>
            <a:endParaRPr lang="en-US"/>
          </a:p>
        </p:txBody>
      </p:sp>
      <p:grpSp>
        <p:nvGrpSpPr>
          <p:cNvPr id="10" name="Group 9">
            <a:extLst>
              <a:ext uri="{FF2B5EF4-FFF2-40B4-BE49-F238E27FC236}">
                <a16:creationId xmlns:a16="http://schemas.microsoft.com/office/drawing/2014/main" id="{56D637CA-1DCB-15ED-D35D-C603BCC7F7DF}"/>
              </a:ext>
            </a:extLst>
          </p:cNvPr>
          <p:cNvGrpSpPr/>
          <p:nvPr/>
        </p:nvGrpSpPr>
        <p:grpSpPr>
          <a:xfrm>
            <a:off x="877839" y="1877971"/>
            <a:ext cx="10436322" cy="2242338"/>
            <a:chOff x="435167" y="1833904"/>
            <a:chExt cx="11000338" cy="2363522"/>
          </a:xfrm>
        </p:grpSpPr>
        <p:sp>
          <p:nvSpPr>
            <p:cNvPr id="11" name="Rounded Rectangle 10">
              <a:extLst>
                <a:ext uri="{FF2B5EF4-FFF2-40B4-BE49-F238E27FC236}">
                  <a16:creationId xmlns:a16="http://schemas.microsoft.com/office/drawing/2014/main" id="{A7C6B873-280E-D03F-8870-C4543BC1192B}"/>
                </a:ext>
              </a:extLst>
            </p:cNvPr>
            <p:cNvSpPr/>
            <p:nvPr/>
          </p:nvSpPr>
          <p:spPr>
            <a:xfrm>
              <a:off x="1272449" y="2564173"/>
              <a:ext cx="1476260" cy="6720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Identify a possible solution</a:t>
              </a:r>
            </a:p>
          </p:txBody>
        </p:sp>
        <p:sp>
          <p:nvSpPr>
            <p:cNvPr id="12" name="Diamond 11">
              <a:extLst>
                <a:ext uri="{FF2B5EF4-FFF2-40B4-BE49-F238E27FC236}">
                  <a16:creationId xmlns:a16="http://schemas.microsoft.com/office/drawing/2014/main" id="{3804143A-8265-ECE4-83E6-5288CA27B8D2}"/>
                </a:ext>
              </a:extLst>
            </p:cNvPr>
            <p:cNvSpPr/>
            <p:nvPr/>
          </p:nvSpPr>
          <p:spPr>
            <a:xfrm>
              <a:off x="3343620" y="2393414"/>
              <a:ext cx="1749846" cy="1035586"/>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Fulfills requirements?</a:t>
              </a:r>
            </a:p>
          </p:txBody>
        </p:sp>
        <p:sp>
          <p:nvSpPr>
            <p:cNvPr id="13" name="Rounded Rectangle 12">
              <a:extLst>
                <a:ext uri="{FF2B5EF4-FFF2-40B4-BE49-F238E27FC236}">
                  <a16:creationId xmlns:a16="http://schemas.microsoft.com/office/drawing/2014/main" id="{A297B14E-FA90-2881-7D61-EEFE6690E1F9}"/>
                </a:ext>
              </a:extLst>
            </p:cNvPr>
            <p:cNvSpPr/>
            <p:nvPr/>
          </p:nvSpPr>
          <p:spPr>
            <a:xfrm>
              <a:off x="5688377" y="2575192"/>
              <a:ext cx="1476260" cy="6720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Assess impact on qualities</a:t>
              </a:r>
            </a:p>
          </p:txBody>
        </p:sp>
        <p:sp>
          <p:nvSpPr>
            <p:cNvPr id="14" name="Rounded Rectangle 13">
              <a:extLst>
                <a:ext uri="{FF2B5EF4-FFF2-40B4-BE49-F238E27FC236}">
                  <a16:creationId xmlns:a16="http://schemas.microsoft.com/office/drawing/2014/main" id="{599BD505-9975-9B42-77CA-620E19D8F504}"/>
                </a:ext>
              </a:extLst>
            </p:cNvPr>
            <p:cNvSpPr/>
            <p:nvPr/>
          </p:nvSpPr>
          <p:spPr>
            <a:xfrm>
              <a:off x="9959245" y="2564172"/>
              <a:ext cx="1476260" cy="6720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Identify variants</a:t>
              </a:r>
            </a:p>
          </p:txBody>
        </p:sp>
        <p:sp>
          <p:nvSpPr>
            <p:cNvPr id="15" name="Diamond 14">
              <a:extLst>
                <a:ext uri="{FF2B5EF4-FFF2-40B4-BE49-F238E27FC236}">
                  <a16:creationId xmlns:a16="http://schemas.microsoft.com/office/drawing/2014/main" id="{CB3D911F-A738-B222-194B-4AEE82746408}"/>
                </a:ext>
              </a:extLst>
            </p:cNvPr>
            <p:cNvSpPr/>
            <p:nvPr/>
          </p:nvSpPr>
          <p:spPr>
            <a:xfrm>
              <a:off x="7687018" y="2393414"/>
              <a:ext cx="1749846" cy="1035586"/>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Is impact ok?</a:t>
              </a:r>
            </a:p>
          </p:txBody>
        </p:sp>
        <p:sp>
          <p:nvSpPr>
            <p:cNvPr id="16" name="Oval 15">
              <a:extLst>
                <a:ext uri="{FF2B5EF4-FFF2-40B4-BE49-F238E27FC236}">
                  <a16:creationId xmlns:a16="http://schemas.microsoft.com/office/drawing/2014/main" id="{CB351777-2AEB-952C-6C06-057AECDBED33}"/>
                </a:ext>
              </a:extLst>
            </p:cNvPr>
            <p:cNvSpPr/>
            <p:nvPr/>
          </p:nvSpPr>
          <p:spPr>
            <a:xfrm>
              <a:off x="435167" y="2776251"/>
              <a:ext cx="242371" cy="242371"/>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58873644-BD50-5459-692F-73702D174128}"/>
                </a:ext>
              </a:extLst>
            </p:cNvPr>
            <p:cNvCxnSpPr>
              <a:stCxn id="16" idx="6"/>
              <a:endCxn id="11" idx="1"/>
            </p:cNvCxnSpPr>
            <p:nvPr/>
          </p:nvCxnSpPr>
          <p:spPr>
            <a:xfrm>
              <a:off x="677538" y="2897437"/>
              <a:ext cx="594911" cy="275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175B662-4744-FDA1-B4E6-A0409691FCFD}"/>
                </a:ext>
              </a:extLst>
            </p:cNvPr>
            <p:cNvCxnSpPr>
              <a:cxnSpLocks/>
              <a:stCxn id="11" idx="3"/>
              <a:endCxn id="12" idx="1"/>
            </p:cNvCxnSpPr>
            <p:nvPr/>
          </p:nvCxnSpPr>
          <p:spPr>
            <a:xfrm>
              <a:off x="2748709" y="2900188"/>
              <a:ext cx="594911" cy="1101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Elbow Connector 18">
              <a:extLst>
                <a:ext uri="{FF2B5EF4-FFF2-40B4-BE49-F238E27FC236}">
                  <a16:creationId xmlns:a16="http://schemas.microsoft.com/office/drawing/2014/main" id="{C19D86DE-5E98-29F9-02D2-A7ADC2B4AFEA}"/>
                </a:ext>
              </a:extLst>
            </p:cNvPr>
            <p:cNvCxnSpPr>
              <a:stCxn id="12" idx="0"/>
              <a:endCxn id="11" idx="0"/>
            </p:cNvCxnSpPr>
            <p:nvPr/>
          </p:nvCxnSpPr>
          <p:spPr>
            <a:xfrm rot="16200000" flipH="1" flipV="1">
              <a:off x="3029181" y="1374811"/>
              <a:ext cx="170759" cy="2207964"/>
            </a:xfrm>
            <a:prstGeom prst="bentConnector3">
              <a:avLst>
                <a:gd name="adj1" fmla="val -13387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3FE3A66-4591-F46D-9394-8F567515F2F8}"/>
                </a:ext>
              </a:extLst>
            </p:cNvPr>
            <p:cNvCxnSpPr>
              <a:cxnSpLocks/>
              <a:stCxn id="12" idx="3"/>
              <a:endCxn id="13" idx="1"/>
            </p:cNvCxnSpPr>
            <p:nvPr/>
          </p:nvCxnSpPr>
          <p:spPr>
            <a:xfrm>
              <a:off x="5093466" y="2911207"/>
              <a:ext cx="59491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C438A783-929D-9434-68FC-8CFC3B9FF0C5}"/>
                </a:ext>
              </a:extLst>
            </p:cNvPr>
            <p:cNvCxnSpPr>
              <a:cxnSpLocks/>
              <a:stCxn id="13" idx="3"/>
              <a:endCxn id="15" idx="1"/>
            </p:cNvCxnSpPr>
            <p:nvPr/>
          </p:nvCxnSpPr>
          <p:spPr>
            <a:xfrm>
              <a:off x="7164637" y="2911207"/>
              <a:ext cx="52238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27CD7C5-6777-BB3C-7379-0FD83DDF179D}"/>
                </a:ext>
              </a:extLst>
            </p:cNvPr>
            <p:cNvCxnSpPr>
              <a:cxnSpLocks/>
              <a:stCxn id="15" idx="3"/>
              <a:endCxn id="14" idx="1"/>
            </p:cNvCxnSpPr>
            <p:nvPr/>
          </p:nvCxnSpPr>
          <p:spPr>
            <a:xfrm flipV="1">
              <a:off x="9436864" y="2900187"/>
              <a:ext cx="522381" cy="110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Elbow Connector 22">
              <a:extLst>
                <a:ext uri="{FF2B5EF4-FFF2-40B4-BE49-F238E27FC236}">
                  <a16:creationId xmlns:a16="http://schemas.microsoft.com/office/drawing/2014/main" id="{378DFAF1-4DB7-4401-39C6-BAD28E970B13}"/>
                </a:ext>
              </a:extLst>
            </p:cNvPr>
            <p:cNvCxnSpPr>
              <a:cxnSpLocks/>
              <a:stCxn id="14" idx="0"/>
              <a:endCxn id="13" idx="0"/>
            </p:cNvCxnSpPr>
            <p:nvPr/>
          </p:nvCxnSpPr>
          <p:spPr>
            <a:xfrm rot="16200000" flipH="1" flipV="1">
              <a:off x="8556431" y="434248"/>
              <a:ext cx="11020" cy="4270868"/>
            </a:xfrm>
            <a:prstGeom prst="bentConnector3">
              <a:avLst>
                <a:gd name="adj1" fmla="val -3274065"/>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4A038DF-F006-1376-6BA0-BC0E52CB0D8C}"/>
                </a:ext>
              </a:extLst>
            </p:cNvPr>
            <p:cNvCxnSpPr>
              <a:cxnSpLocks/>
              <a:stCxn id="15" idx="2"/>
            </p:cNvCxnSpPr>
            <p:nvPr/>
          </p:nvCxnSpPr>
          <p:spPr>
            <a:xfrm>
              <a:off x="8561941" y="3429000"/>
              <a:ext cx="0" cy="52605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994CDFF7-3CCB-358F-900E-3C4948587E52}"/>
                </a:ext>
              </a:extLst>
            </p:cNvPr>
            <p:cNvSpPr/>
            <p:nvPr/>
          </p:nvSpPr>
          <p:spPr>
            <a:xfrm>
              <a:off x="8440755" y="3955055"/>
              <a:ext cx="242371" cy="24237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7F6F822-B6AA-7208-B6AF-B8B99A9E117D}"/>
                </a:ext>
              </a:extLst>
            </p:cNvPr>
            <p:cNvSpPr/>
            <p:nvPr/>
          </p:nvSpPr>
          <p:spPr>
            <a:xfrm>
              <a:off x="8516955" y="4031255"/>
              <a:ext cx="89971" cy="89971"/>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13F3186-2778-1885-0B21-A885F91EE1E7}"/>
                </a:ext>
              </a:extLst>
            </p:cNvPr>
            <p:cNvSpPr txBox="1"/>
            <p:nvPr/>
          </p:nvSpPr>
          <p:spPr>
            <a:xfrm>
              <a:off x="2947011" y="1833904"/>
              <a:ext cx="383438" cy="307777"/>
            </a:xfrm>
            <a:prstGeom prst="rect">
              <a:avLst/>
            </a:prstGeom>
            <a:noFill/>
          </p:spPr>
          <p:txBody>
            <a:bodyPr wrap="none" rtlCol="0">
              <a:spAutoFit/>
            </a:bodyPr>
            <a:lstStyle/>
            <a:p>
              <a:r>
                <a:rPr lang="en-US" sz="1400" dirty="0"/>
                <a:t>no</a:t>
              </a:r>
            </a:p>
          </p:txBody>
        </p:sp>
        <p:sp>
          <p:nvSpPr>
            <p:cNvPr id="28" name="TextBox 27">
              <a:extLst>
                <a:ext uri="{FF2B5EF4-FFF2-40B4-BE49-F238E27FC236}">
                  <a16:creationId xmlns:a16="http://schemas.microsoft.com/office/drawing/2014/main" id="{11FADF25-9095-B0BB-A63F-612BC601BFE0}"/>
                </a:ext>
              </a:extLst>
            </p:cNvPr>
            <p:cNvSpPr txBox="1"/>
            <p:nvPr/>
          </p:nvSpPr>
          <p:spPr>
            <a:xfrm>
              <a:off x="5159564" y="2581219"/>
              <a:ext cx="445828" cy="307777"/>
            </a:xfrm>
            <a:prstGeom prst="rect">
              <a:avLst/>
            </a:prstGeom>
            <a:noFill/>
          </p:spPr>
          <p:txBody>
            <a:bodyPr wrap="none" rtlCol="0">
              <a:spAutoFit/>
            </a:bodyPr>
            <a:lstStyle/>
            <a:p>
              <a:r>
                <a:rPr lang="en-US" sz="1400" dirty="0"/>
                <a:t>yes</a:t>
              </a:r>
            </a:p>
          </p:txBody>
        </p:sp>
        <p:sp>
          <p:nvSpPr>
            <p:cNvPr id="29" name="TextBox 28">
              <a:extLst>
                <a:ext uri="{FF2B5EF4-FFF2-40B4-BE49-F238E27FC236}">
                  <a16:creationId xmlns:a16="http://schemas.microsoft.com/office/drawing/2014/main" id="{71C09924-BF0D-6837-1D3E-9FA7E78EB85F}"/>
                </a:ext>
              </a:extLst>
            </p:cNvPr>
            <p:cNvSpPr txBox="1"/>
            <p:nvPr/>
          </p:nvSpPr>
          <p:spPr>
            <a:xfrm>
              <a:off x="8606011" y="3537848"/>
              <a:ext cx="445828" cy="307777"/>
            </a:xfrm>
            <a:prstGeom prst="rect">
              <a:avLst/>
            </a:prstGeom>
            <a:noFill/>
          </p:spPr>
          <p:txBody>
            <a:bodyPr wrap="none" rtlCol="0">
              <a:spAutoFit/>
            </a:bodyPr>
            <a:lstStyle/>
            <a:p>
              <a:r>
                <a:rPr lang="en-US" sz="1400" dirty="0"/>
                <a:t>yes</a:t>
              </a:r>
            </a:p>
          </p:txBody>
        </p:sp>
        <p:sp>
          <p:nvSpPr>
            <p:cNvPr id="30" name="TextBox 29">
              <a:extLst>
                <a:ext uri="{FF2B5EF4-FFF2-40B4-BE49-F238E27FC236}">
                  <a16:creationId xmlns:a16="http://schemas.microsoft.com/office/drawing/2014/main" id="{8123FA94-99F2-4256-7BD8-3EB2FEACDEAD}"/>
                </a:ext>
              </a:extLst>
            </p:cNvPr>
            <p:cNvSpPr txBox="1"/>
            <p:nvPr/>
          </p:nvSpPr>
          <p:spPr>
            <a:xfrm>
              <a:off x="9451087" y="2622362"/>
              <a:ext cx="383438" cy="307777"/>
            </a:xfrm>
            <a:prstGeom prst="rect">
              <a:avLst/>
            </a:prstGeom>
            <a:noFill/>
          </p:spPr>
          <p:txBody>
            <a:bodyPr wrap="none" rtlCol="0">
              <a:spAutoFit/>
            </a:bodyPr>
            <a:lstStyle/>
            <a:p>
              <a:r>
                <a:rPr lang="en-US" sz="1400" dirty="0"/>
                <a:t>no</a:t>
              </a:r>
            </a:p>
          </p:txBody>
        </p:sp>
      </p:grpSp>
    </p:spTree>
    <p:extLst>
      <p:ext uri="{BB962C8B-B14F-4D97-AF65-F5344CB8AC3E}">
        <p14:creationId xmlns:p14="http://schemas.microsoft.com/office/powerpoint/2010/main" val="2594083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24879-7A27-7C73-A285-B1FEA295333E}"/>
              </a:ext>
            </a:extLst>
          </p:cNvPr>
          <p:cNvSpPr>
            <a:spLocks noGrp="1"/>
          </p:cNvSpPr>
          <p:nvPr>
            <p:ph type="title"/>
          </p:nvPr>
        </p:nvSpPr>
        <p:spPr/>
        <p:txBody>
          <a:bodyPr/>
          <a:lstStyle/>
          <a:p>
            <a:r>
              <a:rPr lang="en-GB" dirty="0"/>
              <a:t>Example: Surveillance System</a:t>
            </a:r>
            <a:endParaRPr lang="en-US" dirty="0"/>
          </a:p>
        </p:txBody>
      </p:sp>
      <p:sp>
        <p:nvSpPr>
          <p:cNvPr id="3" name="Content Placeholder 2">
            <a:extLst>
              <a:ext uri="{FF2B5EF4-FFF2-40B4-BE49-F238E27FC236}">
                <a16:creationId xmlns:a16="http://schemas.microsoft.com/office/drawing/2014/main" id="{D6E7C1E6-CA98-E4C9-4B11-DB658DC7908A}"/>
              </a:ext>
            </a:extLst>
          </p:cNvPr>
          <p:cNvSpPr>
            <a:spLocks noGrp="1"/>
          </p:cNvSpPr>
          <p:nvPr>
            <p:ph idx="1"/>
          </p:nvPr>
        </p:nvSpPr>
        <p:spPr/>
        <p:txBody>
          <a:bodyPr/>
          <a:lstStyle/>
          <a:p>
            <a:r>
              <a:rPr lang="en-US" dirty="0"/>
              <a:t>We want to develop a software system that allows a surveillance company to visualize in its control room the surroundings of some public building and to receive alerts when someone enters the building in period when it is closed. Also assume that cameras and movement sensors have already been installed and can be controlled remotely via software.</a:t>
            </a:r>
          </a:p>
        </p:txBody>
      </p:sp>
      <p:sp>
        <p:nvSpPr>
          <p:cNvPr id="4" name="Date Placeholder 3">
            <a:extLst>
              <a:ext uri="{FF2B5EF4-FFF2-40B4-BE49-F238E27FC236}">
                <a16:creationId xmlns:a16="http://schemas.microsoft.com/office/drawing/2014/main" id="{DF4E7539-19DC-561B-7CBE-226C34E583A5}"/>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0CF42715-168F-4998-45AF-1C5AB87F5CAF}"/>
              </a:ext>
            </a:extLst>
          </p:cNvPr>
          <p:cNvSpPr>
            <a:spLocks noGrp="1"/>
          </p:cNvSpPr>
          <p:nvPr>
            <p:ph type="sldNum" sz="quarter" idx="12"/>
          </p:nvPr>
        </p:nvSpPr>
        <p:spPr/>
        <p:txBody>
          <a:bodyPr/>
          <a:lstStyle/>
          <a:p>
            <a:fld id="{D204BADD-F420-F54C-BEF5-604E8EEED029}" type="slidenum">
              <a:rPr lang="en-US" smtClean="0"/>
              <a:t>7</a:t>
            </a:fld>
            <a:endParaRPr lang="en-US"/>
          </a:p>
        </p:txBody>
      </p:sp>
    </p:spTree>
    <p:extLst>
      <p:ext uri="{BB962C8B-B14F-4D97-AF65-F5344CB8AC3E}">
        <p14:creationId xmlns:p14="http://schemas.microsoft.com/office/powerpoint/2010/main" val="4268023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itle 62">
            <a:extLst>
              <a:ext uri="{FF2B5EF4-FFF2-40B4-BE49-F238E27FC236}">
                <a16:creationId xmlns:a16="http://schemas.microsoft.com/office/drawing/2014/main" id="{8992F5CA-745C-E226-DE43-30B1D8696B15}"/>
              </a:ext>
            </a:extLst>
          </p:cNvPr>
          <p:cNvSpPr>
            <a:spLocks noGrp="1"/>
          </p:cNvSpPr>
          <p:nvPr>
            <p:ph type="title"/>
          </p:nvPr>
        </p:nvSpPr>
        <p:spPr/>
        <p:txBody>
          <a:bodyPr/>
          <a:lstStyle/>
          <a:p>
            <a:r>
              <a:rPr lang="en-GB" dirty="0"/>
              <a:t>Example: Surveillance System</a:t>
            </a:r>
            <a:endParaRPr lang="en-US" dirty="0"/>
          </a:p>
        </p:txBody>
      </p:sp>
      <p:pic>
        <p:nvPicPr>
          <p:cNvPr id="7" name="Content Placeholder 6">
            <a:extLst>
              <a:ext uri="{FF2B5EF4-FFF2-40B4-BE49-F238E27FC236}">
                <a16:creationId xmlns:a16="http://schemas.microsoft.com/office/drawing/2014/main" id="{A3D8F34C-FF80-AFDF-1B2E-7FF08851A84B}"/>
              </a:ext>
            </a:extLst>
          </p:cNvPr>
          <p:cNvPicPr>
            <a:picLocks noGrp="1" noChangeAspect="1"/>
          </p:cNvPicPr>
          <p:nvPr>
            <p:ph sz="half" idx="1"/>
          </p:nvPr>
        </p:nvPicPr>
        <p:blipFill>
          <a:blip r:embed="rId2"/>
          <a:stretch>
            <a:fillRect/>
          </a:stretch>
        </p:blipFill>
        <p:spPr>
          <a:xfrm>
            <a:off x="875833" y="1825625"/>
            <a:ext cx="5181600" cy="2119745"/>
          </a:xfrm>
          <a:ln>
            <a:solidFill>
              <a:schemeClr val="accent1"/>
            </a:solidFill>
          </a:ln>
        </p:spPr>
      </p:pic>
      <p:sp>
        <p:nvSpPr>
          <p:cNvPr id="64" name="Content Placeholder 63">
            <a:extLst>
              <a:ext uri="{FF2B5EF4-FFF2-40B4-BE49-F238E27FC236}">
                <a16:creationId xmlns:a16="http://schemas.microsoft.com/office/drawing/2014/main" id="{B8D406E5-24F0-D3DA-3D5C-3519950379D7}"/>
              </a:ext>
            </a:extLst>
          </p:cNvPr>
          <p:cNvSpPr>
            <a:spLocks noGrp="1"/>
          </p:cNvSpPr>
          <p:nvPr>
            <p:ph sz="half" idx="2"/>
          </p:nvPr>
        </p:nvSpPr>
        <p:spPr>
          <a:xfrm>
            <a:off x="6172200" y="4851399"/>
            <a:ext cx="5181600" cy="1325564"/>
          </a:xfrm>
        </p:spPr>
        <p:txBody>
          <a:bodyPr/>
          <a:lstStyle/>
          <a:p>
            <a:r>
              <a:rPr lang="en-GB" b="1" dirty="0"/>
              <a:t>Trade-offs:</a:t>
            </a:r>
            <a:endParaRPr lang="en-GB" dirty="0"/>
          </a:p>
          <a:p>
            <a:pPr lvl="1"/>
            <a:r>
              <a:rPr lang="en-GB" dirty="0"/>
              <a:t>Latency vs. Flexibility</a:t>
            </a:r>
          </a:p>
          <a:p>
            <a:pPr lvl="1"/>
            <a:r>
              <a:rPr lang="en-GB" dirty="0"/>
              <a:t>Future extensibility vs. simplicity</a:t>
            </a:r>
          </a:p>
          <a:p>
            <a:endParaRPr lang="en-US" dirty="0"/>
          </a:p>
        </p:txBody>
      </p:sp>
      <p:sp>
        <p:nvSpPr>
          <p:cNvPr id="4" name="Date Placeholder 3">
            <a:extLst>
              <a:ext uri="{FF2B5EF4-FFF2-40B4-BE49-F238E27FC236}">
                <a16:creationId xmlns:a16="http://schemas.microsoft.com/office/drawing/2014/main" id="{0FD1FBC2-5905-DEAA-2E3B-41AC823A6536}"/>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9E2556D8-AC19-119A-38E9-19DA14C3CE5B}"/>
              </a:ext>
            </a:extLst>
          </p:cNvPr>
          <p:cNvSpPr>
            <a:spLocks noGrp="1"/>
          </p:cNvSpPr>
          <p:nvPr>
            <p:ph type="sldNum" sz="quarter" idx="12"/>
          </p:nvPr>
        </p:nvSpPr>
        <p:spPr/>
        <p:txBody>
          <a:bodyPr/>
          <a:lstStyle/>
          <a:p>
            <a:fld id="{D204BADD-F420-F54C-BEF5-604E8EEED029}" type="slidenum">
              <a:rPr lang="en-US" smtClean="0"/>
              <a:t>8</a:t>
            </a:fld>
            <a:endParaRPr lang="en-US"/>
          </a:p>
        </p:txBody>
      </p:sp>
      <p:pic>
        <p:nvPicPr>
          <p:cNvPr id="61" name="Picture 60">
            <a:extLst>
              <a:ext uri="{FF2B5EF4-FFF2-40B4-BE49-F238E27FC236}">
                <a16:creationId xmlns:a16="http://schemas.microsoft.com/office/drawing/2014/main" id="{E670DB41-0B2A-032D-F259-80939B899AB9}"/>
              </a:ext>
            </a:extLst>
          </p:cNvPr>
          <p:cNvPicPr>
            <a:picLocks noChangeAspect="1"/>
          </p:cNvPicPr>
          <p:nvPr/>
        </p:nvPicPr>
        <p:blipFill>
          <a:blip r:embed="rId3"/>
          <a:stretch>
            <a:fillRect/>
          </a:stretch>
        </p:blipFill>
        <p:spPr>
          <a:xfrm>
            <a:off x="875833" y="4057218"/>
            <a:ext cx="5184690" cy="2119745"/>
          </a:xfrm>
          <a:prstGeom prst="rect">
            <a:avLst/>
          </a:prstGeom>
          <a:ln>
            <a:solidFill>
              <a:schemeClr val="accent1"/>
            </a:solidFill>
          </a:ln>
        </p:spPr>
      </p:pic>
      <p:sp>
        <p:nvSpPr>
          <p:cNvPr id="65" name="Content Placeholder 63">
            <a:extLst>
              <a:ext uri="{FF2B5EF4-FFF2-40B4-BE49-F238E27FC236}">
                <a16:creationId xmlns:a16="http://schemas.microsoft.com/office/drawing/2014/main" id="{AA603EC0-D6A8-2A32-42A9-039844C35776}"/>
              </a:ext>
            </a:extLst>
          </p:cNvPr>
          <p:cNvSpPr txBox="1">
            <a:spLocks/>
          </p:cNvSpPr>
          <p:nvPr/>
        </p:nvSpPr>
        <p:spPr>
          <a:xfrm>
            <a:off x="6172200" y="1825625"/>
            <a:ext cx="5181600" cy="1325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Variant A</a:t>
            </a:r>
          </a:p>
        </p:txBody>
      </p:sp>
      <p:sp>
        <p:nvSpPr>
          <p:cNvPr id="66" name="Content Placeholder 63">
            <a:extLst>
              <a:ext uri="{FF2B5EF4-FFF2-40B4-BE49-F238E27FC236}">
                <a16:creationId xmlns:a16="http://schemas.microsoft.com/office/drawing/2014/main" id="{8B217339-73D1-7BF3-90BA-422D569BECA4}"/>
              </a:ext>
            </a:extLst>
          </p:cNvPr>
          <p:cNvSpPr txBox="1">
            <a:spLocks/>
          </p:cNvSpPr>
          <p:nvPr/>
        </p:nvSpPr>
        <p:spPr>
          <a:xfrm>
            <a:off x="6172200" y="4009230"/>
            <a:ext cx="5181600" cy="6627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Variant B</a:t>
            </a:r>
          </a:p>
        </p:txBody>
      </p:sp>
    </p:spTree>
    <p:extLst>
      <p:ext uri="{BB962C8B-B14F-4D97-AF65-F5344CB8AC3E}">
        <p14:creationId xmlns:p14="http://schemas.microsoft.com/office/powerpoint/2010/main" val="1513216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5A1192-C250-62E9-38FD-5A322A643C7F}"/>
              </a:ext>
            </a:extLst>
          </p:cNvPr>
          <p:cNvSpPr>
            <a:spLocks noGrp="1"/>
          </p:cNvSpPr>
          <p:nvPr>
            <p:ph type="title"/>
          </p:nvPr>
        </p:nvSpPr>
        <p:spPr/>
        <p:txBody>
          <a:bodyPr/>
          <a:lstStyle/>
          <a:p>
            <a:r>
              <a:rPr lang="en-GB" dirty="0"/>
              <a:t>Architecture as Multiple Structures</a:t>
            </a:r>
            <a:endParaRPr lang="en-US" dirty="0"/>
          </a:p>
        </p:txBody>
      </p:sp>
      <p:sp>
        <p:nvSpPr>
          <p:cNvPr id="8" name="Content Placeholder 7">
            <a:extLst>
              <a:ext uri="{FF2B5EF4-FFF2-40B4-BE49-F238E27FC236}">
                <a16:creationId xmlns:a16="http://schemas.microsoft.com/office/drawing/2014/main" id="{381BF862-D32A-B13C-CE4E-0D49D18D51D7}"/>
              </a:ext>
            </a:extLst>
          </p:cNvPr>
          <p:cNvSpPr>
            <a:spLocks noGrp="1"/>
          </p:cNvSpPr>
          <p:nvPr>
            <p:ph idx="1"/>
          </p:nvPr>
        </p:nvSpPr>
        <p:spPr/>
        <p:txBody>
          <a:bodyPr>
            <a:normAutofit/>
          </a:bodyPr>
          <a:lstStyle/>
          <a:p>
            <a:r>
              <a:rPr lang="en-GB" dirty="0"/>
              <a:t>In complex systems multiple structures coexist – Example: design of a building includes</a:t>
            </a:r>
          </a:p>
          <a:p>
            <a:pPr lvl="1"/>
            <a:r>
              <a:rPr lang="en-GB" dirty="0"/>
              <a:t>The organization of structural elements (e.g., columns, beams)</a:t>
            </a:r>
          </a:p>
          <a:p>
            <a:pPr lvl="1"/>
            <a:r>
              <a:rPr lang="en-GB" dirty="0"/>
              <a:t>The electrical system</a:t>
            </a:r>
          </a:p>
          <a:p>
            <a:pPr lvl="1"/>
            <a:r>
              <a:rPr lang="en-GB" dirty="0"/>
              <a:t>The heating structure</a:t>
            </a:r>
          </a:p>
          <a:p>
            <a:pPr lvl="1"/>
            <a:r>
              <a:rPr lang="en-GB" dirty="0"/>
              <a:t>The water system</a:t>
            </a:r>
          </a:p>
          <a:p>
            <a:r>
              <a:rPr lang="en-GB" dirty="0"/>
              <a:t>Software architecture = </a:t>
            </a:r>
            <a:r>
              <a:rPr lang="en-GB" b="1" dirty="0"/>
              <a:t>Set of structures/views</a:t>
            </a:r>
            <a:endParaRPr lang="en-GB" dirty="0"/>
          </a:p>
          <a:p>
            <a:pPr lvl="1"/>
            <a:r>
              <a:rPr lang="en-GB" dirty="0"/>
              <a:t>Component &amp; Connector (runtime organization)</a:t>
            </a:r>
          </a:p>
          <a:p>
            <a:pPr lvl="1"/>
            <a:r>
              <a:rPr lang="en-GB" dirty="0"/>
              <a:t>Module (implementation structure)</a:t>
            </a:r>
          </a:p>
          <a:p>
            <a:pPr lvl="1"/>
            <a:r>
              <a:rPr lang="en-GB" dirty="0"/>
              <a:t>Deployment (execution environment)</a:t>
            </a:r>
          </a:p>
        </p:txBody>
      </p:sp>
      <p:sp>
        <p:nvSpPr>
          <p:cNvPr id="5" name="Date Placeholder 4">
            <a:extLst>
              <a:ext uri="{FF2B5EF4-FFF2-40B4-BE49-F238E27FC236}">
                <a16:creationId xmlns:a16="http://schemas.microsoft.com/office/drawing/2014/main" id="{096A7615-BA71-0EE6-DD78-4C0B81B70B64}"/>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6" name="Slide Number Placeholder 5">
            <a:extLst>
              <a:ext uri="{FF2B5EF4-FFF2-40B4-BE49-F238E27FC236}">
                <a16:creationId xmlns:a16="http://schemas.microsoft.com/office/drawing/2014/main" id="{7013229F-1A4E-95AB-4791-E38298F1645D}"/>
              </a:ext>
            </a:extLst>
          </p:cNvPr>
          <p:cNvSpPr>
            <a:spLocks noGrp="1"/>
          </p:cNvSpPr>
          <p:nvPr>
            <p:ph type="sldNum" sz="quarter" idx="12"/>
          </p:nvPr>
        </p:nvSpPr>
        <p:spPr/>
        <p:txBody>
          <a:bodyPr/>
          <a:lstStyle/>
          <a:p>
            <a:fld id="{D204BADD-F420-F54C-BEF5-604E8EEED029}" type="slidenum">
              <a:rPr lang="en-US" smtClean="0"/>
              <a:t>9</a:t>
            </a:fld>
            <a:endParaRPr lang="en-US"/>
          </a:p>
        </p:txBody>
      </p:sp>
    </p:spTree>
    <p:extLst>
      <p:ext uri="{BB962C8B-B14F-4D97-AF65-F5344CB8AC3E}">
        <p14:creationId xmlns:p14="http://schemas.microsoft.com/office/powerpoint/2010/main" val="582114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F82CC-6523-5A8D-93D2-F770F3DED6A3}"/>
              </a:ext>
            </a:extLst>
          </p:cNvPr>
          <p:cNvSpPr>
            <a:spLocks noGrp="1"/>
          </p:cNvSpPr>
          <p:nvPr>
            <p:ph type="title"/>
          </p:nvPr>
        </p:nvSpPr>
        <p:spPr/>
        <p:txBody>
          <a:bodyPr/>
          <a:lstStyle/>
          <a:p>
            <a:r>
              <a:rPr lang="en-IT"/>
              <a:t>Component-and-connector </a:t>
            </a:r>
            <a:r>
              <a:rPr lang="en-US" dirty="0"/>
              <a:t>(C&amp;C) </a:t>
            </a:r>
            <a:r>
              <a:rPr lang="en-IT"/>
              <a:t>structures</a:t>
            </a:r>
            <a:endParaRPr lang="en-US" dirty="0"/>
          </a:p>
        </p:txBody>
      </p:sp>
      <p:sp>
        <p:nvSpPr>
          <p:cNvPr id="3" name="Content Placeholder 2">
            <a:extLst>
              <a:ext uri="{FF2B5EF4-FFF2-40B4-BE49-F238E27FC236}">
                <a16:creationId xmlns:a16="http://schemas.microsoft.com/office/drawing/2014/main" id="{27CA4131-CCC0-9A24-2F16-4A8FEDFE79AF}"/>
              </a:ext>
            </a:extLst>
          </p:cNvPr>
          <p:cNvSpPr>
            <a:spLocks noGrp="1"/>
          </p:cNvSpPr>
          <p:nvPr>
            <p:ph idx="1"/>
          </p:nvPr>
        </p:nvSpPr>
        <p:spPr/>
        <p:txBody>
          <a:bodyPr/>
          <a:lstStyle/>
          <a:p>
            <a:r>
              <a:rPr lang="en-GB" dirty="0"/>
              <a:t>Describe how the system is structured as a </a:t>
            </a:r>
            <a:r>
              <a:rPr lang="en-GB" dirty="0">
                <a:solidFill>
                  <a:srgbClr val="FF0000"/>
                </a:solidFill>
              </a:rPr>
              <a:t>set of elements </a:t>
            </a:r>
            <a:r>
              <a:rPr lang="en-GB" dirty="0"/>
              <a:t>that have </a:t>
            </a:r>
            <a:r>
              <a:rPr lang="en-GB" dirty="0">
                <a:solidFill>
                  <a:srgbClr val="FF0000"/>
                </a:solidFill>
              </a:rPr>
              <a:t>runtime </a:t>
            </a:r>
            <a:r>
              <a:rPr lang="en-GB" dirty="0" err="1">
                <a:solidFill>
                  <a:srgbClr val="FF0000"/>
                </a:solidFill>
              </a:rPr>
              <a:t>behavior</a:t>
            </a:r>
            <a:r>
              <a:rPr lang="en-GB" dirty="0">
                <a:solidFill>
                  <a:srgbClr val="FF0000"/>
                </a:solidFill>
              </a:rPr>
              <a:t> </a:t>
            </a:r>
            <a:r>
              <a:rPr lang="en-GB" dirty="0"/>
              <a:t>(components) and </a:t>
            </a:r>
            <a:r>
              <a:rPr lang="en-GB" dirty="0">
                <a:solidFill>
                  <a:srgbClr val="FF0000"/>
                </a:solidFill>
              </a:rPr>
              <a:t>interactions</a:t>
            </a:r>
            <a:r>
              <a:rPr lang="en-GB" dirty="0"/>
              <a:t> (connectors).</a:t>
            </a:r>
          </a:p>
          <a:p>
            <a:r>
              <a:rPr lang="en-GB" b="1" dirty="0"/>
              <a:t>Components</a:t>
            </a:r>
            <a:endParaRPr lang="en-GB" dirty="0"/>
          </a:p>
          <a:p>
            <a:pPr lvl="1"/>
            <a:r>
              <a:rPr lang="en-GB" dirty="0"/>
              <a:t>Principal units of computation</a:t>
            </a:r>
          </a:p>
          <a:p>
            <a:pPr lvl="1"/>
            <a:r>
              <a:rPr lang="en-GB" dirty="0"/>
              <a:t>Examples: clients, servers, services, … </a:t>
            </a:r>
          </a:p>
          <a:p>
            <a:r>
              <a:rPr lang="en-GB" b="1" dirty="0"/>
              <a:t>Connectors</a:t>
            </a:r>
          </a:p>
          <a:p>
            <a:pPr lvl="1"/>
            <a:r>
              <a:rPr lang="en-GB" dirty="0"/>
              <a:t>Communication means</a:t>
            </a:r>
          </a:p>
          <a:p>
            <a:pPr lvl="1"/>
            <a:r>
              <a:rPr lang="en-GB" dirty="0"/>
              <a:t>Examples: request-response mechanisms, pipes, asynchronous messages, shared memory …</a:t>
            </a:r>
            <a:endParaRPr lang="en-IT"/>
          </a:p>
        </p:txBody>
      </p:sp>
      <p:sp>
        <p:nvSpPr>
          <p:cNvPr id="4" name="Date Placeholder 3">
            <a:extLst>
              <a:ext uri="{FF2B5EF4-FFF2-40B4-BE49-F238E27FC236}">
                <a16:creationId xmlns:a16="http://schemas.microsoft.com/office/drawing/2014/main" id="{BF34FBDC-CC22-AC64-42F0-636634062773}"/>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4FB271CD-C5F1-3D93-D2AF-794B25A5F24A}"/>
              </a:ext>
            </a:extLst>
          </p:cNvPr>
          <p:cNvSpPr>
            <a:spLocks noGrp="1"/>
          </p:cNvSpPr>
          <p:nvPr>
            <p:ph type="sldNum" sz="quarter" idx="12"/>
          </p:nvPr>
        </p:nvSpPr>
        <p:spPr/>
        <p:txBody>
          <a:bodyPr/>
          <a:lstStyle/>
          <a:p>
            <a:fld id="{D204BADD-F420-F54C-BEF5-604E8EEED029}" type="slidenum">
              <a:rPr lang="en-US" smtClean="0"/>
              <a:t>10</a:t>
            </a:fld>
            <a:endParaRPr lang="en-US"/>
          </a:p>
        </p:txBody>
      </p:sp>
    </p:spTree>
    <p:extLst>
      <p:ext uri="{BB962C8B-B14F-4D97-AF65-F5344CB8AC3E}">
        <p14:creationId xmlns:p14="http://schemas.microsoft.com/office/powerpoint/2010/main" val="2523448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D996A-8220-D041-D2D9-2BD53493F7D1}"/>
              </a:ext>
            </a:extLst>
          </p:cNvPr>
          <p:cNvSpPr>
            <a:spLocks noGrp="1"/>
          </p:cNvSpPr>
          <p:nvPr>
            <p:ph type="title"/>
          </p:nvPr>
        </p:nvSpPr>
        <p:spPr/>
        <p:txBody>
          <a:bodyPr/>
          <a:lstStyle/>
          <a:p>
            <a:r>
              <a:rPr lang="en-US" dirty="0"/>
              <a:t>Description of C&amp;C structures – Informal notation</a:t>
            </a:r>
          </a:p>
        </p:txBody>
      </p:sp>
      <p:sp>
        <p:nvSpPr>
          <p:cNvPr id="3" name="Content Placeholder 2">
            <a:extLst>
              <a:ext uri="{FF2B5EF4-FFF2-40B4-BE49-F238E27FC236}">
                <a16:creationId xmlns:a16="http://schemas.microsoft.com/office/drawing/2014/main" id="{56F11172-8D6E-77E9-48E1-BA5EFB1CEAF2}"/>
              </a:ext>
            </a:extLst>
          </p:cNvPr>
          <p:cNvSpPr>
            <a:spLocks noGrp="1"/>
          </p:cNvSpPr>
          <p:nvPr>
            <p:ph idx="1"/>
          </p:nvPr>
        </p:nvSpPr>
        <p:spPr>
          <a:xfrm>
            <a:off x="838200" y="1825625"/>
            <a:ext cx="4934639" cy="4351338"/>
          </a:xfrm>
        </p:spPr>
        <p:txBody>
          <a:bodyPr>
            <a:normAutofit/>
          </a:bodyPr>
          <a:lstStyle/>
          <a:p>
            <a:r>
              <a:rPr lang="en-US" sz="2000" dirty="0"/>
              <a:t>From the Chromium documentation</a:t>
            </a:r>
            <a:br>
              <a:rPr lang="en-US" sz="2000" dirty="0"/>
            </a:br>
            <a:r>
              <a:rPr lang="en-US" sz="2000" dirty="0">
                <a:hlinkClick r:id="rId2"/>
              </a:rPr>
              <a:t>https://www.chromium.org/developers/design-documents/multi-process-architecture</a:t>
            </a:r>
            <a:r>
              <a:rPr lang="en-US" sz="2000" dirty="0"/>
              <a:t> </a:t>
            </a:r>
            <a:endParaRPr lang="en-IT" sz="2000"/>
          </a:p>
          <a:p>
            <a:endParaRPr lang="en-US" sz="2000" dirty="0"/>
          </a:p>
        </p:txBody>
      </p:sp>
      <p:sp>
        <p:nvSpPr>
          <p:cNvPr id="4" name="Date Placeholder 3">
            <a:extLst>
              <a:ext uri="{FF2B5EF4-FFF2-40B4-BE49-F238E27FC236}">
                <a16:creationId xmlns:a16="http://schemas.microsoft.com/office/drawing/2014/main" id="{1D3DBCE6-EFF8-4CD4-CF11-9492BDEAF3C1}"/>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F25B9CBB-04E4-810B-CFF1-276F3D42CF65}"/>
              </a:ext>
            </a:extLst>
          </p:cNvPr>
          <p:cNvSpPr>
            <a:spLocks noGrp="1"/>
          </p:cNvSpPr>
          <p:nvPr>
            <p:ph type="sldNum" sz="quarter" idx="12"/>
          </p:nvPr>
        </p:nvSpPr>
        <p:spPr/>
        <p:txBody>
          <a:bodyPr/>
          <a:lstStyle/>
          <a:p>
            <a:fld id="{D204BADD-F420-F54C-BEF5-604E8EEED029}" type="slidenum">
              <a:rPr lang="en-US" smtClean="0"/>
              <a:t>11</a:t>
            </a:fld>
            <a:endParaRPr lang="en-US"/>
          </a:p>
        </p:txBody>
      </p:sp>
      <p:pic>
        <p:nvPicPr>
          <p:cNvPr id="7" name="Picture 6">
            <a:extLst>
              <a:ext uri="{FF2B5EF4-FFF2-40B4-BE49-F238E27FC236}">
                <a16:creationId xmlns:a16="http://schemas.microsoft.com/office/drawing/2014/main" id="{3439BD14-86EA-E0BA-E999-7360828E6577}"/>
              </a:ext>
            </a:extLst>
          </p:cNvPr>
          <p:cNvPicPr>
            <a:picLocks noChangeAspect="1"/>
          </p:cNvPicPr>
          <p:nvPr/>
        </p:nvPicPr>
        <p:blipFill>
          <a:blip r:embed="rId3"/>
          <a:stretch>
            <a:fillRect/>
          </a:stretch>
        </p:blipFill>
        <p:spPr>
          <a:xfrm>
            <a:off x="6105824" y="1490726"/>
            <a:ext cx="5247976" cy="4865624"/>
          </a:xfrm>
          <a:prstGeom prst="rect">
            <a:avLst/>
          </a:prstGeom>
        </p:spPr>
      </p:pic>
    </p:spTree>
    <p:extLst>
      <p:ext uri="{BB962C8B-B14F-4D97-AF65-F5344CB8AC3E}">
        <p14:creationId xmlns:p14="http://schemas.microsoft.com/office/powerpoint/2010/main" val="2906262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76489-0B8D-5E07-D00A-A49F967312CD}"/>
              </a:ext>
            </a:extLst>
          </p:cNvPr>
          <p:cNvSpPr>
            <a:spLocks noGrp="1"/>
          </p:cNvSpPr>
          <p:nvPr>
            <p:ph type="title"/>
          </p:nvPr>
        </p:nvSpPr>
        <p:spPr/>
        <p:txBody>
          <a:bodyPr/>
          <a:lstStyle/>
          <a:p>
            <a:r>
              <a:rPr lang="en-US" dirty="0"/>
              <a:t>Description of C&amp;C structures – UML component diagram</a:t>
            </a:r>
          </a:p>
        </p:txBody>
      </p:sp>
      <p:sp>
        <p:nvSpPr>
          <p:cNvPr id="3" name="Content Placeholder 2">
            <a:extLst>
              <a:ext uri="{FF2B5EF4-FFF2-40B4-BE49-F238E27FC236}">
                <a16:creationId xmlns:a16="http://schemas.microsoft.com/office/drawing/2014/main" id="{C55743ED-22ED-63CA-7D73-D40561060BC1}"/>
              </a:ext>
            </a:extLst>
          </p:cNvPr>
          <p:cNvSpPr>
            <a:spLocks noGrp="1"/>
          </p:cNvSpPr>
          <p:nvPr>
            <p:ph idx="1"/>
          </p:nvPr>
        </p:nvSpPr>
        <p:spPr>
          <a:xfrm>
            <a:off x="838200" y="1825625"/>
            <a:ext cx="10515600" cy="554018"/>
          </a:xfrm>
        </p:spPr>
        <p:txBody>
          <a:bodyPr/>
          <a:lstStyle/>
          <a:p>
            <a:r>
              <a:rPr lang="en-US" dirty="0"/>
              <a:t>Ticket selling system example</a:t>
            </a:r>
          </a:p>
        </p:txBody>
      </p:sp>
      <p:sp>
        <p:nvSpPr>
          <p:cNvPr id="4" name="Date Placeholder 3">
            <a:extLst>
              <a:ext uri="{FF2B5EF4-FFF2-40B4-BE49-F238E27FC236}">
                <a16:creationId xmlns:a16="http://schemas.microsoft.com/office/drawing/2014/main" id="{5F086C84-8ACD-3A55-478A-118F82FE85C9}"/>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4DEA0A9E-40FB-D562-DEE9-C2A387A952B1}"/>
              </a:ext>
            </a:extLst>
          </p:cNvPr>
          <p:cNvSpPr>
            <a:spLocks noGrp="1"/>
          </p:cNvSpPr>
          <p:nvPr>
            <p:ph type="sldNum" sz="quarter" idx="12"/>
          </p:nvPr>
        </p:nvSpPr>
        <p:spPr/>
        <p:txBody>
          <a:bodyPr/>
          <a:lstStyle/>
          <a:p>
            <a:fld id="{D204BADD-F420-F54C-BEF5-604E8EEED029}" type="slidenum">
              <a:rPr lang="en-US" smtClean="0"/>
              <a:t>12</a:t>
            </a:fld>
            <a:endParaRPr lang="en-US"/>
          </a:p>
        </p:txBody>
      </p:sp>
      <p:pic>
        <p:nvPicPr>
          <p:cNvPr id="9" name="Picture 8">
            <a:extLst>
              <a:ext uri="{FF2B5EF4-FFF2-40B4-BE49-F238E27FC236}">
                <a16:creationId xmlns:a16="http://schemas.microsoft.com/office/drawing/2014/main" id="{987D98D4-74C4-EC65-D380-B948AAAF6059}"/>
              </a:ext>
            </a:extLst>
          </p:cNvPr>
          <p:cNvPicPr>
            <a:picLocks noChangeAspect="1"/>
          </p:cNvPicPr>
          <p:nvPr/>
        </p:nvPicPr>
        <p:blipFill>
          <a:blip r:embed="rId2"/>
          <a:stretch>
            <a:fillRect/>
          </a:stretch>
        </p:blipFill>
        <p:spPr>
          <a:xfrm>
            <a:off x="1352201" y="2563922"/>
            <a:ext cx="9271383" cy="2098715"/>
          </a:xfrm>
          <a:prstGeom prst="rect">
            <a:avLst/>
          </a:prstGeom>
        </p:spPr>
      </p:pic>
    </p:spTree>
    <p:extLst>
      <p:ext uri="{BB962C8B-B14F-4D97-AF65-F5344CB8AC3E}">
        <p14:creationId xmlns:p14="http://schemas.microsoft.com/office/powerpoint/2010/main" val="2982629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AA5C9-9A82-3675-B604-208F670F1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F2847-65FF-7F16-B51C-02A351839772}"/>
              </a:ext>
            </a:extLst>
          </p:cNvPr>
          <p:cNvSpPr>
            <a:spLocks noGrp="1"/>
          </p:cNvSpPr>
          <p:nvPr>
            <p:ph type="title"/>
          </p:nvPr>
        </p:nvSpPr>
        <p:spPr/>
        <p:txBody>
          <a:bodyPr/>
          <a:lstStyle/>
          <a:p>
            <a:r>
              <a:rPr lang="en-US" dirty="0"/>
              <a:t>Description of C&amp;C structures – UML sequence diagram (variant 1)</a:t>
            </a:r>
          </a:p>
        </p:txBody>
      </p:sp>
      <p:sp>
        <p:nvSpPr>
          <p:cNvPr id="4" name="Date Placeholder 3">
            <a:extLst>
              <a:ext uri="{FF2B5EF4-FFF2-40B4-BE49-F238E27FC236}">
                <a16:creationId xmlns:a16="http://schemas.microsoft.com/office/drawing/2014/main" id="{9B5436A7-9D29-3C7E-6337-80393D296F81}"/>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E590D466-2613-3AA3-EFCE-07F2027CE0C8}"/>
              </a:ext>
            </a:extLst>
          </p:cNvPr>
          <p:cNvSpPr>
            <a:spLocks noGrp="1"/>
          </p:cNvSpPr>
          <p:nvPr>
            <p:ph type="sldNum" sz="quarter" idx="12"/>
          </p:nvPr>
        </p:nvSpPr>
        <p:spPr/>
        <p:txBody>
          <a:bodyPr/>
          <a:lstStyle/>
          <a:p>
            <a:fld id="{D204BADD-F420-F54C-BEF5-604E8EEED029}" type="slidenum">
              <a:rPr lang="en-US" smtClean="0"/>
              <a:t>13</a:t>
            </a:fld>
            <a:endParaRPr lang="en-US"/>
          </a:p>
        </p:txBody>
      </p:sp>
      <p:pic>
        <p:nvPicPr>
          <p:cNvPr id="7" name="Picture 6">
            <a:extLst>
              <a:ext uri="{FF2B5EF4-FFF2-40B4-BE49-F238E27FC236}">
                <a16:creationId xmlns:a16="http://schemas.microsoft.com/office/drawing/2014/main" id="{2C74F5D8-9C82-D06D-C683-665A90651072}"/>
              </a:ext>
            </a:extLst>
          </p:cNvPr>
          <p:cNvPicPr>
            <a:picLocks noChangeAspect="1"/>
          </p:cNvPicPr>
          <p:nvPr/>
        </p:nvPicPr>
        <p:blipFill>
          <a:blip r:embed="rId2"/>
          <a:stretch>
            <a:fillRect/>
          </a:stretch>
        </p:blipFill>
        <p:spPr>
          <a:xfrm>
            <a:off x="2209800" y="1825625"/>
            <a:ext cx="7772400" cy="4450497"/>
          </a:xfrm>
          <a:prstGeom prst="rect">
            <a:avLst/>
          </a:prstGeom>
        </p:spPr>
      </p:pic>
    </p:spTree>
    <p:extLst>
      <p:ext uri="{BB962C8B-B14F-4D97-AF65-F5344CB8AC3E}">
        <p14:creationId xmlns:p14="http://schemas.microsoft.com/office/powerpoint/2010/main" val="1345065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5BAAB-CB87-1485-501E-F524F54DD9A1}"/>
              </a:ext>
            </a:extLst>
          </p:cNvPr>
          <p:cNvSpPr>
            <a:spLocks noGrp="1"/>
          </p:cNvSpPr>
          <p:nvPr>
            <p:ph type="title"/>
          </p:nvPr>
        </p:nvSpPr>
        <p:spPr/>
        <p:txBody>
          <a:bodyPr/>
          <a:lstStyle/>
          <a:p>
            <a:r>
              <a:rPr lang="en-US" dirty="0"/>
              <a:t>Description of C&amp;C structures – UML sequence diagram (variant 2)</a:t>
            </a:r>
          </a:p>
        </p:txBody>
      </p:sp>
      <p:pic>
        <p:nvPicPr>
          <p:cNvPr id="7" name="Content Placeholder 6">
            <a:extLst>
              <a:ext uri="{FF2B5EF4-FFF2-40B4-BE49-F238E27FC236}">
                <a16:creationId xmlns:a16="http://schemas.microsoft.com/office/drawing/2014/main" id="{C9D27564-7506-E5FF-5EBC-FAA7C5805744}"/>
              </a:ext>
            </a:extLst>
          </p:cNvPr>
          <p:cNvPicPr>
            <a:picLocks noGrp="1" noChangeAspect="1"/>
          </p:cNvPicPr>
          <p:nvPr>
            <p:ph idx="1"/>
          </p:nvPr>
        </p:nvPicPr>
        <p:blipFill>
          <a:blip r:embed="rId2"/>
          <a:stretch>
            <a:fillRect/>
          </a:stretch>
        </p:blipFill>
        <p:spPr>
          <a:xfrm>
            <a:off x="3383666" y="1825625"/>
            <a:ext cx="5424668" cy="4351338"/>
          </a:xfrm>
        </p:spPr>
      </p:pic>
      <p:sp>
        <p:nvSpPr>
          <p:cNvPr id="4" name="Date Placeholder 3">
            <a:extLst>
              <a:ext uri="{FF2B5EF4-FFF2-40B4-BE49-F238E27FC236}">
                <a16:creationId xmlns:a16="http://schemas.microsoft.com/office/drawing/2014/main" id="{755C34B9-F8F3-14BF-A58B-CA029AE78392}"/>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5480EE8F-DD90-9025-8B72-62BAD9D70932}"/>
              </a:ext>
            </a:extLst>
          </p:cNvPr>
          <p:cNvSpPr>
            <a:spLocks noGrp="1"/>
          </p:cNvSpPr>
          <p:nvPr>
            <p:ph type="sldNum" sz="quarter" idx="12"/>
          </p:nvPr>
        </p:nvSpPr>
        <p:spPr/>
        <p:txBody>
          <a:bodyPr/>
          <a:lstStyle/>
          <a:p>
            <a:fld id="{D204BADD-F420-F54C-BEF5-604E8EEED029}" type="slidenum">
              <a:rPr lang="en-US" smtClean="0"/>
              <a:t>14</a:t>
            </a:fld>
            <a:endParaRPr lang="en-US"/>
          </a:p>
        </p:txBody>
      </p:sp>
    </p:spTree>
    <p:extLst>
      <p:ext uri="{BB962C8B-B14F-4D97-AF65-F5344CB8AC3E}">
        <p14:creationId xmlns:p14="http://schemas.microsoft.com/office/powerpoint/2010/main" val="3998396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93560-0943-20EF-48E6-0EBF8AB0C98B}"/>
              </a:ext>
            </a:extLst>
          </p:cNvPr>
          <p:cNvSpPr>
            <a:spLocks noGrp="1"/>
          </p:cNvSpPr>
          <p:nvPr>
            <p:ph type="title"/>
          </p:nvPr>
        </p:nvSpPr>
        <p:spPr/>
        <p:txBody>
          <a:bodyPr/>
          <a:lstStyle/>
          <a:p>
            <a:r>
              <a:rPr lang="en-US" dirty="0"/>
              <a:t>Purpose of C&amp;C</a:t>
            </a:r>
            <a:r>
              <a:rPr lang="en-IT"/>
              <a:t> structures</a:t>
            </a:r>
            <a:endParaRPr lang="en-US" dirty="0"/>
          </a:p>
        </p:txBody>
      </p:sp>
      <p:sp>
        <p:nvSpPr>
          <p:cNvPr id="3" name="Content Placeholder 2">
            <a:extLst>
              <a:ext uri="{FF2B5EF4-FFF2-40B4-BE49-F238E27FC236}">
                <a16:creationId xmlns:a16="http://schemas.microsoft.com/office/drawing/2014/main" id="{B12AF788-2779-3197-C46E-9A8255032DDA}"/>
              </a:ext>
            </a:extLst>
          </p:cNvPr>
          <p:cNvSpPr>
            <a:spLocks noGrp="1"/>
          </p:cNvSpPr>
          <p:nvPr>
            <p:ph idx="1"/>
          </p:nvPr>
        </p:nvSpPr>
        <p:spPr/>
        <p:txBody>
          <a:bodyPr/>
          <a:lstStyle/>
          <a:p>
            <a:r>
              <a:rPr lang="en-IT"/>
              <a:t>Essential for understanding how the software will behave at runtime</a:t>
            </a:r>
            <a:endParaRPr lang="en-US" dirty="0"/>
          </a:p>
          <a:p>
            <a:r>
              <a:rPr lang="en-GB" dirty="0"/>
              <a:t>It helps make decisions on component-specific responsibilities and data flow</a:t>
            </a:r>
          </a:p>
          <a:p>
            <a:pPr lvl="1"/>
            <a:r>
              <a:rPr lang="en-GB" dirty="0"/>
              <a:t>E.g., reflect on the pros and cons of the two variants in the previous slides</a:t>
            </a:r>
          </a:p>
          <a:p>
            <a:r>
              <a:rPr lang="en-IT"/>
              <a:t>Also, allow us to study runtime properties such as availability and performance</a:t>
            </a:r>
          </a:p>
          <a:p>
            <a:pPr lvl="1"/>
            <a:r>
              <a:rPr lang="en-US" dirty="0"/>
              <a:t>E.g., </a:t>
            </a:r>
            <a:r>
              <a:rPr lang="en-US" dirty="0" err="1"/>
              <a:t>TicketSeller</a:t>
            </a:r>
            <a:r>
              <a:rPr lang="en-US" dirty="0"/>
              <a:t> is a bottleneck in our system. Could we replicate it? What are the implications of replication? </a:t>
            </a:r>
            <a:endParaRPr lang="en-IT"/>
          </a:p>
        </p:txBody>
      </p:sp>
      <p:sp>
        <p:nvSpPr>
          <p:cNvPr id="4" name="Date Placeholder 3">
            <a:extLst>
              <a:ext uri="{FF2B5EF4-FFF2-40B4-BE49-F238E27FC236}">
                <a16:creationId xmlns:a16="http://schemas.microsoft.com/office/drawing/2014/main" id="{6E9BEE99-B207-3B07-1AB5-29882C10432E}"/>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BAC63491-9767-FE41-672A-9F5107721BDD}"/>
              </a:ext>
            </a:extLst>
          </p:cNvPr>
          <p:cNvSpPr>
            <a:spLocks noGrp="1"/>
          </p:cNvSpPr>
          <p:nvPr>
            <p:ph type="sldNum" sz="quarter" idx="12"/>
          </p:nvPr>
        </p:nvSpPr>
        <p:spPr/>
        <p:txBody>
          <a:bodyPr/>
          <a:lstStyle/>
          <a:p>
            <a:fld id="{D204BADD-F420-F54C-BEF5-604E8EEED029}" type="slidenum">
              <a:rPr lang="en-US" smtClean="0"/>
              <a:t>15</a:t>
            </a:fld>
            <a:endParaRPr lang="en-US"/>
          </a:p>
        </p:txBody>
      </p:sp>
    </p:spTree>
    <p:extLst>
      <p:ext uri="{BB962C8B-B14F-4D97-AF65-F5344CB8AC3E}">
        <p14:creationId xmlns:p14="http://schemas.microsoft.com/office/powerpoint/2010/main" val="18685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48DF1-4181-43F2-515D-D6836BD4432C}"/>
              </a:ext>
            </a:extLst>
          </p:cNvPr>
          <p:cNvSpPr>
            <a:spLocks noGrp="1"/>
          </p:cNvSpPr>
          <p:nvPr>
            <p:ph type="title"/>
          </p:nvPr>
        </p:nvSpPr>
        <p:spPr/>
        <p:txBody>
          <a:bodyPr/>
          <a:lstStyle/>
          <a:p>
            <a:r>
              <a:rPr lang="en-US" dirty="0"/>
              <a:t>Module structures</a:t>
            </a:r>
          </a:p>
        </p:txBody>
      </p:sp>
      <p:sp>
        <p:nvSpPr>
          <p:cNvPr id="3" name="Content Placeholder 2">
            <a:extLst>
              <a:ext uri="{FF2B5EF4-FFF2-40B4-BE49-F238E27FC236}">
                <a16:creationId xmlns:a16="http://schemas.microsoft.com/office/drawing/2014/main" id="{BD9986DF-7E49-0DCA-B690-F069C591272F}"/>
              </a:ext>
            </a:extLst>
          </p:cNvPr>
          <p:cNvSpPr>
            <a:spLocks noGrp="1"/>
          </p:cNvSpPr>
          <p:nvPr>
            <p:ph idx="1"/>
          </p:nvPr>
        </p:nvSpPr>
        <p:spPr/>
        <p:txBody>
          <a:bodyPr/>
          <a:lstStyle/>
          <a:p>
            <a:r>
              <a:rPr lang="en-GB" dirty="0"/>
              <a:t>Show how a system is structured as </a:t>
            </a:r>
            <a:r>
              <a:rPr lang="en-GB" dirty="0">
                <a:solidFill>
                  <a:srgbClr val="FF0000"/>
                </a:solidFill>
              </a:rPr>
              <a:t>a set of code or data units </a:t>
            </a:r>
            <a:r>
              <a:rPr lang="en-GB" dirty="0"/>
              <a:t>that have to be procured or constructed, </a:t>
            </a:r>
            <a:r>
              <a:rPr lang="en-GB" dirty="0">
                <a:solidFill>
                  <a:srgbClr val="FF0000"/>
                </a:solidFill>
              </a:rPr>
              <a:t>together with their relations</a:t>
            </a:r>
            <a:endParaRPr lang="en-GB" dirty="0"/>
          </a:p>
          <a:p>
            <a:r>
              <a:rPr lang="en-GB" dirty="0"/>
              <a:t>Examples of modules: packages, classes, functions, libraries, layers, database tables… </a:t>
            </a:r>
          </a:p>
          <a:p>
            <a:r>
              <a:rPr lang="en-GB" dirty="0"/>
              <a:t>Modules constitute </a:t>
            </a:r>
            <a:r>
              <a:rPr lang="en-GB" dirty="0">
                <a:solidFill>
                  <a:srgbClr val="FF0000"/>
                </a:solidFill>
              </a:rPr>
              <a:t>implementation units</a:t>
            </a:r>
            <a:r>
              <a:rPr lang="en-GB" dirty="0"/>
              <a:t> that can be used as the basis for work splitting (identifying functional areas of responsibility)</a:t>
            </a:r>
          </a:p>
          <a:p>
            <a:r>
              <a:rPr lang="en-GB" dirty="0"/>
              <a:t>Typical relations among modules:</a:t>
            </a:r>
          </a:p>
          <a:p>
            <a:pPr lvl="1"/>
            <a:r>
              <a:rPr lang="en-GB" dirty="0"/>
              <a:t>uses, is-a (generalization), is-part-of</a:t>
            </a:r>
            <a:endParaRPr lang="en-US" dirty="0"/>
          </a:p>
        </p:txBody>
      </p:sp>
      <p:sp>
        <p:nvSpPr>
          <p:cNvPr id="4" name="Date Placeholder 3">
            <a:extLst>
              <a:ext uri="{FF2B5EF4-FFF2-40B4-BE49-F238E27FC236}">
                <a16:creationId xmlns:a16="http://schemas.microsoft.com/office/drawing/2014/main" id="{670665BD-B7DD-1AE0-9585-F835B52A8593}"/>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D886E075-2B2F-DAA2-F46E-A88BAD47B1E5}"/>
              </a:ext>
            </a:extLst>
          </p:cNvPr>
          <p:cNvSpPr>
            <a:spLocks noGrp="1"/>
          </p:cNvSpPr>
          <p:nvPr>
            <p:ph type="sldNum" sz="quarter" idx="12"/>
          </p:nvPr>
        </p:nvSpPr>
        <p:spPr/>
        <p:txBody>
          <a:bodyPr/>
          <a:lstStyle/>
          <a:p>
            <a:fld id="{D204BADD-F420-F54C-BEF5-604E8EEED029}" type="slidenum">
              <a:rPr lang="en-US" smtClean="0"/>
              <a:t>16</a:t>
            </a:fld>
            <a:endParaRPr lang="en-US"/>
          </a:p>
        </p:txBody>
      </p:sp>
    </p:spTree>
    <p:extLst>
      <p:ext uri="{BB962C8B-B14F-4D97-AF65-F5344CB8AC3E}">
        <p14:creationId xmlns:p14="http://schemas.microsoft.com/office/powerpoint/2010/main" val="2630938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E9C19-DB32-D7E7-5913-159F49ABA308}"/>
              </a:ext>
            </a:extLst>
          </p:cNvPr>
          <p:cNvSpPr>
            <a:spLocks noGrp="1"/>
          </p:cNvSpPr>
          <p:nvPr>
            <p:ph type="title"/>
          </p:nvPr>
        </p:nvSpPr>
        <p:spPr/>
        <p:txBody>
          <a:bodyPr/>
          <a:lstStyle/>
          <a:p>
            <a:r>
              <a:rPr lang="en-US" dirty="0"/>
              <a:t>Description of module structures</a:t>
            </a:r>
          </a:p>
        </p:txBody>
      </p:sp>
      <p:sp>
        <p:nvSpPr>
          <p:cNvPr id="3" name="Content Placeholder 2">
            <a:extLst>
              <a:ext uri="{FF2B5EF4-FFF2-40B4-BE49-F238E27FC236}">
                <a16:creationId xmlns:a16="http://schemas.microsoft.com/office/drawing/2014/main" id="{FBF776C7-7D9E-75CE-3961-3C29C8BAEED3}"/>
              </a:ext>
            </a:extLst>
          </p:cNvPr>
          <p:cNvSpPr>
            <a:spLocks noGrp="1"/>
          </p:cNvSpPr>
          <p:nvPr>
            <p:ph idx="1"/>
          </p:nvPr>
        </p:nvSpPr>
        <p:spPr>
          <a:xfrm>
            <a:off x="838200" y="1825625"/>
            <a:ext cx="10515600" cy="609103"/>
          </a:xfrm>
        </p:spPr>
        <p:txBody>
          <a:bodyPr>
            <a:normAutofit fontScale="92500"/>
          </a:bodyPr>
          <a:lstStyle/>
          <a:p>
            <a:r>
              <a:rPr lang="en-US" dirty="0"/>
              <a:t>Example of package diagram describing the internals of </a:t>
            </a:r>
            <a:r>
              <a:rPr lang="en-US" dirty="0" err="1"/>
              <a:t>TicketSelling</a:t>
            </a:r>
            <a:endParaRPr lang="en-US" dirty="0"/>
          </a:p>
        </p:txBody>
      </p:sp>
      <p:sp>
        <p:nvSpPr>
          <p:cNvPr id="4" name="Date Placeholder 3">
            <a:extLst>
              <a:ext uri="{FF2B5EF4-FFF2-40B4-BE49-F238E27FC236}">
                <a16:creationId xmlns:a16="http://schemas.microsoft.com/office/drawing/2014/main" id="{08A24FF2-4C7B-CD13-A8BA-29595FB3BA08}"/>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6257F752-79BB-9DBE-A181-A33F9C16F34B}"/>
              </a:ext>
            </a:extLst>
          </p:cNvPr>
          <p:cNvSpPr>
            <a:spLocks noGrp="1"/>
          </p:cNvSpPr>
          <p:nvPr>
            <p:ph type="sldNum" sz="quarter" idx="12"/>
          </p:nvPr>
        </p:nvSpPr>
        <p:spPr/>
        <p:txBody>
          <a:bodyPr/>
          <a:lstStyle/>
          <a:p>
            <a:fld id="{D204BADD-F420-F54C-BEF5-604E8EEED029}" type="slidenum">
              <a:rPr lang="en-US" smtClean="0"/>
              <a:t>17</a:t>
            </a:fld>
            <a:endParaRPr lang="en-US"/>
          </a:p>
        </p:txBody>
      </p:sp>
      <p:pic>
        <p:nvPicPr>
          <p:cNvPr id="7" name="Picture 6" descr="A diagram of a service&#10;&#10;AI-generated content may be incorrect.">
            <a:extLst>
              <a:ext uri="{FF2B5EF4-FFF2-40B4-BE49-F238E27FC236}">
                <a16:creationId xmlns:a16="http://schemas.microsoft.com/office/drawing/2014/main" id="{B3AD3E9D-6948-FE3F-8AD0-18D50439001B}"/>
              </a:ext>
            </a:extLst>
          </p:cNvPr>
          <p:cNvPicPr>
            <a:picLocks noChangeAspect="1"/>
          </p:cNvPicPr>
          <p:nvPr/>
        </p:nvPicPr>
        <p:blipFill>
          <a:blip r:embed="rId2"/>
          <a:stretch>
            <a:fillRect/>
          </a:stretch>
        </p:blipFill>
        <p:spPr>
          <a:xfrm>
            <a:off x="1455577" y="2628900"/>
            <a:ext cx="8227041" cy="3270054"/>
          </a:xfrm>
          <a:prstGeom prst="rect">
            <a:avLst/>
          </a:prstGeom>
        </p:spPr>
      </p:pic>
    </p:spTree>
    <p:extLst>
      <p:ext uri="{BB962C8B-B14F-4D97-AF65-F5344CB8AC3E}">
        <p14:creationId xmlns:p14="http://schemas.microsoft.com/office/powerpoint/2010/main" val="2289894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549E4-A034-8C5F-9641-5275C1D8AD46}"/>
              </a:ext>
            </a:extLst>
          </p:cNvPr>
          <p:cNvSpPr>
            <a:spLocks noGrp="1"/>
          </p:cNvSpPr>
          <p:nvPr>
            <p:ph type="title"/>
          </p:nvPr>
        </p:nvSpPr>
        <p:spPr/>
        <p:txBody>
          <a:bodyPr/>
          <a:lstStyle/>
          <a:p>
            <a:r>
              <a:rPr lang="en-US" dirty="0"/>
              <a:t>Description of module structures</a:t>
            </a:r>
          </a:p>
        </p:txBody>
      </p:sp>
      <p:sp>
        <p:nvSpPr>
          <p:cNvPr id="3" name="Content Placeholder 2">
            <a:extLst>
              <a:ext uri="{FF2B5EF4-FFF2-40B4-BE49-F238E27FC236}">
                <a16:creationId xmlns:a16="http://schemas.microsoft.com/office/drawing/2014/main" id="{998F8171-E1BC-3C5C-9465-72A6D0964F4E}"/>
              </a:ext>
            </a:extLst>
          </p:cNvPr>
          <p:cNvSpPr>
            <a:spLocks noGrp="1"/>
          </p:cNvSpPr>
          <p:nvPr>
            <p:ph idx="1"/>
          </p:nvPr>
        </p:nvSpPr>
        <p:spPr>
          <a:xfrm>
            <a:off x="838200" y="1825625"/>
            <a:ext cx="10515600" cy="609103"/>
          </a:xfrm>
        </p:spPr>
        <p:txBody>
          <a:bodyPr>
            <a:normAutofit/>
          </a:bodyPr>
          <a:lstStyle/>
          <a:p>
            <a:r>
              <a:rPr lang="en-US" dirty="0"/>
              <a:t>Classes in the </a:t>
            </a:r>
            <a:r>
              <a:rPr lang="en-US" dirty="0" err="1"/>
              <a:t>TicketSelling</a:t>
            </a:r>
            <a:r>
              <a:rPr lang="en-US" dirty="0"/>
              <a:t> Model package (class diagram) </a:t>
            </a:r>
          </a:p>
        </p:txBody>
      </p:sp>
      <p:sp>
        <p:nvSpPr>
          <p:cNvPr id="4" name="Date Placeholder 3">
            <a:extLst>
              <a:ext uri="{FF2B5EF4-FFF2-40B4-BE49-F238E27FC236}">
                <a16:creationId xmlns:a16="http://schemas.microsoft.com/office/drawing/2014/main" id="{4917FA75-634E-443A-B5F1-F901380A4309}"/>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24C938D2-FAED-AB95-6164-EBEAFC4FA95B}"/>
              </a:ext>
            </a:extLst>
          </p:cNvPr>
          <p:cNvSpPr>
            <a:spLocks noGrp="1"/>
          </p:cNvSpPr>
          <p:nvPr>
            <p:ph type="sldNum" sz="quarter" idx="12"/>
          </p:nvPr>
        </p:nvSpPr>
        <p:spPr/>
        <p:txBody>
          <a:bodyPr/>
          <a:lstStyle/>
          <a:p>
            <a:fld id="{D204BADD-F420-F54C-BEF5-604E8EEED029}" type="slidenum">
              <a:rPr lang="en-US" smtClean="0"/>
              <a:t>18</a:t>
            </a:fld>
            <a:endParaRPr lang="en-US"/>
          </a:p>
        </p:txBody>
      </p:sp>
      <p:pic>
        <p:nvPicPr>
          <p:cNvPr id="7" name="Picture 6">
            <a:extLst>
              <a:ext uri="{FF2B5EF4-FFF2-40B4-BE49-F238E27FC236}">
                <a16:creationId xmlns:a16="http://schemas.microsoft.com/office/drawing/2014/main" id="{38D479F8-E6DC-9692-08AD-B4F7CB98336E}"/>
              </a:ext>
            </a:extLst>
          </p:cNvPr>
          <p:cNvPicPr>
            <a:picLocks noChangeAspect="1"/>
          </p:cNvPicPr>
          <p:nvPr/>
        </p:nvPicPr>
        <p:blipFill>
          <a:blip r:embed="rId2"/>
          <a:stretch>
            <a:fillRect/>
          </a:stretch>
        </p:blipFill>
        <p:spPr>
          <a:xfrm>
            <a:off x="1899557" y="2463756"/>
            <a:ext cx="7772400" cy="3442372"/>
          </a:xfrm>
          <a:prstGeom prst="rect">
            <a:avLst/>
          </a:prstGeom>
        </p:spPr>
      </p:pic>
    </p:spTree>
    <p:extLst>
      <p:ext uri="{BB962C8B-B14F-4D97-AF65-F5344CB8AC3E}">
        <p14:creationId xmlns:p14="http://schemas.microsoft.com/office/powerpoint/2010/main" val="976357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4F14F-85BD-844D-324A-652F0D1A0332}"/>
              </a:ext>
            </a:extLst>
          </p:cNvPr>
          <p:cNvSpPr>
            <a:spLocks noGrp="1"/>
          </p:cNvSpPr>
          <p:nvPr>
            <p:ph type="title"/>
          </p:nvPr>
        </p:nvSpPr>
        <p:spPr/>
        <p:txBody>
          <a:bodyPr/>
          <a:lstStyle/>
          <a:p>
            <a:r>
              <a:rPr lang="en-US" dirty="0"/>
              <a:t>Purpose of module structures</a:t>
            </a:r>
          </a:p>
        </p:txBody>
      </p:sp>
      <p:sp>
        <p:nvSpPr>
          <p:cNvPr id="3" name="Content Placeholder 2">
            <a:extLst>
              <a:ext uri="{FF2B5EF4-FFF2-40B4-BE49-F238E27FC236}">
                <a16:creationId xmlns:a16="http://schemas.microsoft.com/office/drawing/2014/main" id="{D3106399-511C-2E90-2F15-51E973B2752B}"/>
              </a:ext>
            </a:extLst>
          </p:cNvPr>
          <p:cNvSpPr>
            <a:spLocks noGrp="1"/>
          </p:cNvSpPr>
          <p:nvPr>
            <p:ph idx="1"/>
          </p:nvPr>
        </p:nvSpPr>
        <p:spPr/>
        <p:txBody>
          <a:bodyPr/>
          <a:lstStyle/>
          <a:p>
            <a:r>
              <a:rPr lang="en-GB" dirty="0"/>
              <a:t>Supports planning the </a:t>
            </a:r>
            <a:r>
              <a:rPr lang="en-GB" b="1" dirty="0"/>
              <a:t>implementation phase</a:t>
            </a:r>
            <a:r>
              <a:rPr lang="en-GB" dirty="0"/>
              <a:t> and distributing work among team members</a:t>
            </a:r>
          </a:p>
          <a:p>
            <a:r>
              <a:rPr lang="en-GB" dirty="0"/>
              <a:t>Crucial for reasoning on </a:t>
            </a:r>
            <a:r>
              <a:rPr lang="en-GB" b="1" dirty="0"/>
              <a:t>maintainability</a:t>
            </a:r>
            <a:r>
              <a:rPr lang="en-GB" dirty="0"/>
              <a:t>: dependencies help assess the impact of required changes</a:t>
            </a:r>
            <a:endParaRPr lang="en-US" dirty="0"/>
          </a:p>
        </p:txBody>
      </p:sp>
      <p:sp>
        <p:nvSpPr>
          <p:cNvPr id="4" name="Date Placeholder 3">
            <a:extLst>
              <a:ext uri="{FF2B5EF4-FFF2-40B4-BE49-F238E27FC236}">
                <a16:creationId xmlns:a16="http://schemas.microsoft.com/office/drawing/2014/main" id="{2A8F9382-3C5F-E182-A5C4-51F6A5E8B76D}"/>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36C8374F-8F19-A598-0D9C-7C50C818D6F4}"/>
              </a:ext>
            </a:extLst>
          </p:cNvPr>
          <p:cNvSpPr>
            <a:spLocks noGrp="1"/>
          </p:cNvSpPr>
          <p:nvPr>
            <p:ph type="sldNum" sz="quarter" idx="12"/>
          </p:nvPr>
        </p:nvSpPr>
        <p:spPr/>
        <p:txBody>
          <a:bodyPr/>
          <a:lstStyle/>
          <a:p>
            <a:fld id="{D204BADD-F420-F54C-BEF5-604E8EEED029}" type="slidenum">
              <a:rPr lang="en-US" smtClean="0"/>
              <a:t>19</a:t>
            </a:fld>
            <a:endParaRPr lang="en-US"/>
          </a:p>
        </p:txBody>
      </p:sp>
    </p:spTree>
    <p:extLst>
      <p:ext uri="{BB962C8B-B14F-4D97-AF65-F5344CB8AC3E}">
        <p14:creationId xmlns:p14="http://schemas.microsoft.com/office/powerpoint/2010/main" val="168328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EB694-55F3-D4D4-6FC8-56E695BD5CAC}"/>
              </a:ext>
            </a:extLst>
          </p:cNvPr>
          <p:cNvSpPr>
            <a:spLocks noGrp="1"/>
          </p:cNvSpPr>
          <p:nvPr>
            <p:ph type="title"/>
          </p:nvPr>
        </p:nvSpPr>
        <p:spPr/>
        <p:txBody>
          <a:bodyPr/>
          <a:lstStyle/>
          <a:p>
            <a:r>
              <a:rPr lang="en-US" dirty="0"/>
              <a:t>Deployment structure</a:t>
            </a:r>
          </a:p>
        </p:txBody>
      </p:sp>
      <p:sp>
        <p:nvSpPr>
          <p:cNvPr id="3" name="Content Placeholder 2">
            <a:extLst>
              <a:ext uri="{FF2B5EF4-FFF2-40B4-BE49-F238E27FC236}">
                <a16:creationId xmlns:a16="http://schemas.microsoft.com/office/drawing/2014/main" id="{31C34921-8010-576A-189D-65920419548F}"/>
              </a:ext>
            </a:extLst>
          </p:cNvPr>
          <p:cNvSpPr>
            <a:spLocks noGrp="1"/>
          </p:cNvSpPr>
          <p:nvPr>
            <p:ph idx="1"/>
          </p:nvPr>
        </p:nvSpPr>
        <p:spPr/>
        <p:txBody>
          <a:bodyPr>
            <a:normAutofit/>
          </a:bodyPr>
          <a:lstStyle/>
          <a:p>
            <a:r>
              <a:rPr lang="en-GB" dirty="0"/>
              <a:t>Identifies the </a:t>
            </a:r>
            <a:r>
              <a:rPr lang="en-GB" b="1" dirty="0"/>
              <a:t>topology of the infrastructure</a:t>
            </a:r>
            <a:r>
              <a:rPr lang="en-GB" dirty="0"/>
              <a:t> needed for execution and how architectural elements are mapped onto it</a:t>
            </a:r>
          </a:p>
          <a:p>
            <a:r>
              <a:rPr lang="en-GB" dirty="0"/>
              <a:t>Main elements:</a:t>
            </a:r>
          </a:p>
          <a:p>
            <a:pPr lvl="1"/>
            <a:r>
              <a:rPr lang="en-GB" dirty="0"/>
              <a:t>Devices</a:t>
            </a:r>
          </a:p>
          <a:p>
            <a:pPr lvl="1"/>
            <a:r>
              <a:rPr lang="en-GB" dirty="0"/>
              <a:t>Execution environments (VMs, interpreters, containers)</a:t>
            </a:r>
          </a:p>
          <a:p>
            <a:pPr lvl="1"/>
            <a:r>
              <a:rPr lang="en-GB" dirty="0"/>
              <a:t>Supporting hardware (load balancers, firewalls)</a:t>
            </a:r>
          </a:p>
        </p:txBody>
      </p:sp>
      <p:sp>
        <p:nvSpPr>
          <p:cNvPr id="4" name="Date Placeholder 3">
            <a:extLst>
              <a:ext uri="{FF2B5EF4-FFF2-40B4-BE49-F238E27FC236}">
                <a16:creationId xmlns:a16="http://schemas.microsoft.com/office/drawing/2014/main" id="{65DFD84C-CC31-29BB-A06D-3120AFBADC1E}"/>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1B35F224-BE8F-869D-57C0-60BA855F6D77}"/>
              </a:ext>
            </a:extLst>
          </p:cNvPr>
          <p:cNvSpPr>
            <a:spLocks noGrp="1"/>
          </p:cNvSpPr>
          <p:nvPr>
            <p:ph type="sldNum" sz="quarter" idx="12"/>
          </p:nvPr>
        </p:nvSpPr>
        <p:spPr/>
        <p:txBody>
          <a:bodyPr/>
          <a:lstStyle/>
          <a:p>
            <a:fld id="{D204BADD-F420-F54C-BEF5-604E8EEED029}" type="slidenum">
              <a:rPr lang="en-US" smtClean="0"/>
              <a:t>20</a:t>
            </a:fld>
            <a:endParaRPr lang="en-US"/>
          </a:p>
        </p:txBody>
      </p:sp>
    </p:spTree>
    <p:extLst>
      <p:ext uri="{BB962C8B-B14F-4D97-AF65-F5344CB8AC3E}">
        <p14:creationId xmlns:p14="http://schemas.microsoft.com/office/powerpoint/2010/main" val="2183069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B44B1-A7E6-616A-ED93-E122604C21CE}"/>
              </a:ext>
            </a:extLst>
          </p:cNvPr>
          <p:cNvSpPr>
            <a:spLocks noGrp="1"/>
          </p:cNvSpPr>
          <p:nvPr>
            <p:ph type="title"/>
          </p:nvPr>
        </p:nvSpPr>
        <p:spPr/>
        <p:txBody>
          <a:bodyPr/>
          <a:lstStyle/>
          <a:p>
            <a:r>
              <a:rPr lang="en-US" dirty="0"/>
              <a:t>Description of deployment structure – UML deployment diagram</a:t>
            </a:r>
          </a:p>
        </p:txBody>
      </p:sp>
      <p:pic>
        <p:nvPicPr>
          <p:cNvPr id="9" name="Content Placeholder 8">
            <a:extLst>
              <a:ext uri="{FF2B5EF4-FFF2-40B4-BE49-F238E27FC236}">
                <a16:creationId xmlns:a16="http://schemas.microsoft.com/office/drawing/2014/main" id="{271D2788-29D5-997A-FC33-87802B09B35B}"/>
              </a:ext>
            </a:extLst>
          </p:cNvPr>
          <p:cNvPicPr>
            <a:picLocks noGrp="1" noChangeAspect="1"/>
          </p:cNvPicPr>
          <p:nvPr>
            <p:ph idx="1"/>
          </p:nvPr>
        </p:nvPicPr>
        <p:blipFill>
          <a:blip r:embed="rId2"/>
          <a:stretch>
            <a:fillRect/>
          </a:stretch>
        </p:blipFill>
        <p:spPr>
          <a:xfrm>
            <a:off x="1975236" y="1825625"/>
            <a:ext cx="8241528" cy="4351338"/>
          </a:xfrm>
        </p:spPr>
      </p:pic>
      <p:sp>
        <p:nvSpPr>
          <p:cNvPr id="4" name="Date Placeholder 3">
            <a:extLst>
              <a:ext uri="{FF2B5EF4-FFF2-40B4-BE49-F238E27FC236}">
                <a16:creationId xmlns:a16="http://schemas.microsoft.com/office/drawing/2014/main" id="{C9DB4397-CD91-02BA-0BF3-6351B583B1CB}"/>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18B132D7-A60B-E6CF-3A53-7867C8C41031}"/>
              </a:ext>
            </a:extLst>
          </p:cNvPr>
          <p:cNvSpPr>
            <a:spLocks noGrp="1"/>
          </p:cNvSpPr>
          <p:nvPr>
            <p:ph type="sldNum" sz="quarter" idx="12"/>
          </p:nvPr>
        </p:nvSpPr>
        <p:spPr/>
        <p:txBody>
          <a:bodyPr/>
          <a:lstStyle/>
          <a:p>
            <a:fld id="{D204BADD-F420-F54C-BEF5-604E8EEED029}" type="slidenum">
              <a:rPr lang="en-US" smtClean="0"/>
              <a:t>21</a:t>
            </a:fld>
            <a:endParaRPr lang="en-US"/>
          </a:p>
        </p:txBody>
      </p:sp>
    </p:spTree>
    <p:extLst>
      <p:ext uri="{BB962C8B-B14F-4D97-AF65-F5344CB8AC3E}">
        <p14:creationId xmlns:p14="http://schemas.microsoft.com/office/powerpoint/2010/main" val="2100364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7C1E3-AF2C-2475-9A16-B31FC0B426CA}"/>
              </a:ext>
            </a:extLst>
          </p:cNvPr>
          <p:cNvSpPr>
            <a:spLocks noGrp="1"/>
          </p:cNvSpPr>
          <p:nvPr>
            <p:ph type="title"/>
          </p:nvPr>
        </p:nvSpPr>
        <p:spPr/>
        <p:txBody>
          <a:bodyPr/>
          <a:lstStyle/>
          <a:p>
            <a:r>
              <a:rPr lang="en-US" dirty="0"/>
              <a:t>Purpose of deployment structure</a:t>
            </a:r>
          </a:p>
        </p:txBody>
      </p:sp>
      <p:sp>
        <p:nvSpPr>
          <p:cNvPr id="3" name="Content Placeholder 2">
            <a:extLst>
              <a:ext uri="{FF2B5EF4-FFF2-40B4-BE49-F238E27FC236}">
                <a16:creationId xmlns:a16="http://schemas.microsoft.com/office/drawing/2014/main" id="{8E5F5170-463A-F02F-D94C-37210E331540}"/>
              </a:ext>
            </a:extLst>
          </p:cNvPr>
          <p:cNvSpPr>
            <a:spLocks noGrp="1"/>
          </p:cNvSpPr>
          <p:nvPr>
            <p:ph idx="1"/>
          </p:nvPr>
        </p:nvSpPr>
        <p:spPr/>
        <p:txBody>
          <a:bodyPr/>
          <a:lstStyle/>
          <a:p>
            <a:r>
              <a:rPr lang="en-GB" dirty="0"/>
              <a:t>Provides information to </a:t>
            </a:r>
          </a:p>
          <a:p>
            <a:pPr lvl="1"/>
            <a:r>
              <a:rPr lang="en-GB" dirty="0"/>
              <a:t>assess non-functional requirements such as </a:t>
            </a:r>
            <a:r>
              <a:rPr lang="en-GB" b="1" dirty="0"/>
              <a:t>performance efficiency, reliability, and security</a:t>
            </a:r>
          </a:p>
          <a:p>
            <a:pPr lvl="1"/>
            <a:r>
              <a:rPr lang="en-GB" dirty="0"/>
              <a:t>identify and address potential </a:t>
            </a:r>
            <a:r>
              <a:rPr lang="en-GB" b="1" dirty="0"/>
              <a:t>bottlenecks</a:t>
            </a:r>
            <a:r>
              <a:rPr lang="en-GB" dirty="0"/>
              <a:t> (e.g., justifying the use of a </a:t>
            </a:r>
            <a:r>
              <a:rPr lang="en-GB" dirty="0" err="1"/>
              <a:t>LoadBalancer</a:t>
            </a:r>
            <a:r>
              <a:rPr lang="en-GB" dirty="0"/>
              <a:t> to manage replication)</a:t>
            </a:r>
          </a:p>
          <a:p>
            <a:pPr lvl="1"/>
            <a:r>
              <a:rPr lang="en-GB" dirty="0"/>
              <a:t>reasoning about security, helping to determine where to install firewalls</a:t>
            </a:r>
            <a:endParaRPr lang="en-US" dirty="0"/>
          </a:p>
        </p:txBody>
      </p:sp>
      <p:sp>
        <p:nvSpPr>
          <p:cNvPr id="4" name="Date Placeholder 3">
            <a:extLst>
              <a:ext uri="{FF2B5EF4-FFF2-40B4-BE49-F238E27FC236}">
                <a16:creationId xmlns:a16="http://schemas.microsoft.com/office/drawing/2014/main" id="{D08E8397-C55F-4DD3-C142-BF4A725748DB}"/>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39D6C248-F1AD-03EE-F4A1-0A75EA8DAB8C}"/>
              </a:ext>
            </a:extLst>
          </p:cNvPr>
          <p:cNvSpPr>
            <a:spLocks noGrp="1"/>
          </p:cNvSpPr>
          <p:nvPr>
            <p:ph type="sldNum" sz="quarter" idx="12"/>
          </p:nvPr>
        </p:nvSpPr>
        <p:spPr/>
        <p:txBody>
          <a:bodyPr/>
          <a:lstStyle/>
          <a:p>
            <a:fld id="{D204BADD-F420-F54C-BEF5-604E8EEED029}" type="slidenum">
              <a:rPr lang="en-US" smtClean="0"/>
              <a:t>22</a:t>
            </a:fld>
            <a:endParaRPr lang="en-US"/>
          </a:p>
        </p:txBody>
      </p:sp>
    </p:spTree>
    <p:extLst>
      <p:ext uri="{BB962C8B-B14F-4D97-AF65-F5344CB8AC3E}">
        <p14:creationId xmlns:p14="http://schemas.microsoft.com/office/powerpoint/2010/main" val="930078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6B047-63EA-209F-436E-835C165E8297}"/>
              </a:ext>
            </a:extLst>
          </p:cNvPr>
          <p:cNvSpPr>
            <a:spLocks noGrp="1"/>
          </p:cNvSpPr>
          <p:nvPr>
            <p:ph type="title"/>
          </p:nvPr>
        </p:nvSpPr>
        <p:spPr/>
        <p:txBody>
          <a:bodyPr/>
          <a:lstStyle/>
          <a:p>
            <a:r>
              <a:rPr lang="en-US" dirty="0"/>
              <a:t>Coherence between structures</a:t>
            </a:r>
          </a:p>
        </p:txBody>
      </p:sp>
      <p:sp>
        <p:nvSpPr>
          <p:cNvPr id="3" name="Content Placeholder 2">
            <a:extLst>
              <a:ext uri="{FF2B5EF4-FFF2-40B4-BE49-F238E27FC236}">
                <a16:creationId xmlns:a16="http://schemas.microsoft.com/office/drawing/2014/main" id="{0A3C0535-54E3-409F-25FD-F77778DC5067}"/>
              </a:ext>
            </a:extLst>
          </p:cNvPr>
          <p:cNvSpPr>
            <a:spLocks noGrp="1"/>
          </p:cNvSpPr>
          <p:nvPr>
            <p:ph idx="1"/>
          </p:nvPr>
        </p:nvSpPr>
        <p:spPr/>
        <p:txBody>
          <a:bodyPr/>
          <a:lstStyle/>
          <a:p>
            <a:r>
              <a:rPr lang="en-US" dirty="0"/>
              <a:t>Components implemented by modules </a:t>
            </a:r>
          </a:p>
          <a:p>
            <a:r>
              <a:rPr lang="en-US" dirty="0"/>
              <a:t>Modules become artifacts that are deployed in execution environments</a:t>
            </a:r>
          </a:p>
          <a:p>
            <a:r>
              <a:rPr lang="en-US" dirty="0"/>
              <a:t>At runtime, artifacts become component instances</a:t>
            </a:r>
          </a:p>
          <a:p>
            <a:endParaRPr lang="en-US" dirty="0"/>
          </a:p>
        </p:txBody>
      </p:sp>
      <p:sp>
        <p:nvSpPr>
          <p:cNvPr id="4" name="Date Placeholder 3">
            <a:extLst>
              <a:ext uri="{FF2B5EF4-FFF2-40B4-BE49-F238E27FC236}">
                <a16:creationId xmlns:a16="http://schemas.microsoft.com/office/drawing/2014/main" id="{B8E9B7A6-B129-E519-5F42-AA6E5BD4098A}"/>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222AEC75-B236-3392-1112-239BACDC188D}"/>
              </a:ext>
            </a:extLst>
          </p:cNvPr>
          <p:cNvSpPr>
            <a:spLocks noGrp="1"/>
          </p:cNvSpPr>
          <p:nvPr>
            <p:ph type="sldNum" sz="quarter" idx="12"/>
          </p:nvPr>
        </p:nvSpPr>
        <p:spPr/>
        <p:txBody>
          <a:bodyPr/>
          <a:lstStyle/>
          <a:p>
            <a:fld id="{D204BADD-F420-F54C-BEF5-604E8EEED029}" type="slidenum">
              <a:rPr lang="en-US" smtClean="0"/>
              <a:t>23</a:t>
            </a:fld>
            <a:endParaRPr lang="en-US"/>
          </a:p>
        </p:txBody>
      </p:sp>
    </p:spTree>
    <p:extLst>
      <p:ext uri="{BB962C8B-B14F-4D97-AF65-F5344CB8AC3E}">
        <p14:creationId xmlns:p14="http://schemas.microsoft.com/office/powerpoint/2010/main" val="4059841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D949A-1BE2-4680-DF9D-0C46C3466105}"/>
              </a:ext>
            </a:extLst>
          </p:cNvPr>
          <p:cNvSpPr>
            <a:spLocks noGrp="1"/>
          </p:cNvSpPr>
          <p:nvPr>
            <p:ph type="title"/>
          </p:nvPr>
        </p:nvSpPr>
        <p:spPr/>
        <p:txBody>
          <a:bodyPr/>
          <a:lstStyle/>
          <a:p>
            <a:r>
              <a:rPr lang="en-US" dirty="0"/>
              <a:t>Implicit vs explicit architectures</a:t>
            </a:r>
          </a:p>
        </p:txBody>
      </p:sp>
      <p:sp>
        <p:nvSpPr>
          <p:cNvPr id="3" name="Content Placeholder 2">
            <a:extLst>
              <a:ext uri="{FF2B5EF4-FFF2-40B4-BE49-F238E27FC236}">
                <a16:creationId xmlns:a16="http://schemas.microsoft.com/office/drawing/2014/main" id="{178400F7-5B73-AF2E-CB2E-080D4AF7ED4A}"/>
              </a:ext>
            </a:extLst>
          </p:cNvPr>
          <p:cNvSpPr>
            <a:spLocks noGrp="1"/>
          </p:cNvSpPr>
          <p:nvPr>
            <p:ph idx="1"/>
          </p:nvPr>
        </p:nvSpPr>
        <p:spPr/>
        <p:txBody>
          <a:bodyPr/>
          <a:lstStyle/>
          <a:p>
            <a:r>
              <a:rPr lang="en-GB" b="1" dirty="0"/>
              <a:t>Implicit:</a:t>
            </a:r>
            <a:r>
              <a:rPr lang="en-GB" dirty="0"/>
              <a:t> Design exists only in code and in the mind of the main developers</a:t>
            </a:r>
          </a:p>
          <a:p>
            <a:r>
              <a:rPr lang="en-GB" b="1" dirty="0"/>
              <a:t>Explicit:</a:t>
            </a:r>
            <a:r>
              <a:rPr lang="en-GB" dirty="0"/>
              <a:t> Documented, shareable architecture</a:t>
            </a:r>
          </a:p>
          <a:p>
            <a:pPr marL="0" indent="0">
              <a:buNone/>
            </a:pPr>
            <a:endParaRPr lang="en-US" dirty="0"/>
          </a:p>
        </p:txBody>
      </p:sp>
      <p:sp>
        <p:nvSpPr>
          <p:cNvPr id="4" name="Date Placeholder 3">
            <a:extLst>
              <a:ext uri="{FF2B5EF4-FFF2-40B4-BE49-F238E27FC236}">
                <a16:creationId xmlns:a16="http://schemas.microsoft.com/office/drawing/2014/main" id="{FF6F23DA-6A6E-0B50-062F-AFACFE85F6ED}"/>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C8CD5417-AF30-6520-9513-48D4CDCC5127}"/>
              </a:ext>
            </a:extLst>
          </p:cNvPr>
          <p:cNvSpPr>
            <a:spLocks noGrp="1"/>
          </p:cNvSpPr>
          <p:nvPr>
            <p:ph type="sldNum" sz="quarter" idx="12"/>
          </p:nvPr>
        </p:nvSpPr>
        <p:spPr/>
        <p:txBody>
          <a:bodyPr/>
          <a:lstStyle/>
          <a:p>
            <a:fld id="{D204BADD-F420-F54C-BEF5-604E8EEED029}" type="slidenum">
              <a:rPr lang="en-US" smtClean="0"/>
              <a:t>24</a:t>
            </a:fld>
            <a:endParaRPr lang="en-US"/>
          </a:p>
        </p:txBody>
      </p:sp>
    </p:spTree>
    <p:extLst>
      <p:ext uri="{BB962C8B-B14F-4D97-AF65-F5344CB8AC3E}">
        <p14:creationId xmlns:p14="http://schemas.microsoft.com/office/powerpoint/2010/main" val="1571717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47E96-56D5-A68E-953F-D32BF6F74339}"/>
              </a:ext>
            </a:extLst>
          </p:cNvPr>
          <p:cNvSpPr>
            <a:spLocks noGrp="1"/>
          </p:cNvSpPr>
          <p:nvPr>
            <p:ph type="title"/>
          </p:nvPr>
        </p:nvSpPr>
        <p:spPr/>
        <p:txBody>
          <a:bodyPr/>
          <a:lstStyle/>
          <a:p>
            <a:r>
              <a:rPr lang="en-US" dirty="0"/>
              <a:t>Implicit vs explicit architectures: example</a:t>
            </a:r>
          </a:p>
        </p:txBody>
      </p:sp>
      <p:sp>
        <p:nvSpPr>
          <p:cNvPr id="4" name="Date Placeholder 3">
            <a:extLst>
              <a:ext uri="{FF2B5EF4-FFF2-40B4-BE49-F238E27FC236}">
                <a16:creationId xmlns:a16="http://schemas.microsoft.com/office/drawing/2014/main" id="{3126FC2F-CE15-AED9-E673-3DCDB33BE7F7}"/>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92A05429-DB32-4074-86BC-957332D8E4EA}"/>
              </a:ext>
            </a:extLst>
          </p:cNvPr>
          <p:cNvSpPr>
            <a:spLocks noGrp="1"/>
          </p:cNvSpPr>
          <p:nvPr>
            <p:ph type="sldNum" sz="quarter" idx="12"/>
          </p:nvPr>
        </p:nvSpPr>
        <p:spPr/>
        <p:txBody>
          <a:bodyPr/>
          <a:lstStyle/>
          <a:p>
            <a:fld id="{D204BADD-F420-F54C-BEF5-604E8EEED029}" type="slidenum">
              <a:rPr lang="en-US" smtClean="0"/>
              <a:t>25</a:t>
            </a:fld>
            <a:endParaRPr lang="en-US"/>
          </a:p>
        </p:txBody>
      </p:sp>
      <p:sp>
        <p:nvSpPr>
          <p:cNvPr id="8" name="Content Placeholder 7">
            <a:extLst>
              <a:ext uri="{FF2B5EF4-FFF2-40B4-BE49-F238E27FC236}">
                <a16:creationId xmlns:a16="http://schemas.microsoft.com/office/drawing/2014/main" id="{A9845F5E-F02F-F405-D126-69E350800586}"/>
              </a:ext>
            </a:extLst>
          </p:cNvPr>
          <p:cNvSpPr>
            <a:spLocks noGrp="1"/>
          </p:cNvSpPr>
          <p:nvPr>
            <p:ph idx="1"/>
          </p:nvPr>
        </p:nvSpPr>
        <p:spPr>
          <a:xfrm>
            <a:off x="838200" y="1447617"/>
            <a:ext cx="10515600" cy="4351338"/>
          </a:xfrm>
        </p:spPr>
        <p:txBody>
          <a:bodyPr>
            <a:noAutofit/>
          </a:bodyPr>
          <a:lstStyle/>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import </a:t>
            </a:r>
            <a:r>
              <a:rPr lang="en-GB" sz="1400" dirty="0" err="1">
                <a:latin typeface="STXihei" panose="020B0400000000000000" pitchFamily="34" charset="-122"/>
                <a:ea typeface="STXihei" panose="020B0400000000000000" pitchFamily="34" charset="-122"/>
              </a:rPr>
              <a:t>java.io</a:t>
            </a:r>
            <a:r>
              <a:rPr lang="en-GB" sz="1400" dirty="0">
                <a:latin typeface="STXihei" panose="020B0400000000000000" pitchFamily="34" charset="-122"/>
                <a:ea typeface="STXihei" panose="020B0400000000000000" pitchFamily="34" charset="-122"/>
              </a:rPr>
              <a:t>.*; </a:t>
            </a:r>
            <a:r>
              <a:rPr lang="en-GB" sz="1400" dirty="0">
                <a:solidFill>
                  <a:srgbClr val="FF00FF"/>
                </a:solidFill>
                <a:latin typeface="STXihei" panose="020B0400000000000000" pitchFamily="34" charset="-122"/>
                <a:ea typeface="STXihei" panose="020B0400000000000000" pitchFamily="34" charset="-122"/>
              </a:rPr>
              <a:t>import </a:t>
            </a:r>
            <a:r>
              <a:rPr lang="en-GB" sz="1400" dirty="0" err="1">
                <a:latin typeface="STXihei" panose="020B0400000000000000" pitchFamily="34" charset="-122"/>
                <a:ea typeface="STXihei" panose="020B0400000000000000" pitchFamily="34" charset="-122"/>
              </a:rPr>
              <a:t>java.net</a:t>
            </a:r>
            <a:r>
              <a:rPr lang="en-GB" sz="1400" dirty="0">
                <a:latin typeface="STXihei" panose="020B0400000000000000" pitchFamily="34" charset="-122"/>
                <a:ea typeface="STXihei" panose="020B0400000000000000" pitchFamily="34" charset="-122"/>
              </a:rPr>
              <a:t>.*; </a:t>
            </a:r>
            <a:r>
              <a:rPr lang="en-GB" sz="1400" dirty="0">
                <a:solidFill>
                  <a:srgbClr val="FF00FF"/>
                </a:solidFill>
                <a:latin typeface="STXihei" panose="020B0400000000000000" pitchFamily="34" charset="-122"/>
                <a:ea typeface="STXihei" panose="020B0400000000000000" pitchFamily="34" charset="-122"/>
              </a:rPr>
              <a:t>import </a:t>
            </a:r>
            <a:r>
              <a:rPr lang="en-GB" sz="1400" dirty="0" err="1">
                <a:latin typeface="STXihei" panose="020B0400000000000000" pitchFamily="34" charset="-122"/>
                <a:ea typeface="STXihei" panose="020B0400000000000000" pitchFamily="34" charset="-122"/>
              </a:rPr>
              <a:t>java.time.LocalDateTime</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public class </a:t>
            </a:r>
            <a:r>
              <a:rPr lang="en-GB" sz="1400" dirty="0" err="1">
                <a:latin typeface="STXihei" panose="020B0400000000000000" pitchFamily="34" charset="-122"/>
                <a:ea typeface="STXihei" panose="020B0400000000000000" pitchFamily="34" charset="-122"/>
              </a:rPr>
              <a:t>TimeServer</a:t>
            </a:r>
            <a:r>
              <a:rPr lang="en-GB" sz="1400" dirty="0">
                <a:latin typeface="STXihei" panose="020B0400000000000000" pitchFamily="34" charset="-122"/>
                <a:ea typeface="STXihei" panose="020B0400000000000000" pitchFamily="34" charset="-122"/>
              </a:rPr>
              <a:t> {</a:t>
            </a:r>
          </a:p>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public static void </a:t>
            </a:r>
            <a:r>
              <a:rPr lang="en-GB" sz="1400" dirty="0">
                <a:latin typeface="STXihei" panose="020B0400000000000000" pitchFamily="34" charset="-122"/>
                <a:ea typeface="STXihei" panose="020B0400000000000000" pitchFamily="34" charset="-122"/>
              </a:rPr>
              <a:t>main(String[] </a:t>
            </a:r>
            <a:r>
              <a:rPr lang="en-GB" sz="1400" dirty="0" err="1">
                <a:latin typeface="STXihei" panose="020B0400000000000000" pitchFamily="34" charset="-122"/>
                <a:ea typeface="STXihei" panose="020B0400000000000000" pitchFamily="34" charset="-122"/>
              </a:rPr>
              <a:t>args</a:t>
            </a:r>
            <a:r>
              <a:rPr lang="en-GB" sz="1400" dirty="0">
                <a:latin typeface="STXihei" panose="020B0400000000000000" pitchFamily="34" charset="-122"/>
                <a:ea typeface="STXihei" panose="020B0400000000000000" pitchFamily="34" charset="-122"/>
              </a:rPr>
              <a:t>) {</a:t>
            </a:r>
          </a:p>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   int </a:t>
            </a:r>
            <a:r>
              <a:rPr lang="en-GB" sz="1400" dirty="0">
                <a:latin typeface="STXihei" panose="020B0400000000000000" pitchFamily="34" charset="-122"/>
                <a:ea typeface="STXihei" panose="020B0400000000000000" pitchFamily="34" charset="-122"/>
              </a:rPr>
              <a:t>port = </a:t>
            </a:r>
            <a:r>
              <a:rPr lang="en-GB" sz="1400" dirty="0" err="1">
                <a:latin typeface="STXihei" panose="020B0400000000000000" pitchFamily="34" charset="-122"/>
                <a:ea typeface="STXihei" panose="020B0400000000000000" pitchFamily="34" charset="-122"/>
              </a:rPr>
              <a:t>Integer.parseInt</a:t>
            </a:r>
            <a:r>
              <a:rPr lang="en-GB" sz="1400" dirty="0">
                <a:latin typeface="STXihei" panose="020B0400000000000000" pitchFamily="34" charset="-122"/>
                <a:ea typeface="STXihei" panose="020B0400000000000000" pitchFamily="34" charset="-122"/>
              </a:rPr>
              <a:t>(</a:t>
            </a:r>
            <a:r>
              <a:rPr lang="en-GB" sz="1400" dirty="0" err="1">
                <a:latin typeface="STXihei" panose="020B0400000000000000" pitchFamily="34" charset="-122"/>
                <a:ea typeface="STXihei" panose="020B0400000000000000" pitchFamily="34" charset="-122"/>
              </a:rPr>
              <a:t>args</a:t>
            </a:r>
            <a:r>
              <a:rPr lang="en-GB" sz="1400" dirty="0">
                <a:latin typeface="STXihei" panose="020B0400000000000000" pitchFamily="34" charset="-122"/>
                <a:ea typeface="STXihei" panose="020B0400000000000000" pitchFamily="34" charset="-122"/>
              </a:rPr>
              <a:t>[0]);</a:t>
            </a:r>
          </a:p>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   try </a:t>
            </a:r>
            <a:r>
              <a:rPr lang="en-GB" sz="1400" dirty="0">
                <a:latin typeface="STXihei" panose="020B0400000000000000" pitchFamily="34" charset="-122"/>
                <a:ea typeface="STXihei" panose="020B0400000000000000" pitchFamily="34" charset="-122"/>
              </a:rPr>
              <a:t>(</a:t>
            </a:r>
            <a:r>
              <a:rPr lang="en-GB" sz="1400" dirty="0" err="1">
                <a:latin typeface="STXihei" panose="020B0400000000000000" pitchFamily="34" charset="-122"/>
                <a:ea typeface="STXihei" panose="020B0400000000000000" pitchFamily="34" charset="-122"/>
              </a:rPr>
              <a:t>ServerSocket</a:t>
            </a: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serverSocket</a:t>
            </a:r>
            <a:r>
              <a:rPr lang="en-GB" sz="1400" dirty="0">
                <a:latin typeface="STXihei" panose="020B0400000000000000" pitchFamily="34" charset="-122"/>
                <a:ea typeface="STXihei" panose="020B0400000000000000" pitchFamily="34" charset="-122"/>
              </a:rPr>
              <a:t> = </a:t>
            </a:r>
            <a:r>
              <a:rPr lang="en-GB" sz="1400" dirty="0">
                <a:solidFill>
                  <a:srgbClr val="FF00FF"/>
                </a:solidFill>
                <a:latin typeface="STXihei" panose="020B0400000000000000" pitchFamily="34" charset="-122"/>
                <a:ea typeface="STXihei" panose="020B0400000000000000" pitchFamily="34" charset="-122"/>
              </a:rPr>
              <a:t>new </a:t>
            </a:r>
            <a:r>
              <a:rPr lang="en-GB" sz="1400" dirty="0" err="1">
                <a:latin typeface="STXihei" panose="020B0400000000000000" pitchFamily="34" charset="-122"/>
                <a:ea typeface="STXihei" panose="020B0400000000000000" pitchFamily="34" charset="-122"/>
              </a:rPr>
              <a:t>ServerSocket</a:t>
            </a:r>
            <a:r>
              <a:rPr lang="en-GB" sz="1400" dirty="0">
                <a:latin typeface="STXihei" panose="020B0400000000000000" pitchFamily="34" charset="-122"/>
                <a:ea typeface="STXihei" panose="020B0400000000000000" pitchFamily="34" charset="-122"/>
              </a:rPr>
              <a:t>(port)) {</a:t>
            </a:r>
          </a:p>
          <a:p>
            <a:pPr>
              <a:lnSpc>
                <a:spcPct val="120000"/>
              </a:lnSpc>
              <a:spcBef>
                <a:spcPts val="0"/>
              </a:spcBef>
              <a:buNone/>
            </a:pP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System.out.println</a:t>
            </a:r>
            <a:r>
              <a:rPr lang="en-GB" sz="1400" dirty="0">
                <a:latin typeface="STXihei" panose="020B0400000000000000" pitchFamily="34" charset="-122"/>
                <a:ea typeface="STXihei" panose="020B0400000000000000" pitchFamily="34" charset="-122"/>
              </a:rPr>
              <a:t>(</a:t>
            </a:r>
            <a:r>
              <a:rPr lang="en-GB" sz="1400" dirty="0">
                <a:solidFill>
                  <a:srgbClr val="9300D1"/>
                </a:solidFill>
                <a:latin typeface="STXihei" panose="020B0400000000000000" pitchFamily="34" charset="-122"/>
                <a:ea typeface="STXihei" panose="020B0400000000000000" pitchFamily="34" charset="-122"/>
              </a:rPr>
              <a:t>"</a:t>
            </a:r>
            <a:r>
              <a:rPr lang="en-GB" sz="1400" dirty="0" err="1">
                <a:solidFill>
                  <a:srgbClr val="9300D1"/>
                </a:solidFill>
                <a:latin typeface="STXihei" panose="020B0400000000000000" pitchFamily="34" charset="-122"/>
                <a:ea typeface="STXihei" panose="020B0400000000000000" pitchFamily="34" charset="-122"/>
              </a:rPr>
              <a:t>TimeServer</a:t>
            </a:r>
            <a:r>
              <a:rPr lang="en-GB" sz="1400" dirty="0">
                <a:solidFill>
                  <a:srgbClr val="9300D1"/>
                </a:solidFill>
                <a:latin typeface="STXihei" panose="020B0400000000000000" pitchFamily="34" charset="-122"/>
                <a:ea typeface="STXihei" panose="020B0400000000000000" pitchFamily="34" charset="-122"/>
              </a:rPr>
              <a:t> running on port " </a:t>
            </a:r>
            <a:r>
              <a:rPr lang="en-GB" sz="1400" dirty="0">
                <a:latin typeface="STXihei" panose="020B0400000000000000" pitchFamily="34" charset="-122"/>
                <a:ea typeface="STXihei" panose="020B0400000000000000" pitchFamily="34" charset="-122"/>
              </a:rPr>
              <a:t>+ port);</a:t>
            </a:r>
          </a:p>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 while </a:t>
            </a:r>
            <a:r>
              <a:rPr lang="en-GB" sz="1400" dirty="0">
                <a:latin typeface="STXihei" panose="020B0400000000000000" pitchFamily="34" charset="-122"/>
                <a:ea typeface="STXihei" panose="020B0400000000000000" pitchFamily="34" charset="-122"/>
              </a:rPr>
              <a:t>(</a:t>
            </a:r>
            <a:r>
              <a:rPr lang="en-GB" sz="1400" dirty="0">
                <a:solidFill>
                  <a:srgbClr val="FF00FF"/>
                </a:solidFill>
                <a:latin typeface="STXihei" panose="020B0400000000000000" pitchFamily="34" charset="-122"/>
                <a:ea typeface="STXihei" panose="020B0400000000000000" pitchFamily="34" charset="-122"/>
              </a:rPr>
              <a:t>true</a:t>
            </a:r>
            <a:r>
              <a:rPr lang="en-GB" sz="1400" dirty="0">
                <a:latin typeface="STXihei" panose="020B0400000000000000" pitchFamily="34" charset="-122"/>
                <a:ea typeface="STXihei" panose="020B0400000000000000" pitchFamily="34" charset="-122"/>
              </a:rPr>
              <a:t>) {</a:t>
            </a:r>
          </a:p>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    try </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Socket </a:t>
            </a:r>
            <a:r>
              <a:rPr lang="en-GB" sz="1400" dirty="0" err="1">
                <a:latin typeface="STXihei" panose="020B0400000000000000" pitchFamily="34" charset="-122"/>
                <a:ea typeface="STXihei" panose="020B0400000000000000" pitchFamily="34" charset="-122"/>
              </a:rPr>
              <a:t>clientSocket</a:t>
            </a:r>
            <a:r>
              <a:rPr lang="en-GB" sz="1400" dirty="0">
                <a:latin typeface="STXihei" panose="020B0400000000000000" pitchFamily="34" charset="-122"/>
                <a:ea typeface="STXihei" panose="020B0400000000000000" pitchFamily="34" charset="-122"/>
              </a:rPr>
              <a:t> = </a:t>
            </a:r>
            <a:r>
              <a:rPr lang="en-GB" sz="1400" dirty="0" err="1">
                <a:latin typeface="STXihei" panose="020B0400000000000000" pitchFamily="34" charset="-122"/>
                <a:ea typeface="STXihei" panose="020B0400000000000000" pitchFamily="34" charset="-122"/>
              </a:rPr>
              <a:t>serverSocket.accept</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PrintWriter</a:t>
            </a:r>
            <a:r>
              <a:rPr lang="en-GB" sz="1400" dirty="0">
                <a:latin typeface="STXihei" panose="020B0400000000000000" pitchFamily="34" charset="-122"/>
                <a:ea typeface="STXihei" panose="020B0400000000000000" pitchFamily="34" charset="-122"/>
              </a:rPr>
              <a:t> out = </a:t>
            </a:r>
            <a:r>
              <a:rPr lang="en-GB" sz="1400" dirty="0">
                <a:solidFill>
                  <a:srgbClr val="FF00FF"/>
                </a:solidFill>
                <a:latin typeface="STXihei" panose="020B0400000000000000" pitchFamily="34" charset="-122"/>
                <a:ea typeface="STXihei" panose="020B0400000000000000" pitchFamily="34" charset="-122"/>
              </a:rPr>
              <a:t>new </a:t>
            </a:r>
            <a:r>
              <a:rPr lang="en-GB" sz="1400" dirty="0" err="1">
                <a:latin typeface="STXihei" panose="020B0400000000000000" pitchFamily="34" charset="-122"/>
                <a:ea typeface="STXihei" panose="020B0400000000000000" pitchFamily="34" charset="-122"/>
              </a:rPr>
              <a:t>PrintWriter</a:t>
            </a:r>
            <a:r>
              <a:rPr lang="en-GB" sz="1400" dirty="0">
                <a:latin typeface="STXihei" panose="020B0400000000000000" pitchFamily="34" charset="-122"/>
                <a:ea typeface="STXihei" panose="020B0400000000000000" pitchFamily="34" charset="-122"/>
              </a:rPr>
              <a:t>(</a:t>
            </a:r>
            <a:r>
              <a:rPr lang="en-GB" sz="1400" dirty="0" err="1">
                <a:latin typeface="STXihei" panose="020B0400000000000000" pitchFamily="34" charset="-122"/>
                <a:ea typeface="STXihei" panose="020B0400000000000000" pitchFamily="34" charset="-122"/>
              </a:rPr>
              <a:t>clientSocket.getOutputStream</a:t>
            </a:r>
            <a:r>
              <a:rPr lang="en-GB" sz="1400" dirty="0">
                <a:latin typeface="STXihei" panose="020B0400000000000000" pitchFamily="34" charset="-122"/>
                <a:ea typeface="STXihei" panose="020B0400000000000000" pitchFamily="34" charset="-122"/>
              </a:rPr>
              <a:t>(), </a:t>
            </a:r>
            <a:r>
              <a:rPr lang="en-GB" sz="1400" dirty="0">
                <a:solidFill>
                  <a:srgbClr val="FF00FF"/>
                </a:solidFill>
                <a:latin typeface="STXihei" panose="020B0400000000000000" pitchFamily="34" charset="-122"/>
                <a:ea typeface="STXihei" panose="020B0400000000000000" pitchFamily="34" charset="-122"/>
              </a:rPr>
              <a:t>true</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a:t>
            </a:r>
          </a:p>
          <a:p>
            <a:pPr>
              <a:lnSpc>
                <a:spcPct val="120000"/>
              </a:lnSpc>
              <a:spcBef>
                <a:spcPts val="0"/>
              </a:spcBef>
              <a:buNone/>
            </a:pPr>
            <a:r>
              <a:rPr lang="en-GB" sz="1400" dirty="0">
                <a:latin typeface="STXihei" panose="020B0400000000000000" pitchFamily="34" charset="-122"/>
                <a:ea typeface="STXihei" panose="020B0400000000000000" pitchFamily="34" charset="-122"/>
              </a:rPr>
              <a:t>       String </a:t>
            </a:r>
            <a:r>
              <a:rPr lang="en-GB" sz="1400" dirty="0" err="1">
                <a:latin typeface="STXihei" panose="020B0400000000000000" pitchFamily="34" charset="-122"/>
                <a:ea typeface="STXihei" panose="020B0400000000000000" pitchFamily="34" charset="-122"/>
              </a:rPr>
              <a:t>currentTime</a:t>
            </a:r>
            <a:r>
              <a:rPr lang="en-GB" sz="1400" dirty="0">
                <a:latin typeface="STXihei" panose="020B0400000000000000" pitchFamily="34" charset="-122"/>
                <a:ea typeface="STXihei" panose="020B0400000000000000" pitchFamily="34" charset="-122"/>
              </a:rPr>
              <a:t> = </a:t>
            </a:r>
            <a:r>
              <a:rPr lang="en-GB" sz="1400" dirty="0" err="1">
                <a:latin typeface="STXihei" panose="020B0400000000000000" pitchFamily="34" charset="-122"/>
                <a:ea typeface="STXihei" panose="020B0400000000000000" pitchFamily="34" charset="-122"/>
              </a:rPr>
              <a:t>LocalDateTime.now</a:t>
            </a:r>
            <a:r>
              <a:rPr lang="en-GB" sz="1400" dirty="0">
                <a:latin typeface="STXihei" panose="020B0400000000000000" pitchFamily="34" charset="-122"/>
                <a:ea typeface="STXihei" panose="020B0400000000000000" pitchFamily="34" charset="-122"/>
              </a:rPr>
              <a:t>().</a:t>
            </a:r>
            <a:r>
              <a:rPr lang="en-GB" sz="1400" dirty="0" err="1">
                <a:latin typeface="STXihei" panose="020B0400000000000000" pitchFamily="34" charset="-122"/>
                <a:ea typeface="STXihei" panose="020B0400000000000000" pitchFamily="34" charset="-122"/>
              </a:rPr>
              <a:t>toString</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out.println</a:t>
            </a:r>
            <a:r>
              <a:rPr lang="en-GB" sz="1400" dirty="0">
                <a:latin typeface="STXihei" panose="020B0400000000000000" pitchFamily="34" charset="-122"/>
                <a:ea typeface="STXihei" panose="020B0400000000000000" pitchFamily="34" charset="-122"/>
              </a:rPr>
              <a:t>(</a:t>
            </a:r>
            <a:r>
              <a:rPr lang="en-GB" sz="1400" dirty="0" err="1">
                <a:latin typeface="STXihei" panose="020B0400000000000000" pitchFamily="34" charset="-122"/>
                <a:ea typeface="STXihei" panose="020B0400000000000000" pitchFamily="34" charset="-122"/>
              </a:rPr>
              <a:t>currentTime</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System.out.println</a:t>
            </a:r>
            <a:r>
              <a:rPr lang="en-GB" sz="1400" dirty="0">
                <a:latin typeface="STXihei" panose="020B0400000000000000" pitchFamily="34" charset="-122"/>
                <a:ea typeface="STXihei" panose="020B0400000000000000" pitchFamily="34" charset="-122"/>
              </a:rPr>
              <a:t>(</a:t>
            </a:r>
            <a:r>
              <a:rPr lang="en-GB" sz="1400" dirty="0">
                <a:solidFill>
                  <a:srgbClr val="9300D1"/>
                </a:solidFill>
                <a:latin typeface="STXihei" panose="020B0400000000000000" pitchFamily="34" charset="-122"/>
                <a:ea typeface="STXihei" panose="020B0400000000000000" pitchFamily="34" charset="-122"/>
              </a:rPr>
              <a:t>"Sent time to client: " </a:t>
            </a: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currentTime</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 } </a:t>
            </a:r>
          </a:p>
          <a:p>
            <a:pPr>
              <a:lnSpc>
                <a:spcPct val="120000"/>
              </a:lnSpc>
              <a:spcBef>
                <a:spcPts val="0"/>
              </a:spcBef>
              <a:buNone/>
            </a:pPr>
            <a:r>
              <a:rPr lang="en-GB" sz="1400" dirty="0">
                <a:latin typeface="STXihei" panose="020B0400000000000000" pitchFamily="34" charset="-122"/>
                <a:ea typeface="STXihei" panose="020B0400000000000000" pitchFamily="34" charset="-122"/>
              </a:rPr>
              <a:t>  } </a:t>
            </a:r>
            <a:r>
              <a:rPr lang="en-GB" sz="1400" dirty="0">
                <a:solidFill>
                  <a:srgbClr val="FF00FF"/>
                </a:solidFill>
                <a:latin typeface="STXihei" panose="020B0400000000000000" pitchFamily="34" charset="-122"/>
                <a:ea typeface="STXihei" panose="020B0400000000000000" pitchFamily="34" charset="-122"/>
              </a:rPr>
              <a:t>catch </a:t>
            </a:r>
            <a:r>
              <a:rPr lang="en-GB" sz="1400" dirty="0">
                <a:latin typeface="STXihei" panose="020B0400000000000000" pitchFamily="34" charset="-122"/>
                <a:ea typeface="STXihei" panose="020B0400000000000000" pitchFamily="34" charset="-122"/>
              </a:rPr>
              <a:t>(</a:t>
            </a:r>
            <a:r>
              <a:rPr lang="en-GB" sz="1400" dirty="0" err="1">
                <a:latin typeface="STXihei" panose="020B0400000000000000" pitchFamily="34" charset="-122"/>
                <a:ea typeface="STXihei" panose="020B0400000000000000" pitchFamily="34" charset="-122"/>
              </a:rPr>
              <a:t>IOException</a:t>
            </a:r>
            <a:r>
              <a:rPr lang="en-GB" sz="1400" dirty="0">
                <a:latin typeface="STXihei" panose="020B0400000000000000" pitchFamily="34" charset="-122"/>
                <a:ea typeface="STXihei" panose="020B0400000000000000" pitchFamily="34" charset="-122"/>
              </a:rPr>
              <a:t> e) {</a:t>
            </a:r>
          </a:p>
          <a:p>
            <a:pPr>
              <a:lnSpc>
                <a:spcPct val="120000"/>
              </a:lnSpc>
              <a:spcBef>
                <a:spcPts val="0"/>
              </a:spcBef>
              <a:buNone/>
            </a:pP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e.printStackTrace</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    } }</a:t>
            </a:r>
          </a:p>
        </p:txBody>
      </p:sp>
    </p:spTree>
    <p:extLst>
      <p:ext uri="{BB962C8B-B14F-4D97-AF65-F5344CB8AC3E}">
        <p14:creationId xmlns:p14="http://schemas.microsoft.com/office/powerpoint/2010/main" val="4205917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947DC-732C-2BC6-E81C-0701124DB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152ED-D572-20C9-D9E3-7A2B8C64B61E}"/>
              </a:ext>
            </a:extLst>
          </p:cNvPr>
          <p:cNvSpPr>
            <a:spLocks noGrp="1"/>
          </p:cNvSpPr>
          <p:nvPr>
            <p:ph type="title"/>
          </p:nvPr>
        </p:nvSpPr>
        <p:spPr/>
        <p:txBody>
          <a:bodyPr/>
          <a:lstStyle/>
          <a:p>
            <a:r>
              <a:rPr lang="en-US" dirty="0"/>
              <a:t>Implicit vs explicit architectures: example</a:t>
            </a:r>
          </a:p>
        </p:txBody>
      </p:sp>
      <p:sp>
        <p:nvSpPr>
          <p:cNvPr id="4" name="Date Placeholder 3">
            <a:extLst>
              <a:ext uri="{FF2B5EF4-FFF2-40B4-BE49-F238E27FC236}">
                <a16:creationId xmlns:a16="http://schemas.microsoft.com/office/drawing/2014/main" id="{3A449DFB-F675-12E3-45F7-B45EB42E298C}"/>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D21761E1-7D6E-2373-8F65-99F2EF880248}"/>
              </a:ext>
            </a:extLst>
          </p:cNvPr>
          <p:cNvSpPr>
            <a:spLocks noGrp="1"/>
          </p:cNvSpPr>
          <p:nvPr>
            <p:ph type="sldNum" sz="quarter" idx="12"/>
          </p:nvPr>
        </p:nvSpPr>
        <p:spPr/>
        <p:txBody>
          <a:bodyPr/>
          <a:lstStyle/>
          <a:p>
            <a:fld id="{D204BADD-F420-F54C-BEF5-604E8EEED029}" type="slidenum">
              <a:rPr lang="en-US" smtClean="0"/>
              <a:t>26</a:t>
            </a:fld>
            <a:endParaRPr lang="en-US"/>
          </a:p>
        </p:txBody>
      </p:sp>
      <p:sp>
        <p:nvSpPr>
          <p:cNvPr id="8" name="Content Placeholder 7">
            <a:extLst>
              <a:ext uri="{FF2B5EF4-FFF2-40B4-BE49-F238E27FC236}">
                <a16:creationId xmlns:a16="http://schemas.microsoft.com/office/drawing/2014/main" id="{F473EB86-07F8-8946-8F71-F5B82AACF69A}"/>
              </a:ext>
            </a:extLst>
          </p:cNvPr>
          <p:cNvSpPr>
            <a:spLocks noGrp="1"/>
          </p:cNvSpPr>
          <p:nvPr>
            <p:ph idx="1"/>
          </p:nvPr>
        </p:nvSpPr>
        <p:spPr>
          <a:xfrm>
            <a:off x="838200" y="1447617"/>
            <a:ext cx="10515600" cy="4351338"/>
          </a:xfrm>
        </p:spPr>
        <p:txBody>
          <a:bodyPr>
            <a:noAutofit/>
          </a:bodyPr>
          <a:lstStyle/>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import </a:t>
            </a:r>
            <a:r>
              <a:rPr lang="en-GB" sz="1400" dirty="0" err="1">
                <a:latin typeface="STXihei" panose="020B0400000000000000" pitchFamily="34" charset="-122"/>
                <a:ea typeface="STXihei" panose="020B0400000000000000" pitchFamily="34" charset="-122"/>
              </a:rPr>
              <a:t>java.io</a:t>
            </a:r>
            <a:r>
              <a:rPr lang="en-GB" sz="1400" dirty="0">
                <a:latin typeface="STXihei" panose="020B0400000000000000" pitchFamily="34" charset="-122"/>
                <a:ea typeface="STXihei" panose="020B0400000000000000" pitchFamily="34" charset="-122"/>
              </a:rPr>
              <a:t>.*; </a:t>
            </a:r>
            <a:r>
              <a:rPr lang="en-GB" sz="1400" dirty="0">
                <a:solidFill>
                  <a:srgbClr val="FF00FF"/>
                </a:solidFill>
                <a:latin typeface="STXihei" panose="020B0400000000000000" pitchFamily="34" charset="-122"/>
                <a:ea typeface="STXihei" panose="020B0400000000000000" pitchFamily="34" charset="-122"/>
              </a:rPr>
              <a:t>import </a:t>
            </a:r>
            <a:r>
              <a:rPr lang="en-GB" sz="1400" dirty="0" err="1">
                <a:latin typeface="STXihei" panose="020B0400000000000000" pitchFamily="34" charset="-122"/>
                <a:ea typeface="STXihei" panose="020B0400000000000000" pitchFamily="34" charset="-122"/>
              </a:rPr>
              <a:t>java.net</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public class </a:t>
            </a:r>
            <a:r>
              <a:rPr lang="en-GB" sz="1400" dirty="0" err="1">
                <a:latin typeface="STXihei" panose="020B0400000000000000" pitchFamily="34" charset="-122"/>
                <a:ea typeface="STXihei" panose="020B0400000000000000" pitchFamily="34" charset="-122"/>
              </a:rPr>
              <a:t>TimeClient</a:t>
            </a:r>
            <a:r>
              <a:rPr lang="en-GB" sz="1400" dirty="0">
                <a:latin typeface="STXihei" panose="020B0400000000000000" pitchFamily="34" charset="-122"/>
                <a:ea typeface="STXihei" panose="020B0400000000000000" pitchFamily="34" charset="-122"/>
              </a:rPr>
              <a:t> {</a:t>
            </a:r>
          </a:p>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public static void </a:t>
            </a:r>
            <a:r>
              <a:rPr lang="en-GB" sz="1400" dirty="0">
                <a:latin typeface="STXihei" panose="020B0400000000000000" pitchFamily="34" charset="-122"/>
                <a:ea typeface="STXihei" panose="020B0400000000000000" pitchFamily="34" charset="-122"/>
              </a:rPr>
              <a:t>main(String[] </a:t>
            </a:r>
            <a:r>
              <a:rPr lang="en-GB" sz="1400" dirty="0" err="1">
                <a:latin typeface="STXihei" panose="020B0400000000000000" pitchFamily="34" charset="-122"/>
                <a:ea typeface="STXihei" panose="020B0400000000000000" pitchFamily="34" charset="-122"/>
              </a:rPr>
              <a:t>args</a:t>
            </a:r>
            <a:r>
              <a:rPr lang="en-GB" sz="1400" dirty="0">
                <a:latin typeface="STXihei" panose="020B0400000000000000" pitchFamily="34" charset="-122"/>
                <a:ea typeface="STXihei" panose="020B0400000000000000" pitchFamily="34" charset="-122"/>
              </a:rPr>
              <a:t>) {</a:t>
            </a:r>
          </a:p>
          <a:p>
            <a:pPr>
              <a:lnSpc>
                <a:spcPct val="120000"/>
              </a:lnSpc>
              <a:spcBef>
                <a:spcPts val="0"/>
              </a:spcBef>
              <a:buNone/>
            </a:pPr>
            <a:r>
              <a:rPr lang="en-GB" sz="1400" dirty="0">
                <a:latin typeface="STXihei" panose="020B0400000000000000" pitchFamily="34" charset="-122"/>
                <a:ea typeface="STXihei" panose="020B0400000000000000" pitchFamily="34" charset="-122"/>
              </a:rPr>
              <a:t>   String </a:t>
            </a:r>
            <a:r>
              <a:rPr lang="en-GB" sz="1400" dirty="0" err="1">
                <a:latin typeface="STXihei" panose="020B0400000000000000" pitchFamily="34" charset="-122"/>
                <a:ea typeface="STXihei" panose="020B0400000000000000" pitchFamily="34" charset="-122"/>
              </a:rPr>
              <a:t>serverAddress</a:t>
            </a:r>
            <a:r>
              <a:rPr lang="en-GB" sz="1400" dirty="0">
                <a:latin typeface="STXihei" panose="020B0400000000000000" pitchFamily="34" charset="-122"/>
                <a:ea typeface="STXihei" panose="020B0400000000000000" pitchFamily="34" charset="-122"/>
              </a:rPr>
              <a:t> = </a:t>
            </a:r>
            <a:r>
              <a:rPr lang="en-GB" sz="1400" dirty="0" err="1">
                <a:latin typeface="STXihei" panose="020B0400000000000000" pitchFamily="34" charset="-122"/>
                <a:ea typeface="STXihei" panose="020B0400000000000000" pitchFamily="34" charset="-122"/>
              </a:rPr>
              <a:t>args</a:t>
            </a:r>
            <a:r>
              <a:rPr lang="en-GB" sz="1400" dirty="0">
                <a:latin typeface="STXihei" panose="020B0400000000000000" pitchFamily="34" charset="-122"/>
                <a:ea typeface="STXihei" panose="020B0400000000000000" pitchFamily="34" charset="-122"/>
              </a:rPr>
              <a:t>[0]</a:t>
            </a:r>
          </a:p>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   int </a:t>
            </a:r>
            <a:r>
              <a:rPr lang="en-GB" sz="1400" dirty="0">
                <a:latin typeface="STXihei" panose="020B0400000000000000" pitchFamily="34" charset="-122"/>
                <a:ea typeface="STXihei" panose="020B0400000000000000" pitchFamily="34" charset="-122"/>
              </a:rPr>
              <a:t>port = </a:t>
            </a:r>
            <a:r>
              <a:rPr lang="en-GB" sz="1400" dirty="0" err="1">
                <a:latin typeface="STXihei" panose="020B0400000000000000" pitchFamily="34" charset="-122"/>
                <a:ea typeface="STXihei" panose="020B0400000000000000" pitchFamily="34" charset="-122"/>
              </a:rPr>
              <a:t>Integer.parseInt</a:t>
            </a:r>
            <a:r>
              <a:rPr lang="en-GB" sz="1400" dirty="0">
                <a:latin typeface="STXihei" panose="020B0400000000000000" pitchFamily="34" charset="-122"/>
                <a:ea typeface="STXihei" panose="020B0400000000000000" pitchFamily="34" charset="-122"/>
              </a:rPr>
              <a:t>(</a:t>
            </a:r>
            <a:r>
              <a:rPr lang="en-GB" sz="1400" dirty="0" err="1">
                <a:latin typeface="STXihei" panose="020B0400000000000000" pitchFamily="34" charset="-122"/>
                <a:ea typeface="STXihei" panose="020B0400000000000000" pitchFamily="34" charset="-122"/>
              </a:rPr>
              <a:t>args</a:t>
            </a:r>
            <a:r>
              <a:rPr lang="en-GB" sz="1400" dirty="0">
                <a:latin typeface="STXihei" panose="020B0400000000000000" pitchFamily="34" charset="-122"/>
                <a:ea typeface="STXihei" panose="020B0400000000000000" pitchFamily="34" charset="-122"/>
              </a:rPr>
              <a:t>[1]);</a:t>
            </a:r>
          </a:p>
          <a:p>
            <a:pPr>
              <a:lnSpc>
                <a:spcPct val="120000"/>
              </a:lnSpc>
              <a:spcBef>
                <a:spcPts val="0"/>
              </a:spcBef>
              <a:buNone/>
            </a:pPr>
            <a:r>
              <a:rPr lang="en-GB" sz="1400" dirty="0">
                <a:solidFill>
                  <a:srgbClr val="FF00FF"/>
                </a:solidFill>
                <a:latin typeface="STXihei" panose="020B0400000000000000" pitchFamily="34" charset="-122"/>
                <a:ea typeface="STXihei" panose="020B0400000000000000" pitchFamily="34" charset="-122"/>
              </a:rPr>
              <a:t>   try </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Socket socket = </a:t>
            </a:r>
            <a:r>
              <a:rPr lang="en-GB" sz="1400" dirty="0">
                <a:solidFill>
                  <a:srgbClr val="FF00FF"/>
                </a:solidFill>
                <a:latin typeface="STXihei" panose="020B0400000000000000" pitchFamily="34" charset="-122"/>
                <a:ea typeface="STXihei" panose="020B0400000000000000" pitchFamily="34" charset="-122"/>
              </a:rPr>
              <a:t>new</a:t>
            </a:r>
            <a:r>
              <a:rPr lang="en-GB" sz="1400" dirty="0">
                <a:latin typeface="STXihei" panose="020B0400000000000000" pitchFamily="34" charset="-122"/>
                <a:ea typeface="STXihei" panose="020B0400000000000000" pitchFamily="34" charset="-122"/>
              </a:rPr>
              <a:t> Socket(</a:t>
            </a:r>
            <a:r>
              <a:rPr lang="en-GB" sz="1400" dirty="0" err="1">
                <a:latin typeface="STXihei" panose="020B0400000000000000" pitchFamily="34" charset="-122"/>
                <a:ea typeface="STXihei" panose="020B0400000000000000" pitchFamily="34" charset="-122"/>
              </a:rPr>
              <a:t>serverAddress</a:t>
            </a:r>
            <a:r>
              <a:rPr lang="en-GB" sz="1400" dirty="0">
                <a:latin typeface="STXihei" panose="020B0400000000000000" pitchFamily="34" charset="-122"/>
                <a:ea typeface="STXihei" panose="020B0400000000000000" pitchFamily="34" charset="-122"/>
              </a:rPr>
              <a:t>, port);</a:t>
            </a:r>
          </a:p>
          <a:p>
            <a:pPr>
              <a:lnSpc>
                <a:spcPct val="120000"/>
              </a:lnSpc>
              <a:spcBef>
                <a:spcPts val="0"/>
              </a:spcBef>
              <a:buNone/>
            </a:pP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BufferedReader</a:t>
            </a:r>
            <a:r>
              <a:rPr lang="en-GB" sz="1400" dirty="0">
                <a:latin typeface="STXihei" panose="020B0400000000000000" pitchFamily="34" charset="-122"/>
                <a:ea typeface="STXihei" panose="020B0400000000000000" pitchFamily="34" charset="-122"/>
              </a:rPr>
              <a:t> in = </a:t>
            </a:r>
            <a:r>
              <a:rPr lang="en-GB" sz="1400" dirty="0">
                <a:solidFill>
                  <a:srgbClr val="FF00FF"/>
                </a:solidFill>
                <a:latin typeface="STXihei" panose="020B0400000000000000" pitchFamily="34" charset="-122"/>
                <a:ea typeface="STXihei" panose="020B0400000000000000" pitchFamily="34" charset="-122"/>
              </a:rPr>
              <a:t>new</a:t>
            </a: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BufferedReader</a:t>
            </a:r>
            <a:r>
              <a:rPr lang="en-GB" sz="1400" dirty="0">
                <a:latin typeface="STXihei" panose="020B0400000000000000" pitchFamily="34" charset="-122"/>
                <a:ea typeface="STXihei" panose="020B0400000000000000" pitchFamily="34" charset="-122"/>
              </a:rPr>
              <a:t>(</a:t>
            </a:r>
            <a:r>
              <a:rPr lang="en-GB" sz="1400" dirty="0">
                <a:solidFill>
                  <a:srgbClr val="FF00FF"/>
                </a:solidFill>
                <a:latin typeface="STXihei" panose="020B0400000000000000" pitchFamily="34" charset="-122"/>
                <a:ea typeface="STXihei" panose="020B0400000000000000" pitchFamily="34" charset="-122"/>
              </a:rPr>
              <a:t>new</a:t>
            </a: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InputStreamReader</a:t>
            </a:r>
            <a:r>
              <a:rPr lang="en-GB" sz="1400" dirty="0">
                <a:latin typeface="STXihei" panose="020B0400000000000000" pitchFamily="34" charset="-122"/>
                <a:ea typeface="STXihei" panose="020B0400000000000000" pitchFamily="34" charset="-122"/>
              </a:rPr>
              <a:t>(</a:t>
            </a:r>
            <a:r>
              <a:rPr lang="en-GB" sz="1400" dirty="0" err="1">
                <a:latin typeface="STXihei" panose="020B0400000000000000" pitchFamily="34" charset="-122"/>
                <a:ea typeface="STXihei" panose="020B0400000000000000" pitchFamily="34" charset="-122"/>
              </a:rPr>
              <a:t>socket.getInputStream</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 {</a:t>
            </a:r>
          </a:p>
          <a:p>
            <a:pPr>
              <a:lnSpc>
                <a:spcPct val="120000"/>
              </a:lnSpc>
              <a:spcBef>
                <a:spcPts val="0"/>
              </a:spcBef>
              <a:buNone/>
            </a:pPr>
            <a:r>
              <a:rPr lang="en-GB" sz="1400" dirty="0">
                <a:latin typeface="STXihei" panose="020B0400000000000000" pitchFamily="34" charset="-122"/>
                <a:ea typeface="STXihei" panose="020B0400000000000000" pitchFamily="34" charset="-122"/>
              </a:rPr>
              <a:t>       String </a:t>
            </a:r>
            <a:r>
              <a:rPr lang="en-GB" sz="1400" dirty="0" err="1">
                <a:latin typeface="STXihei" panose="020B0400000000000000" pitchFamily="34" charset="-122"/>
                <a:ea typeface="STXihei" panose="020B0400000000000000" pitchFamily="34" charset="-122"/>
              </a:rPr>
              <a:t>serverTime</a:t>
            </a:r>
            <a:r>
              <a:rPr lang="en-GB" sz="1400" dirty="0">
                <a:latin typeface="STXihei" panose="020B0400000000000000" pitchFamily="34" charset="-122"/>
                <a:ea typeface="STXihei" panose="020B0400000000000000" pitchFamily="34" charset="-122"/>
              </a:rPr>
              <a:t> = </a:t>
            </a:r>
            <a:r>
              <a:rPr lang="en-GB" sz="1400" dirty="0" err="1">
                <a:latin typeface="STXihei" panose="020B0400000000000000" pitchFamily="34" charset="-122"/>
                <a:ea typeface="STXihei" panose="020B0400000000000000" pitchFamily="34" charset="-122"/>
              </a:rPr>
              <a:t>in.readLine</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System.out.println</a:t>
            </a:r>
            <a:r>
              <a:rPr lang="en-GB" sz="1400" dirty="0">
                <a:latin typeface="STXihei" panose="020B0400000000000000" pitchFamily="34" charset="-122"/>
                <a:ea typeface="STXihei" panose="020B0400000000000000" pitchFamily="34" charset="-122"/>
              </a:rPr>
              <a:t>(</a:t>
            </a:r>
            <a:r>
              <a:rPr lang="en-GB" sz="1400" dirty="0">
                <a:solidFill>
                  <a:srgbClr val="9300D1"/>
                </a:solidFill>
                <a:latin typeface="STXihei" panose="020B0400000000000000" pitchFamily="34" charset="-122"/>
                <a:ea typeface="STXihei" panose="020B0400000000000000" pitchFamily="34" charset="-122"/>
              </a:rPr>
              <a:t>""Current time from server: " </a:t>
            </a: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serverTime</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 } </a:t>
            </a:r>
          </a:p>
          <a:p>
            <a:pPr>
              <a:lnSpc>
                <a:spcPct val="120000"/>
              </a:lnSpc>
              <a:spcBef>
                <a:spcPts val="0"/>
              </a:spcBef>
              <a:buNone/>
            </a:pPr>
            <a:r>
              <a:rPr lang="en-GB" sz="1400" dirty="0">
                <a:latin typeface="STXihei" panose="020B0400000000000000" pitchFamily="34" charset="-122"/>
                <a:ea typeface="STXihei" panose="020B0400000000000000" pitchFamily="34" charset="-122"/>
              </a:rPr>
              <a:t>   } </a:t>
            </a:r>
            <a:r>
              <a:rPr lang="en-GB" sz="1400" dirty="0">
                <a:solidFill>
                  <a:srgbClr val="FF00FF"/>
                </a:solidFill>
                <a:latin typeface="STXihei" panose="020B0400000000000000" pitchFamily="34" charset="-122"/>
                <a:ea typeface="STXihei" panose="020B0400000000000000" pitchFamily="34" charset="-122"/>
              </a:rPr>
              <a:t>catch </a:t>
            </a:r>
            <a:r>
              <a:rPr lang="en-GB" sz="1400" dirty="0">
                <a:latin typeface="STXihei" panose="020B0400000000000000" pitchFamily="34" charset="-122"/>
                <a:ea typeface="STXihei" panose="020B0400000000000000" pitchFamily="34" charset="-122"/>
              </a:rPr>
              <a:t>(</a:t>
            </a:r>
            <a:r>
              <a:rPr lang="en-GB" sz="1400" dirty="0" err="1">
                <a:latin typeface="STXihei" panose="020B0400000000000000" pitchFamily="34" charset="-122"/>
                <a:ea typeface="STXihei" panose="020B0400000000000000" pitchFamily="34" charset="-122"/>
              </a:rPr>
              <a:t>IOException</a:t>
            </a:r>
            <a:r>
              <a:rPr lang="en-GB" sz="1400" dirty="0">
                <a:latin typeface="STXihei" panose="020B0400000000000000" pitchFamily="34" charset="-122"/>
                <a:ea typeface="STXihei" panose="020B0400000000000000" pitchFamily="34" charset="-122"/>
              </a:rPr>
              <a:t> e) {</a:t>
            </a:r>
          </a:p>
          <a:p>
            <a:pPr>
              <a:lnSpc>
                <a:spcPct val="120000"/>
              </a:lnSpc>
              <a:spcBef>
                <a:spcPts val="0"/>
              </a:spcBef>
              <a:buNone/>
            </a:pPr>
            <a:r>
              <a:rPr lang="en-GB" sz="1400" dirty="0">
                <a:latin typeface="STXihei" panose="020B0400000000000000" pitchFamily="34" charset="-122"/>
                <a:ea typeface="STXihei" panose="020B0400000000000000" pitchFamily="34" charset="-122"/>
              </a:rPr>
              <a:t>    </a:t>
            </a:r>
            <a:r>
              <a:rPr lang="en-GB" sz="1400" dirty="0" err="1">
                <a:latin typeface="STXihei" panose="020B0400000000000000" pitchFamily="34" charset="-122"/>
                <a:ea typeface="STXihei" panose="020B0400000000000000" pitchFamily="34" charset="-122"/>
              </a:rPr>
              <a:t>e.printStackTrace</a:t>
            </a:r>
            <a:r>
              <a:rPr lang="en-GB" sz="1400" dirty="0">
                <a:latin typeface="STXihei" panose="020B0400000000000000" pitchFamily="34" charset="-122"/>
                <a:ea typeface="STXihei" panose="020B0400000000000000" pitchFamily="34" charset="-122"/>
              </a:rPr>
              <a:t>();</a:t>
            </a:r>
          </a:p>
          <a:p>
            <a:pPr>
              <a:lnSpc>
                <a:spcPct val="120000"/>
              </a:lnSpc>
              <a:spcBef>
                <a:spcPts val="0"/>
              </a:spcBef>
              <a:buNone/>
            </a:pPr>
            <a:r>
              <a:rPr lang="en-GB" sz="1400" dirty="0">
                <a:latin typeface="STXihei" panose="020B0400000000000000" pitchFamily="34" charset="-122"/>
                <a:ea typeface="STXihei" panose="020B0400000000000000" pitchFamily="34" charset="-122"/>
              </a:rPr>
              <a:t>  }    } }</a:t>
            </a:r>
          </a:p>
        </p:txBody>
      </p:sp>
    </p:spTree>
    <p:extLst>
      <p:ext uri="{BB962C8B-B14F-4D97-AF65-F5344CB8AC3E}">
        <p14:creationId xmlns:p14="http://schemas.microsoft.com/office/powerpoint/2010/main" val="6982590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21CA2-3252-8300-980E-5A4E33F2A38B}"/>
              </a:ext>
            </a:extLst>
          </p:cNvPr>
          <p:cNvSpPr>
            <a:spLocks noGrp="1"/>
          </p:cNvSpPr>
          <p:nvPr>
            <p:ph type="title"/>
          </p:nvPr>
        </p:nvSpPr>
        <p:spPr/>
        <p:txBody>
          <a:bodyPr/>
          <a:lstStyle/>
          <a:p>
            <a:r>
              <a:rPr lang="en-US" dirty="0"/>
              <a:t>Implicit vs explicit architectures</a:t>
            </a:r>
          </a:p>
        </p:txBody>
      </p:sp>
      <p:sp>
        <p:nvSpPr>
          <p:cNvPr id="3" name="Content Placeholder 2">
            <a:extLst>
              <a:ext uri="{FF2B5EF4-FFF2-40B4-BE49-F238E27FC236}">
                <a16:creationId xmlns:a16="http://schemas.microsoft.com/office/drawing/2014/main" id="{BCEF785D-DA3E-1205-32D5-21BBF0266C59}"/>
              </a:ext>
            </a:extLst>
          </p:cNvPr>
          <p:cNvSpPr>
            <a:spLocks noGrp="1"/>
          </p:cNvSpPr>
          <p:nvPr>
            <p:ph idx="1"/>
          </p:nvPr>
        </p:nvSpPr>
        <p:spPr/>
        <p:txBody>
          <a:bodyPr/>
          <a:lstStyle/>
          <a:p>
            <a:r>
              <a:rPr lang="en-GB" dirty="0"/>
              <a:t>Reverse engineering can recover structure</a:t>
            </a:r>
          </a:p>
          <a:p>
            <a:r>
              <a:rPr lang="en-US" dirty="0"/>
              <a:t>But it </a:t>
            </a:r>
            <a:r>
              <a:rPr lang="en-GB" dirty="0"/>
              <a:t>becomes quickly </a:t>
            </a:r>
            <a:r>
              <a:rPr lang="en-GB" b="1" dirty="0"/>
              <a:t>cumbersome and time-consuming</a:t>
            </a:r>
            <a:r>
              <a:rPr lang="en-GB" dirty="0"/>
              <a:t> with the growth of the codebase</a:t>
            </a:r>
            <a:endParaRPr lang="en-US" dirty="0"/>
          </a:p>
        </p:txBody>
      </p:sp>
      <p:sp>
        <p:nvSpPr>
          <p:cNvPr id="4" name="Date Placeholder 3">
            <a:extLst>
              <a:ext uri="{FF2B5EF4-FFF2-40B4-BE49-F238E27FC236}">
                <a16:creationId xmlns:a16="http://schemas.microsoft.com/office/drawing/2014/main" id="{EE78E840-A1F2-EFAC-E5C6-CAB6797192BA}"/>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96C91B1D-879C-6CD2-507F-5C06592B3FA7}"/>
              </a:ext>
            </a:extLst>
          </p:cNvPr>
          <p:cNvSpPr>
            <a:spLocks noGrp="1"/>
          </p:cNvSpPr>
          <p:nvPr>
            <p:ph type="sldNum" sz="quarter" idx="12"/>
          </p:nvPr>
        </p:nvSpPr>
        <p:spPr/>
        <p:txBody>
          <a:bodyPr/>
          <a:lstStyle/>
          <a:p>
            <a:fld id="{D204BADD-F420-F54C-BEF5-604E8EEED029}" type="slidenum">
              <a:rPr lang="en-US" smtClean="0"/>
              <a:t>27</a:t>
            </a:fld>
            <a:endParaRPr lang="en-US"/>
          </a:p>
        </p:txBody>
      </p:sp>
    </p:spTree>
    <p:extLst>
      <p:ext uri="{BB962C8B-B14F-4D97-AF65-F5344CB8AC3E}">
        <p14:creationId xmlns:p14="http://schemas.microsoft.com/office/powerpoint/2010/main" val="2081754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0E8EF-DEE3-DB65-66D0-7549AC904694}"/>
              </a:ext>
            </a:extLst>
          </p:cNvPr>
          <p:cNvSpPr>
            <a:spLocks noGrp="1"/>
          </p:cNvSpPr>
          <p:nvPr>
            <p:ph type="title"/>
          </p:nvPr>
        </p:nvSpPr>
        <p:spPr/>
        <p:txBody>
          <a:bodyPr/>
          <a:lstStyle/>
          <a:p>
            <a:r>
              <a:rPr lang="en-US" dirty="0"/>
              <a:t>Ingredients of the Architecting Process</a:t>
            </a:r>
          </a:p>
        </p:txBody>
      </p:sp>
      <p:sp>
        <p:nvSpPr>
          <p:cNvPr id="3" name="Content Placeholder 2">
            <a:extLst>
              <a:ext uri="{FF2B5EF4-FFF2-40B4-BE49-F238E27FC236}">
                <a16:creationId xmlns:a16="http://schemas.microsoft.com/office/drawing/2014/main" id="{F4AAABDC-DA02-7A4E-7C4B-6E214996C4B2}"/>
              </a:ext>
            </a:extLst>
          </p:cNvPr>
          <p:cNvSpPr>
            <a:spLocks noGrp="1"/>
          </p:cNvSpPr>
          <p:nvPr>
            <p:ph idx="1"/>
          </p:nvPr>
        </p:nvSpPr>
        <p:spPr/>
        <p:txBody>
          <a:bodyPr/>
          <a:lstStyle/>
          <a:p>
            <a:r>
              <a:rPr lang="en-US" dirty="0"/>
              <a:t>Functional requirements/Use Cases help identify distinct functional areas to map into components </a:t>
            </a:r>
          </a:p>
          <a:p>
            <a:pPr lvl="1"/>
            <a:r>
              <a:rPr lang="en-US" dirty="0"/>
              <a:t>e.g., UC: “search for product” naturally leads to the </a:t>
            </a:r>
            <a:r>
              <a:rPr lang="en-US" dirty="0" err="1"/>
              <a:t>ProductCatalogService</a:t>
            </a:r>
            <a:r>
              <a:rPr lang="en-US" dirty="0"/>
              <a:t> component</a:t>
            </a:r>
          </a:p>
          <a:p>
            <a:r>
              <a:rPr lang="en-US" dirty="0"/>
              <a:t>Non-functional requirements guide architectural decisions </a:t>
            </a:r>
          </a:p>
          <a:p>
            <a:pPr lvl="1"/>
            <a:r>
              <a:rPr lang="en-US" dirty="0"/>
              <a:t>e.g., a requirement for high availability for searching requires considering replication of the </a:t>
            </a:r>
            <a:r>
              <a:rPr lang="en-US" dirty="0" err="1"/>
              <a:t>ProductCatalogService</a:t>
            </a:r>
            <a:endParaRPr lang="en-US" dirty="0"/>
          </a:p>
        </p:txBody>
      </p:sp>
      <p:sp>
        <p:nvSpPr>
          <p:cNvPr id="4" name="Date Placeholder 3">
            <a:extLst>
              <a:ext uri="{FF2B5EF4-FFF2-40B4-BE49-F238E27FC236}">
                <a16:creationId xmlns:a16="http://schemas.microsoft.com/office/drawing/2014/main" id="{310E05FD-7A4D-D7C4-2C80-E44C20FB62F1}"/>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9C119152-B84D-49E7-A4E8-3082010E8C00}"/>
              </a:ext>
            </a:extLst>
          </p:cNvPr>
          <p:cNvSpPr>
            <a:spLocks noGrp="1"/>
          </p:cNvSpPr>
          <p:nvPr>
            <p:ph type="sldNum" sz="quarter" idx="12"/>
          </p:nvPr>
        </p:nvSpPr>
        <p:spPr/>
        <p:txBody>
          <a:bodyPr/>
          <a:lstStyle/>
          <a:p>
            <a:fld id="{D204BADD-F420-F54C-BEF5-604E8EEED029}" type="slidenum">
              <a:rPr lang="en-US" smtClean="0"/>
              <a:t>28</a:t>
            </a:fld>
            <a:endParaRPr lang="en-US"/>
          </a:p>
        </p:txBody>
      </p:sp>
    </p:spTree>
    <p:extLst>
      <p:ext uri="{BB962C8B-B14F-4D97-AF65-F5344CB8AC3E}">
        <p14:creationId xmlns:p14="http://schemas.microsoft.com/office/powerpoint/2010/main" val="31202724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F57BD-8726-A684-7EC5-F27BF3ECE1B6}"/>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595D9C24-3691-9D64-D8BA-1055E01BAEF2}"/>
              </a:ext>
            </a:extLst>
          </p:cNvPr>
          <p:cNvSpPr>
            <a:spLocks noGrp="1"/>
          </p:cNvSpPr>
          <p:nvPr>
            <p:ph idx="1"/>
          </p:nvPr>
        </p:nvSpPr>
        <p:spPr/>
        <p:txBody>
          <a:bodyPr/>
          <a:lstStyle/>
          <a:p>
            <a:r>
              <a:rPr lang="en-GB" dirty="0"/>
              <a:t>Key Takeaways</a:t>
            </a:r>
          </a:p>
          <a:p>
            <a:pPr lvl="1"/>
            <a:r>
              <a:rPr lang="en-GB" dirty="0"/>
              <a:t>Design = reasoning under constraints</a:t>
            </a:r>
          </a:p>
          <a:p>
            <a:pPr lvl="1"/>
            <a:r>
              <a:rPr lang="en-GB" dirty="0"/>
              <a:t>Architecture = multiple consistent structures</a:t>
            </a:r>
          </a:p>
          <a:p>
            <a:pPr lvl="1"/>
            <a:r>
              <a:rPr lang="en-GB" dirty="0"/>
              <a:t>Explicit design improves quality and collaboration</a:t>
            </a:r>
          </a:p>
          <a:p>
            <a:endParaRPr lang="en-US" dirty="0"/>
          </a:p>
        </p:txBody>
      </p:sp>
      <p:sp>
        <p:nvSpPr>
          <p:cNvPr id="4" name="Date Placeholder 3">
            <a:extLst>
              <a:ext uri="{FF2B5EF4-FFF2-40B4-BE49-F238E27FC236}">
                <a16:creationId xmlns:a16="http://schemas.microsoft.com/office/drawing/2014/main" id="{88EF2BEF-C76A-BA26-721E-1FD9A6C898AD}"/>
              </a:ext>
            </a:extLst>
          </p:cNvPr>
          <p:cNvSpPr>
            <a:spLocks noGrp="1"/>
          </p:cNvSpPr>
          <p:nvPr>
            <p:ph type="dt" sz="half" idx="10"/>
          </p:nvPr>
        </p:nvSpPr>
        <p:spPr/>
        <p:txBody>
          <a:bodyPr/>
          <a:lstStyle/>
          <a:p>
            <a:r>
              <a:rPr lang="en-GB"/>
              <a:t>Chapter 9 - M. Camilli, E. Di Nitto, A. Fuggetta, A. Margara, M.G. Rossi, D.A. Tamburri.  Software Engineering: a Structured Journey from Inception to Delivery. BUP 2025.</a:t>
            </a:r>
            <a:endParaRPr lang="en-US" dirty="0"/>
          </a:p>
        </p:txBody>
      </p:sp>
      <p:sp>
        <p:nvSpPr>
          <p:cNvPr id="5" name="Slide Number Placeholder 4">
            <a:extLst>
              <a:ext uri="{FF2B5EF4-FFF2-40B4-BE49-F238E27FC236}">
                <a16:creationId xmlns:a16="http://schemas.microsoft.com/office/drawing/2014/main" id="{2DA11C07-67DB-8DF1-B10D-6F5A25D015F3}"/>
              </a:ext>
            </a:extLst>
          </p:cNvPr>
          <p:cNvSpPr>
            <a:spLocks noGrp="1"/>
          </p:cNvSpPr>
          <p:nvPr>
            <p:ph type="sldNum" sz="quarter" idx="12"/>
          </p:nvPr>
        </p:nvSpPr>
        <p:spPr/>
        <p:txBody>
          <a:bodyPr/>
          <a:lstStyle/>
          <a:p>
            <a:fld id="{D204BADD-F420-F54C-BEF5-604E8EEED029}" type="slidenum">
              <a:rPr lang="en-US" smtClean="0"/>
              <a:t>29</a:t>
            </a:fld>
            <a:endParaRPr lang="en-US"/>
          </a:p>
        </p:txBody>
      </p:sp>
    </p:spTree>
    <p:extLst>
      <p:ext uri="{BB962C8B-B14F-4D97-AF65-F5344CB8AC3E}">
        <p14:creationId xmlns:p14="http://schemas.microsoft.com/office/powerpoint/2010/main" val="3557744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11217</TotalTime>
  <Words>2713</Words>
  <Application>Microsoft Macintosh PowerPoint</Application>
  <PresentationFormat>Widescreen</PresentationFormat>
  <Paragraphs>214</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STXihei</vt:lpstr>
      <vt:lpstr>Aptos</vt:lpstr>
      <vt:lpstr>Aptos Display</vt:lpstr>
      <vt:lpstr>Arial</vt:lpstr>
      <vt:lpstr>Office Theme</vt:lpstr>
      <vt:lpstr>Chapter 9:  Software Design – Basic Concepts</vt:lpstr>
      <vt:lpstr>Software Design – Basic Concepts</vt:lpstr>
      <vt:lpstr>What Is Software Design?</vt:lpstr>
      <vt:lpstr>Why design decisions matter deeply?  Case study: the Ariane 5 failure </vt:lpstr>
      <vt:lpstr>Design in the software lifecycle</vt:lpstr>
      <vt:lpstr>What is a Software Architecture?</vt:lpstr>
      <vt:lpstr>Architectural reasoning workflow</vt:lpstr>
      <vt:lpstr>Example: Surveillance System</vt:lpstr>
      <vt:lpstr>Example: Surveillance System</vt:lpstr>
      <vt:lpstr>Architecture as Multiple Structures</vt:lpstr>
      <vt:lpstr>Component-and-connector (C&amp;C) structures</vt:lpstr>
      <vt:lpstr>Description of C&amp;C structures – Informal notation</vt:lpstr>
      <vt:lpstr>Description of C&amp;C structures – UML component diagram</vt:lpstr>
      <vt:lpstr>Description of C&amp;C structures – UML sequence diagram (variant 1)</vt:lpstr>
      <vt:lpstr>Description of C&amp;C structures – UML sequence diagram (variant 2)</vt:lpstr>
      <vt:lpstr>Purpose of C&amp;C structures</vt:lpstr>
      <vt:lpstr>Module structures</vt:lpstr>
      <vt:lpstr>Description of module structures</vt:lpstr>
      <vt:lpstr>Description of module structures</vt:lpstr>
      <vt:lpstr>Purpose of module structures</vt:lpstr>
      <vt:lpstr>Deployment structure</vt:lpstr>
      <vt:lpstr>Description of deployment structure – UML deployment diagram</vt:lpstr>
      <vt:lpstr>Purpose of deployment structure</vt:lpstr>
      <vt:lpstr>Coherence between structures</vt:lpstr>
      <vt:lpstr>Implicit vs explicit architectures</vt:lpstr>
      <vt:lpstr>Implicit vs explicit architectures: example</vt:lpstr>
      <vt:lpstr>Implicit vs explicit architectures: example</vt:lpstr>
      <vt:lpstr>Implicit vs explicit architectures</vt:lpstr>
      <vt:lpstr>Ingredients of the Architecting Process</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Elisabetta Di Nitto</dc:creator>
  <cp:lastModifiedBy>Elisabetta Di Nitto</cp:lastModifiedBy>
  <cp:revision>4</cp:revision>
  <dcterms:created xsi:type="dcterms:W3CDTF">2025-05-15T11:20:47Z</dcterms:created>
  <dcterms:modified xsi:type="dcterms:W3CDTF">2026-01-23T16:55:00Z</dcterms:modified>
</cp:coreProperties>
</file>