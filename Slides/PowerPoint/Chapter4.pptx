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343" r:id="rId6"/>
    <p:sldId id="340" r:id="rId7"/>
    <p:sldId id="345" r:id="rId8"/>
    <p:sldId id="346" r:id="rId9"/>
    <p:sldId id="262" r:id="rId10"/>
    <p:sldId id="263" r:id="rId11"/>
    <p:sldId id="347" r:id="rId12"/>
    <p:sldId id="264" r:id="rId13"/>
    <p:sldId id="348" r:id="rId14"/>
    <p:sldId id="265" r:id="rId15"/>
    <p:sldId id="266" r:id="rId16"/>
    <p:sldId id="349" r:id="rId17"/>
    <p:sldId id="267" r:id="rId18"/>
    <p:sldId id="350" r:id="rId19"/>
    <p:sldId id="268" r:id="rId20"/>
    <p:sldId id="341" r:id="rId21"/>
    <p:sldId id="351" r:id="rId22"/>
    <p:sldId id="34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11CC26-0DDC-F74C-9610-A5AFC3939A25}" v="107" dt="2025-10-14T21:31:43.6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35"/>
    <p:restoredTop sz="94686"/>
  </p:normalViewPr>
  <p:slideViewPr>
    <p:cSldViewPr snapToGrid="0">
      <p:cViewPr varScale="1">
        <p:scale>
          <a:sx n="133" d="100"/>
          <a:sy n="133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5E4A305-5980-51C4-00CE-A1E53A478C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C708C23-44BA-83EE-805A-FA7D5AC43C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74D2014-878F-FF20-787E-1D8B6C11D5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2EB2575-90E9-434C-12F2-9D91826682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5503364-8263-0069-3E15-E53AA0FF60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E864F53-95E2-27F6-7EA4-B017856047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8B43AA4-1E44-6DFE-BF73-0153DA219E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46854FA-170D-685D-1287-0C3212C8DC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E73371F-ED2D-3D2D-E868-196FF8A3C5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88B0B06-D280-3222-7446-AB54F002D4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207AFF0-B925-74CB-DFC0-13BDE847CA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Chapter 4: </a:t>
            </a:r>
            <a:br>
              <a:rPr lang="en-GB" dirty="0"/>
            </a:br>
            <a:r>
              <a:rPr lang="en-GB" dirty="0"/>
              <a:t>Unified </a:t>
            </a:r>
            <a:r>
              <a:rPr lang="en-GB" dirty="0" err="1"/>
              <a:t>Modeling</a:t>
            </a:r>
            <a:r>
              <a:rPr lang="en-GB" dirty="0"/>
              <a:t> Language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 and Nature of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UML</a:t>
            </a:r>
            <a:r>
              <a:rPr dirty="0"/>
              <a:t> is a semi-formal notation used to describe both problems and software solutions</a:t>
            </a:r>
          </a:p>
          <a:p>
            <a:pPr lvl="0"/>
            <a:r>
              <a:rPr dirty="0"/>
              <a:t>It is heavily based on the </a:t>
            </a:r>
            <a:r>
              <a:rPr b="1" dirty="0"/>
              <a:t>object-oriented paradigm</a:t>
            </a:r>
            <a:endParaRPr dirty="0"/>
          </a:p>
          <a:p>
            <a:pPr lvl="0"/>
            <a:r>
              <a:rPr b="1" dirty="0"/>
              <a:t>Standardization</a:t>
            </a:r>
            <a:r>
              <a:rPr dirty="0"/>
              <a:t>: Maintained by the Object Management Group (OMG)</a:t>
            </a:r>
            <a:endParaRPr lang="it-IT" dirty="0"/>
          </a:p>
          <a:p>
            <a:pPr lvl="0"/>
            <a:r>
              <a:rPr b="1"/>
              <a:t>Flexibility</a:t>
            </a:r>
            <a:r>
              <a:rPr dirty="0"/>
              <a:t>: UML does not impose a strict way to use diagrams</a:t>
            </a:r>
            <a:endParaRPr lang="it-IT" dirty="0"/>
          </a:p>
          <a:p>
            <a:pPr lvl="1"/>
            <a:r>
              <a:rPr dirty="0"/>
              <a:t>modelers select combinations that align with their specific objectives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8EB76-7A46-8C1C-AC12-D684DC01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D59B3-948D-D67F-065B-50B6500A8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Categories of UML Diagrams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C80EA-2598-20F7-A3FF-283DA6F2B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8" name="Picture 7" descr="Several diagrams of different types of diagrams&#10;&#10;AI-generated content may be incorrect.">
            <a:extLst>
              <a:ext uri="{FF2B5EF4-FFF2-40B4-BE49-F238E27FC236}">
                <a16:creationId xmlns:a16="http://schemas.microsoft.com/office/drawing/2014/main" id="{0EE544D9-6941-8DAB-ACD2-DC3AD1354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50" y="1484306"/>
            <a:ext cx="7581900" cy="46609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46FC37-C900-4505-B66A-01D90FE39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Diagrams: Classes and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Class</a:t>
            </a:r>
            <a:r>
              <a:rPr dirty="0"/>
              <a:t>: Represents a set of entities (objects) with shared characteristics</a:t>
            </a:r>
          </a:p>
          <a:p>
            <a:pPr lvl="0"/>
            <a:r>
              <a:rPr b="1" dirty="0"/>
              <a:t>Attributes</a:t>
            </a:r>
            <a:r>
              <a:rPr dirty="0"/>
              <a:t> are qualified by properties</a:t>
            </a:r>
          </a:p>
          <a:p>
            <a:pPr lvl="1"/>
            <a:r>
              <a:rPr b="1" dirty="0"/>
              <a:t>Name</a:t>
            </a:r>
            <a:r>
              <a:rPr dirty="0"/>
              <a:t>: Only mandatory property.</a:t>
            </a:r>
          </a:p>
          <a:p>
            <a:pPr lvl="1"/>
            <a:r>
              <a:rPr b="1" dirty="0"/>
              <a:t>Visibility</a:t>
            </a:r>
            <a:r>
              <a:rPr dirty="0"/>
              <a:t>: Public (+), Protected (#), or Private (-).</a:t>
            </a:r>
          </a:p>
          <a:p>
            <a:pPr lvl="1"/>
            <a:r>
              <a:rPr b="1" dirty="0"/>
              <a:t>Type</a:t>
            </a:r>
            <a:r>
              <a:rPr dirty="0"/>
              <a:t> (e.g., int, string) and </a:t>
            </a:r>
            <a:r>
              <a:rPr b="1" dirty="0"/>
              <a:t>Multiplicity</a:t>
            </a:r>
            <a:r>
              <a:rPr dirty="0"/>
              <a:t> (e.g., [1..3]).</a:t>
            </a:r>
          </a:p>
          <a:p>
            <a:pPr lvl="0"/>
            <a:r>
              <a:rPr b="1" dirty="0"/>
              <a:t>Operations</a:t>
            </a:r>
            <a:r>
              <a:rPr dirty="0"/>
              <a:t>: Actions performed on instances, specifying parameters (in, out, </a:t>
            </a:r>
            <a:r>
              <a:rPr dirty="0" err="1"/>
              <a:t>inout</a:t>
            </a:r>
            <a:r>
              <a:rPr dirty="0"/>
              <a:t>) and return types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D3736-262F-6417-99E4-3F288569D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006C3-D3C8-46C7-D4DE-40C89755F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7047-1EFB-EE6A-9E42-274A33D7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Example of class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74441-4FD6-8838-D166-5474A1DB4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877579-4EC9-4D70-8AB6-D0A47C577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54" y="1871857"/>
            <a:ext cx="9942091" cy="345170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3CDDC5-6866-60F8-72ED-6B86C000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22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Diagrams: Associations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Multiplicity</a:t>
            </a:r>
            <a:r>
              <a:rPr dirty="0"/>
              <a:t>: Indicates the number of instances involved (e.g., 1, 0..*, 1..n)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86C10-3671-FCBE-6EBE-2B04070D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145530-1378-1EB3-3ED1-982E36CAF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375" y="3068551"/>
            <a:ext cx="8853249" cy="162988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04A99-F49E-A25A-9B41-47B1325A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66863-059F-4438-DEB2-7821F028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0281-D82C-C351-4A82-0D8E199BC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Diagrams: Associations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FE872-CD94-7914-D5BC-7BE250F68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Navigability</a:t>
            </a:r>
            <a:r>
              <a:rPr dirty="0"/>
              <a:t>: Defines the direction in which access is possible (represented by an arrow)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FE1D1-B96D-C979-977D-8C7713B2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58B0C1-54C5-48C0-78B3-69BD420C3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98" y="3140218"/>
            <a:ext cx="4289425" cy="1266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DCC1C7-F3DF-F1DE-3E8F-47CFAAB62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177" y="3140218"/>
            <a:ext cx="4467225" cy="1266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B86A8F-2183-BCB3-E028-9B033E5F2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937" y="4658590"/>
            <a:ext cx="4556125" cy="126682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8C8E52-61F3-46E3-0E16-1877DE3C0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42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710AA-EB80-1521-369D-76B4D9EC1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5528-F22F-DBD6-E19E-DBD20427F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Diagrams: Associations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36053-0339-2579-3075-AC538751C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N-</a:t>
            </a:r>
            <a:r>
              <a:rPr b="1" dirty="0" err="1"/>
              <a:t>ary</a:t>
            </a:r>
            <a:r>
              <a:rPr b="1" dirty="0"/>
              <a:t> Associations</a:t>
            </a:r>
            <a:r>
              <a:rPr dirty="0"/>
              <a:t>: Involve more than two classes to prevent loss of information</a:t>
            </a:r>
            <a:endParaRPr lang="it-IT" dirty="0"/>
          </a:p>
          <a:p>
            <a:pPr lvl="0"/>
            <a:endParaRPr lang="en-IT" dirty="0"/>
          </a:p>
          <a:p>
            <a:pPr lvl="0"/>
            <a:endParaRPr lang="en-IT" dirty="0"/>
          </a:p>
          <a:p>
            <a:pPr lvl="0"/>
            <a:endParaRPr lang="en-IT" dirty="0"/>
          </a:p>
          <a:p>
            <a:pPr lvl="0"/>
            <a:endParaRPr lang="en-IT" dirty="0"/>
          </a:p>
          <a:p>
            <a:pPr lvl="0"/>
            <a:endParaRPr dirty="0"/>
          </a:p>
          <a:p>
            <a:pPr lvl="0"/>
            <a:r>
              <a:rPr b="1" dirty="0"/>
              <a:t>Reflexive Associations</a:t>
            </a:r>
            <a:r>
              <a:rPr dirty="0"/>
              <a:t>: Instances involved belong to the same class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F4BE4-F09A-574B-EAC9-D86356DC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18949-5091-9868-ACB1-165AFF4F3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86" y="2958480"/>
            <a:ext cx="7551627" cy="195782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10C73-B8E0-8DA0-F55A-B5D1F0E2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30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Aggregation vs. 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Aggregation</a:t>
            </a:r>
          </a:p>
          <a:p>
            <a:pPr lvl="0"/>
            <a:r>
              <a:rPr dirty="0"/>
              <a:t>Weak form of association</a:t>
            </a:r>
          </a:p>
          <a:p>
            <a:pPr lvl="0"/>
            <a:r>
              <a:rPr dirty="0"/>
              <a:t>Parts can exist independently of the whole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8F6F56-1350-FAFF-77E7-C9F391E2BC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Composition</a:t>
            </a:r>
          </a:p>
          <a:p>
            <a:pPr lvl="0"/>
            <a:r>
              <a:rPr lang="en-GB" dirty="0"/>
              <a:t>Strong relationship</a:t>
            </a:r>
          </a:p>
          <a:p>
            <a:pPr lvl="0"/>
            <a:r>
              <a:rPr lang="en-GB" dirty="0"/>
              <a:t>Part is tightly bound; life cycle depends on the whole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B53D3-3D47-0673-5FA8-E22E823C9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3C4633-D32F-D03F-90C2-073A91A46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30" y="4278430"/>
            <a:ext cx="10086340" cy="8686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0FE26-CB01-F4BA-CBFB-155B054A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Generalization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b="1" dirty="0"/>
              <a:t>Generalization</a:t>
            </a:r>
            <a:r>
              <a:rPr dirty="0"/>
              <a:t>: Models </a:t>
            </a:r>
            <a:r>
              <a:rPr i="1" dirty="0"/>
              <a:t>is-a</a:t>
            </a:r>
            <a:r>
              <a:rPr dirty="0"/>
              <a:t> relationships (inheritance) where child classes inherit attributes and operations from parents</a:t>
            </a:r>
          </a:p>
          <a:p>
            <a:pPr lvl="0"/>
            <a:r>
              <a:rPr b="1" dirty="0"/>
              <a:t>Abstract Classes</a:t>
            </a:r>
            <a:r>
              <a:rPr dirty="0"/>
              <a:t>: </a:t>
            </a:r>
            <a:r>
              <a:rPr lang="en-GB" dirty="0"/>
              <a:t>cannot be instantiated directly and serve as blueprints</a:t>
            </a:r>
            <a:endParaRPr lang="it-IT" dirty="0"/>
          </a:p>
          <a:p>
            <a:pPr lvl="1"/>
            <a:r>
              <a:rPr lang="en-GB" dirty="0"/>
              <a:t>Marked in </a:t>
            </a:r>
            <a:r>
              <a:rPr lang="en-GB" i="1" dirty="0"/>
              <a:t>italics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C3BEB-B6A7-DE2B-3A94-5FAD8AFAC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C97FF9-3940-280E-7A75-D0ECFDC7B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592" y="1690688"/>
            <a:ext cx="3483210" cy="415389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DBB5F-F7AD-27B8-E69A-93A7B702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70FD-9E93-9689-01B7-EFF8A7F70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D812B-31F1-66B8-6807-7477A609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A3E8B-E238-6EA3-6FE0-CD98A8D4A9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b="1" dirty="0"/>
              <a:t>Interfaces</a:t>
            </a:r>
            <a:r>
              <a:rPr dirty="0"/>
              <a:t>: Define a contract of operations using the </a:t>
            </a:r>
            <a:r>
              <a:rPr b="1" dirty="0"/>
              <a:t>«interface»</a:t>
            </a:r>
            <a:r>
              <a:rPr dirty="0"/>
              <a:t> stereotype</a:t>
            </a:r>
          </a:p>
          <a:p>
            <a:pPr lvl="0"/>
            <a:r>
              <a:rPr b="1" dirty="0"/>
              <a:t>Interface Realization</a:t>
            </a:r>
            <a:r>
              <a:rPr dirty="0"/>
              <a:t>: A class provides concrete implementations for interface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16EF1-96DA-F22A-C489-033EEFC8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2BC40C-6814-0902-493B-1C6004D48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083" y="1978249"/>
            <a:ext cx="3619969" cy="290150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EA480-2E04-A02E-9F5E-E06F929DA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243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Package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Package Diagrams</a:t>
            </a:r>
            <a:r>
              <a:rPr dirty="0"/>
              <a:t>: Organize related elements</a:t>
            </a:r>
            <a:endParaRPr lang="it-IT" dirty="0"/>
          </a:p>
          <a:p>
            <a:pPr lvl="0"/>
            <a:r>
              <a:rPr dirty="0"/>
              <a:t>Common dependencies include </a:t>
            </a:r>
            <a:r>
              <a:rPr b="1" dirty="0"/>
              <a:t>«use»</a:t>
            </a:r>
            <a:r>
              <a:rPr dirty="0"/>
              <a:t>, </a:t>
            </a:r>
            <a:r>
              <a:rPr b="1" dirty="0"/>
              <a:t>«merge»</a:t>
            </a:r>
            <a:r>
              <a:rPr dirty="0"/>
              <a:t>, </a:t>
            </a:r>
            <a:r>
              <a:rPr b="1" dirty="0"/>
              <a:t>«import»</a:t>
            </a:r>
            <a:r>
              <a:rPr dirty="0"/>
              <a:t>, and </a:t>
            </a:r>
            <a:r>
              <a:rPr b="1" dirty="0"/>
              <a:t>«access»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56FB0-5E0E-969F-7D56-212F20127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C32016-C574-780C-F3AD-862BFE14D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929" y="3070459"/>
            <a:ext cx="8598042" cy="29410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3EA0C-397E-362A-280D-5BEC01DE4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84E91-91E1-B43C-5970-AF97489E7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84A0C-F340-5993-FB01-BA87CE8BB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Component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BD02D-349B-F599-6F58-07E464B70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Component Diagrams</a:t>
            </a:r>
            <a:r>
              <a:rPr dirty="0"/>
              <a:t>: Represent modular parts of a system</a:t>
            </a:r>
          </a:p>
          <a:p>
            <a:pPr lvl="0"/>
            <a:r>
              <a:rPr b="1" dirty="0"/>
              <a:t>Interaction</a:t>
            </a:r>
            <a:r>
              <a:rPr dirty="0"/>
              <a:t>: Occurs through </a:t>
            </a:r>
            <a:r>
              <a:rPr b="1" dirty="0"/>
              <a:t>ports</a:t>
            </a:r>
            <a:r>
              <a:rPr dirty="0"/>
              <a:t> using </a:t>
            </a:r>
            <a:r>
              <a:rPr b="1" dirty="0"/>
              <a:t>provided interfaces</a:t>
            </a:r>
            <a:r>
              <a:rPr dirty="0"/>
              <a:t> (lollipop symbol) and </a:t>
            </a:r>
            <a:r>
              <a:rPr b="1" dirty="0"/>
              <a:t>required interfaces</a:t>
            </a:r>
            <a:r>
              <a:rPr dirty="0"/>
              <a:t> (socket symbol)</a:t>
            </a:r>
          </a:p>
          <a:p>
            <a:pPr lvl="0"/>
            <a:r>
              <a:rPr b="1" dirty="0"/>
              <a:t>Delegation</a:t>
            </a:r>
            <a:r>
              <a:rPr dirty="0"/>
              <a:t>: Connects external interfaces to internal parts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F5E8C-9D3F-2BA3-FB6F-754FB3EF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5982FA-3E72-1024-14D4-7508AE9CB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753" y="3794711"/>
            <a:ext cx="9866494" cy="238225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BB9DE-D90F-A28B-7E15-9CECFB8C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17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dirty="0"/>
              <a:t>Illustrate how software components are deployed on physical processing nodes</a:t>
            </a:r>
          </a:p>
          <a:p>
            <a:pPr lvl="0"/>
            <a:r>
              <a:rPr b="1" dirty="0"/>
              <a:t>Node Types</a:t>
            </a:r>
            <a:r>
              <a:rPr dirty="0"/>
              <a:t>:</a:t>
            </a:r>
          </a:p>
          <a:p>
            <a:pPr lvl="1"/>
            <a:r>
              <a:rPr b="1" dirty="0"/>
              <a:t>Device</a:t>
            </a:r>
            <a:r>
              <a:rPr dirty="0"/>
              <a:t>: Hardware</a:t>
            </a:r>
            <a:endParaRPr lang="it-IT" dirty="0"/>
          </a:p>
          <a:p>
            <a:pPr lvl="2"/>
            <a:r>
              <a:rPr dirty="0"/>
              <a:t>e.g., PC, Server</a:t>
            </a:r>
          </a:p>
          <a:p>
            <a:pPr lvl="1"/>
            <a:r>
              <a:rPr b="1" dirty="0"/>
              <a:t>Execution Environment</a:t>
            </a:r>
            <a:r>
              <a:rPr dirty="0"/>
              <a:t>: Software infrastructure</a:t>
            </a:r>
            <a:endParaRPr lang="it-IT" dirty="0"/>
          </a:p>
          <a:p>
            <a:pPr lvl="2"/>
            <a:r>
              <a:rPr dirty="0"/>
              <a:t>e.g., Docker</a:t>
            </a:r>
          </a:p>
          <a:p>
            <a:pPr lvl="0"/>
            <a:r>
              <a:rPr b="1" dirty="0"/>
              <a:t>Communication Paths</a:t>
            </a:r>
            <a:r>
              <a:rPr dirty="0"/>
              <a:t>: Lines between nodes</a:t>
            </a:r>
            <a:endParaRPr lang="it-IT" dirty="0"/>
          </a:p>
          <a:p>
            <a:pPr lvl="1"/>
            <a:r>
              <a:rPr dirty="0"/>
              <a:t>often labeled with protocols like HTTP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E58B2-683A-C7E7-A2A3-9F268AE03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8F2B40-EE3C-7B5E-4517-DD577C678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873168"/>
            <a:ext cx="5906992" cy="225625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0BFD6-8739-9223-9AF0-27AA0B29B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Describe actions (</a:t>
            </a:r>
            <a:r>
              <a:rPr b="1" dirty="0"/>
              <a:t>use cases</a:t>
            </a:r>
            <a:r>
              <a:rPr dirty="0"/>
              <a:t>) performed by a system in collaboration with external </a:t>
            </a:r>
            <a:r>
              <a:rPr b="1" dirty="0"/>
              <a:t>actors</a:t>
            </a:r>
            <a:endParaRPr dirty="0"/>
          </a:p>
          <a:p>
            <a:pPr lvl="0"/>
            <a:r>
              <a:rPr b="1" dirty="0"/>
              <a:t>Actors</a:t>
            </a:r>
            <a:r>
              <a:rPr dirty="0"/>
              <a:t>: Can be people or other systems; they interact with the subject but are usually external to it</a:t>
            </a:r>
          </a:p>
          <a:p>
            <a:pPr lvl="0"/>
            <a:r>
              <a:rPr b="1" dirty="0"/>
              <a:t>Relationships</a:t>
            </a:r>
            <a:r>
              <a:rPr dirty="0"/>
              <a:t>:</a:t>
            </a:r>
          </a:p>
          <a:p>
            <a:pPr lvl="1"/>
            <a:r>
              <a:rPr b="1" dirty="0"/>
              <a:t>Inclusion («include»)</a:t>
            </a:r>
            <a:r>
              <a:rPr dirty="0"/>
              <a:t>: Mandatory for the base use case to function</a:t>
            </a:r>
          </a:p>
          <a:p>
            <a:pPr lvl="1"/>
            <a:r>
              <a:rPr b="1" dirty="0"/>
              <a:t>Extension («extend»)</a:t>
            </a:r>
            <a:r>
              <a:rPr dirty="0"/>
              <a:t>: Optional behavior triggered by specific extension points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CAF1D-7D08-ED0B-4DBA-CCCFBC310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2EE22-74E4-E457-EE50-B303CEE5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F1DC-18DF-1040-DB6E-E91F40229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Example of Use Case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31634-1CDE-EC03-86E8-9F576CB37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F49171-1792-92FB-8CB7-F4CA9D6E1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712" y="1690688"/>
            <a:ext cx="8906576" cy="420239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D58B49-5AFB-08C6-E449-DC590C4F8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345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Describe workflows and procedures using </a:t>
            </a:r>
            <a:r>
              <a:rPr b="1" dirty="0"/>
              <a:t>action nodes</a:t>
            </a:r>
            <a:r>
              <a:rPr dirty="0"/>
              <a:t> and </a:t>
            </a:r>
            <a:r>
              <a:rPr b="1" dirty="0"/>
              <a:t>arcs</a:t>
            </a:r>
            <a:endParaRPr dirty="0"/>
          </a:p>
          <a:p>
            <a:pPr lvl="0"/>
            <a:r>
              <a:rPr b="1" dirty="0"/>
              <a:t>Control Nodes</a:t>
            </a:r>
            <a:r>
              <a:rPr dirty="0"/>
              <a:t>:</a:t>
            </a:r>
          </a:p>
          <a:p>
            <a:pPr lvl="1"/>
            <a:r>
              <a:rPr b="1" dirty="0"/>
              <a:t>Fork / Join</a:t>
            </a:r>
            <a:r>
              <a:rPr dirty="0"/>
              <a:t>: Initiate and synchronize parallel flows</a:t>
            </a:r>
          </a:p>
          <a:p>
            <a:pPr lvl="1"/>
            <a:r>
              <a:rPr b="1" dirty="0"/>
              <a:t>Decision / Merge</a:t>
            </a:r>
            <a:r>
              <a:rPr dirty="0"/>
              <a:t>: Represent conditional branches and convergence</a:t>
            </a:r>
          </a:p>
          <a:p>
            <a:pPr lvl="0"/>
            <a:r>
              <a:rPr b="1" dirty="0" err="1"/>
              <a:t>Swimlanes</a:t>
            </a:r>
            <a:r>
              <a:rPr dirty="0"/>
              <a:t>: Identify actors responsible for specific actions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0A57E-D38D-014B-F84C-05CD96FEC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04127-F97C-0867-2C27-4E58C6CD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4434E-F1DA-8CB2-98C4-05CFE2EE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Example of Activity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AAD84-A0C7-925A-A301-21FC7CF2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3C0F0F-7EDF-FD58-C470-A6A1ED6DE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336" y="1941130"/>
            <a:ext cx="8735328" cy="35933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780D84-8DC4-E9BD-D236-6E66648B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19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Machine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132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dirty="0"/>
              <a:t>Describe states an entity occupies and the </a:t>
            </a:r>
            <a:r>
              <a:rPr b="1" dirty="0"/>
              <a:t>transitions</a:t>
            </a:r>
            <a:r>
              <a:rPr dirty="0"/>
              <a:t> between them</a:t>
            </a:r>
          </a:p>
          <a:p>
            <a:pPr lvl="0"/>
            <a:r>
              <a:rPr b="1" dirty="0"/>
              <a:t>Transitions</a:t>
            </a:r>
            <a:r>
              <a:rPr dirty="0"/>
              <a:t> are annotated as </a:t>
            </a:r>
            <a:r>
              <a:rPr i="1" dirty="0"/>
              <a:t>event [condition] / action</a:t>
            </a:r>
            <a:endParaRPr dirty="0"/>
          </a:p>
          <a:p>
            <a:pPr lvl="0"/>
            <a:r>
              <a:rPr b="1" dirty="0"/>
              <a:t>Advanced States</a:t>
            </a:r>
            <a:r>
              <a:rPr dirty="0"/>
              <a:t>:</a:t>
            </a:r>
          </a:p>
          <a:p>
            <a:pPr lvl="1"/>
            <a:r>
              <a:rPr b="1" dirty="0"/>
              <a:t>Superstate</a:t>
            </a:r>
            <a:r>
              <a:rPr dirty="0"/>
              <a:t>: Composite state containing a submachine</a:t>
            </a:r>
          </a:p>
          <a:p>
            <a:pPr lvl="1"/>
            <a:r>
              <a:rPr b="1" dirty="0"/>
              <a:t>Concurrent State</a:t>
            </a:r>
            <a:r>
              <a:rPr dirty="0"/>
              <a:t>: Superstate where multiple submachines are active simultaneously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28F8C-B771-716D-2262-AEBEAA0F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FA97E6-A3E8-3CEA-AAC9-04F04AA68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983" y="4138863"/>
            <a:ext cx="6992034" cy="210529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22FED-F115-F832-AE81-C4AD929F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Describe interactions between objects as a sequence over time</a:t>
            </a:r>
          </a:p>
          <a:p>
            <a:pPr lvl="0"/>
            <a:r>
              <a:rPr b="1" dirty="0"/>
              <a:t>Lifeline</a:t>
            </a:r>
            <a:r>
              <a:rPr dirty="0"/>
              <a:t>: Represents the existence of an object.</a:t>
            </a:r>
          </a:p>
          <a:p>
            <a:pPr lvl="0"/>
            <a:r>
              <a:rPr b="1" dirty="0"/>
              <a:t>Messages</a:t>
            </a:r>
            <a:r>
              <a:rPr dirty="0"/>
              <a:t>:</a:t>
            </a:r>
          </a:p>
          <a:p>
            <a:pPr lvl="1"/>
            <a:r>
              <a:rPr b="1" dirty="0"/>
              <a:t>Synchronous</a:t>
            </a:r>
            <a:r>
              <a:rPr dirty="0"/>
              <a:t>: Caller waits for a response</a:t>
            </a:r>
          </a:p>
          <a:p>
            <a:pPr lvl="1"/>
            <a:r>
              <a:rPr b="1" dirty="0"/>
              <a:t>Asynchronous</a:t>
            </a:r>
            <a:r>
              <a:rPr dirty="0"/>
              <a:t>: Caller continues without waiting</a:t>
            </a:r>
          </a:p>
          <a:p>
            <a:pPr lvl="0"/>
            <a:r>
              <a:rPr b="1" dirty="0"/>
              <a:t>Frames</a:t>
            </a:r>
            <a:r>
              <a:rPr dirty="0"/>
              <a:t>: Group messages using operators such as </a:t>
            </a:r>
            <a:r>
              <a:rPr b="1" dirty="0"/>
              <a:t>loop</a:t>
            </a:r>
            <a:r>
              <a:rPr dirty="0"/>
              <a:t>, </a:t>
            </a:r>
            <a:r>
              <a:rPr b="1" dirty="0"/>
              <a:t>alt</a:t>
            </a:r>
            <a:r>
              <a:rPr dirty="0"/>
              <a:t>, and </a:t>
            </a:r>
            <a:r>
              <a:rPr b="1" dirty="0"/>
              <a:t>opt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F7244-F151-5768-1AF2-2A6785A7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29E710-573B-20BE-9B92-321262D8E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61BA-183A-626D-1832-06759AC8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Example of Sequence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61451-E065-5B64-4F01-CC000F4F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910FE5-D111-33F0-3A1B-2B436D2F3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404" y="1631483"/>
            <a:ext cx="6991192" cy="438430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BB9F64-686E-D06D-E91E-A54FD219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04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UML provides multiple perspectives on a system</a:t>
            </a:r>
          </a:p>
          <a:p>
            <a:pPr lvl="0"/>
            <a:r>
              <a:rPr dirty="0"/>
              <a:t>No single diagram is superior;</a:t>
            </a:r>
            <a:endParaRPr lang="it-IT" dirty="0"/>
          </a:p>
          <a:p>
            <a:pPr lvl="1"/>
            <a:r>
              <a:rPr dirty="0"/>
              <a:t>diagrams are used in combination to model application domains, requirements, and software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D144B-4C7E-3311-5F30-44DC98A7A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4 -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DCBB1-1564-0B28-17FB-7001671E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6099</TotalTime>
  <Words>1692</Words>
  <Application>Microsoft Macintosh PowerPoint</Application>
  <PresentationFormat>Widescreen</PresentationFormat>
  <Paragraphs>133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Chapter 4:  Unified Modeling Language</vt:lpstr>
      <vt:lpstr>Origin and Nature of UML</vt:lpstr>
      <vt:lpstr>Categories of UML Diagrams</vt:lpstr>
      <vt:lpstr>Class Diagrams: Classes and Attributes</vt:lpstr>
      <vt:lpstr>Example of class</vt:lpstr>
      <vt:lpstr>Class Diagrams: Associations</vt:lpstr>
      <vt:lpstr>Class Diagrams: Associations</vt:lpstr>
      <vt:lpstr>Class Diagrams: Associations</vt:lpstr>
      <vt:lpstr>Aggregation vs. Composition</vt:lpstr>
      <vt:lpstr>Generalization</vt:lpstr>
      <vt:lpstr>Interfaces</vt:lpstr>
      <vt:lpstr>Package Diagrams</vt:lpstr>
      <vt:lpstr>Component Diagrams</vt:lpstr>
      <vt:lpstr>Deployment Diagrams</vt:lpstr>
      <vt:lpstr>Use Case Diagrams</vt:lpstr>
      <vt:lpstr>Example of Use Case Diagram</vt:lpstr>
      <vt:lpstr>Activity Diagrams</vt:lpstr>
      <vt:lpstr>Example of Activity Diagram</vt:lpstr>
      <vt:lpstr>State Machine Diagrams</vt:lpstr>
      <vt:lpstr>Sequence Diagrams</vt:lpstr>
      <vt:lpstr>Example of Sequence Diagram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Matteo G. Rossi</cp:lastModifiedBy>
  <cp:revision>64</cp:revision>
  <dcterms:created xsi:type="dcterms:W3CDTF">2025-05-15T11:20:47Z</dcterms:created>
  <dcterms:modified xsi:type="dcterms:W3CDTF">2026-01-03T16:38:17Z</dcterms:modified>
</cp:coreProperties>
</file>