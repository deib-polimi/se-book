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260" r:id="rId4"/>
    <p:sldId id="323" r:id="rId5"/>
    <p:sldId id="262" r:id="rId6"/>
    <p:sldId id="263" r:id="rId7"/>
    <p:sldId id="264" r:id="rId8"/>
    <p:sldId id="265" r:id="rId9"/>
    <p:sldId id="324" r:id="rId10"/>
    <p:sldId id="325" r:id="rId11"/>
    <p:sldId id="266" r:id="rId12"/>
    <p:sldId id="267" r:id="rId13"/>
    <p:sldId id="326" r:id="rId14"/>
    <p:sldId id="32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11CC26-0DDC-F74C-9610-A5AFC3939A25}" v="107" dt="2025-10-14T21:31:43.6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25"/>
    <p:restoredTop sz="94648"/>
  </p:normalViewPr>
  <p:slideViewPr>
    <p:cSldViewPr snapToGrid="0">
      <p:cViewPr varScale="1">
        <p:scale>
          <a:sx n="158" d="100"/>
          <a:sy n="158" d="100"/>
        </p:scale>
        <p:origin x="21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A6552-0A6C-D244-A2C8-B478F33B238A}" type="datetimeFigureOut">
              <a:rPr lang="en-US" smtClean="0"/>
              <a:t>1/3/26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40C50-DB3F-694F-A5EA-834EAC917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0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3BC2B-6CDA-72E2-229B-18DEF391F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613BC-7CB8-5A38-CD30-2C58A648B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7053D-FB66-9EF0-41B9-05675F1D8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5E4A305-5980-51C4-00CE-A1E53A478C1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797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765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9C6C1-E6BA-4617-CEA1-A46333E5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A5070-78BD-D7FC-3836-A86EAF520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56B37-1922-E8D3-885A-1BEDCB2C3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EE563-D749-E1BC-79F7-18DBB9ADC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C708C23-44BA-83EE-805A-FA7D5AC43C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6067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53B9-9588-F242-424C-FCBB884F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0FA4E-8AC2-FBC2-6505-59158EC90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E71F0-A64A-9841-1C40-6F5056C75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3019A-A54C-4805-AC3B-89DFDA94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74D2014-878F-FF20-787E-1D8B6C11D57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161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4EC80-0B57-11D7-6A08-DA72C26DB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99C45-27E0-950B-DC56-288361357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FEE44-6404-140F-5A0B-666C29959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3AA74-7D0B-6A68-C6F1-58669BD5E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35119-2D05-18ED-1F86-7B52DBC9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32EB2575-90E9-434C-12F2-9D91826682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1792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79FF7-A942-3ABB-E89F-C11FE71A6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B25CB-87EE-7F13-C2E5-98AEFE3A0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1A3B3-B0C2-D253-5839-21704BC92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F3FF5C-DC76-BE96-FF09-1D64C4C20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E43628-B25A-5FA2-726A-C013AEF1F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CB1D8-8615-69BE-A5AC-84686035C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28A28F-B43E-6906-568E-3DE2F621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25503364-8263-0069-3E15-E53AA0FF60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937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300EA-D986-DFE9-8606-5412B250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319164-4796-E83E-B99E-763DDB92E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1A88B-6D57-DFC8-99F7-A2961B377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E864F53-95E2-27F6-7EA4-B017856047C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959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42A436-0A8C-6244-CE2E-050985EC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07374-4A63-ABE6-3E1E-6AAAA27B4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8B43AA4-1E44-6DFE-BF73-0153DA219E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483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78E67-882E-9559-4DC2-620237B00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7F3FA-6A4E-B9A6-59F4-5716FADED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B5F38-CD1E-152F-206F-9B75CE019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44107-E234-3C60-AC0C-094462929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6735C-C2AF-213F-7E15-6C8911E07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E46854FA-170D-685D-1287-0C3212C8DC4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252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652A8-28B3-1332-FFCA-4F93330C2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6512B4-F468-3058-3490-9303023C0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A5CBC0-DBE9-B3FB-9FD1-DD37BA890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C05A0-55BA-F897-9634-005771C15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E172D-4AC8-7CF1-F3B6-457AA865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EE73371F-ED2D-3D2D-E868-196FF8A3C5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942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B8E8-F679-8710-D25A-4D0574896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589DAA-8279-691A-D5BF-F5C892E67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C9042-AEE3-BD22-0364-B68E58C9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EF517-351F-E660-6564-F4A1D829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88B0B06-D280-3222-7446-AB54F002D4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467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4BD917-C4A5-7822-91C2-F4F96DE15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E0A98C-EF04-BC3B-CF4A-B93A2E36E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9D545-B6AE-6057-9E2E-C7C224667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4EF9-342D-74DD-C592-195AD2BAD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207AFF0-B925-74CB-DFC0-13BDE847CA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4004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F49B1-067C-B555-26D2-ABA3FE399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BAAED-978F-CD12-11C3-500EA5002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F1C8E-C17C-A942-A064-333E0C969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0"/>
            <a:ext cx="7699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FB1A4-8411-5ABB-AC32-FD865BAB7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5802" y="6356350"/>
            <a:ext cx="10179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85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8E8F-6B80-712E-4BC4-802945BDC2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Chapter 7: </a:t>
            </a:r>
            <a:br>
              <a:rPr lang="en-GB" dirty="0"/>
            </a:br>
            <a:r>
              <a:rPr lang="en-GB" dirty="0"/>
              <a:t>Requirements Specification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62A6B-8524-A31B-0489-93460027EC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Summary slides from</a:t>
            </a:r>
            <a:br>
              <a:rPr lang="en-GB" dirty="0"/>
            </a:br>
            <a:r>
              <a:rPr lang="en-GB" dirty="0"/>
              <a:t>M. Camilli, E. Di Nitto, A. Fuggetta, </a:t>
            </a:r>
            <a:br>
              <a:rPr lang="en-GB" dirty="0"/>
            </a:br>
            <a:r>
              <a:rPr lang="en-GB" dirty="0"/>
              <a:t>A. Margara, M.G. Rossi, D.A. Tamburri. Software Engineering: a Structured Journey from Inception to Delivery. BUP 2025.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450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Role of Modeling in 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Models are not just abstract representations; they are essential tools for </a:t>
            </a:r>
            <a:r>
              <a:rPr b="1" dirty="0"/>
              <a:t>reasoning, communication, verification, and construction</a:t>
            </a:r>
            <a:endParaRPr dirty="0"/>
          </a:p>
          <a:p>
            <a:pPr lvl="1"/>
            <a:r>
              <a:rPr dirty="0"/>
              <a:t>They bridge the gap between informal understanding and formal development structures</a:t>
            </a:r>
          </a:p>
          <a:p>
            <a:pPr lvl="0"/>
            <a:r>
              <a:rPr b="1" dirty="0"/>
              <a:t>Goals of modeling</a:t>
            </a:r>
            <a:endParaRPr dirty="0"/>
          </a:p>
          <a:p>
            <a:pPr lvl="1"/>
            <a:r>
              <a:rPr dirty="0"/>
              <a:t>Capture requirements and domain knowledge precisely</a:t>
            </a:r>
          </a:p>
          <a:p>
            <a:pPr lvl="1"/>
            <a:r>
              <a:rPr dirty="0"/>
              <a:t>Reduce ambiguity and provide a reference point for stakeholders</a:t>
            </a:r>
          </a:p>
          <a:p>
            <a:pPr lvl="1"/>
            <a:r>
              <a:rPr dirty="0"/>
              <a:t>Identify relevant objects, agents, phenomena, goals, and domain assumptions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EA63C-1FBB-4436-9082-3A2E9D519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46A0E-47BD-D559-F37B-1AAC951E0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Spectrum of Modeling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The utility of a model depends on the choice of language</a:t>
            </a:r>
          </a:p>
          <a:p>
            <a:pPr lvl="1"/>
            <a:r>
              <a:rPr b="1" dirty="0"/>
              <a:t>Natural Language</a:t>
            </a:r>
            <a:r>
              <a:rPr dirty="0"/>
              <a:t>: Accessible and simple but inherently ambiguous and context-sensitive</a:t>
            </a:r>
          </a:p>
          <a:p>
            <a:pPr lvl="1"/>
            <a:r>
              <a:rPr b="1" dirty="0"/>
              <a:t>Formal Languages</a:t>
            </a:r>
            <a:r>
              <a:rPr dirty="0"/>
              <a:t>: Mathematical precision (e.g., </a:t>
            </a:r>
            <a:r>
              <a:rPr lang="it-IT" dirty="0" err="1"/>
              <a:t>automata</a:t>
            </a:r>
            <a:r>
              <a:rPr lang="it-IT" dirty="0"/>
              <a:t>, </a:t>
            </a:r>
            <a:r>
              <a:rPr lang="it-IT" dirty="0" err="1"/>
              <a:t>logics</a:t>
            </a:r>
            <a:r>
              <a:rPr dirty="0"/>
              <a:t>) allows for automated verification but requires expertise</a:t>
            </a:r>
          </a:p>
          <a:p>
            <a:pPr lvl="1"/>
            <a:r>
              <a:rPr lang="en-GB" b="1" dirty="0"/>
              <a:t>Semi-formal Notations</a:t>
            </a:r>
            <a:r>
              <a:rPr lang="en-GB" dirty="0"/>
              <a:t>: Graphical/textual syntax like </a:t>
            </a:r>
            <a:r>
              <a:rPr lang="en-GB" b="1" dirty="0"/>
              <a:t>UML</a:t>
            </a:r>
            <a:r>
              <a:rPr lang="en-GB" dirty="0"/>
              <a:t> limits ambiguity while remaining accessible, though it lacks full rigor for automated verification</a:t>
            </a:r>
          </a:p>
          <a:p>
            <a:r>
              <a:rPr b="1" dirty="0"/>
              <a:t>Hybrid Approach</a:t>
            </a:r>
            <a:r>
              <a:rPr dirty="0"/>
              <a:t>: Use UML for core structures, informal text for context, and formal methods for critical components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CC41F-CE98-ACCB-7DB1-12FE9053D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07EE12-9BAA-F434-7D73-BF96D6904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Formulating Natural Language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The </a:t>
            </a:r>
            <a:r>
              <a:rPr b="1" dirty="0"/>
              <a:t>ISO/IEC/IEEE 29148 standard</a:t>
            </a:r>
            <a:r>
              <a:rPr dirty="0"/>
              <a:t> provides guidelines for disciplined natural language formulation</a:t>
            </a:r>
          </a:p>
          <a:p>
            <a:r>
              <a:rPr b="1" dirty="0"/>
              <a:t>Desirable Properties of Requirements</a:t>
            </a:r>
          </a:p>
          <a:p>
            <a:pPr lvl="1"/>
            <a:r>
              <a:rPr b="1" dirty="0"/>
              <a:t>Necessary</a:t>
            </a:r>
            <a:r>
              <a:rPr dirty="0"/>
              <a:t>: Direct contribution to system goals</a:t>
            </a:r>
          </a:p>
          <a:p>
            <a:pPr lvl="1"/>
            <a:r>
              <a:rPr b="1" dirty="0"/>
              <a:t>Appropriate</a:t>
            </a:r>
            <a:r>
              <a:rPr dirty="0"/>
              <a:t>: Right level of detail; avoids design/implementation constraints</a:t>
            </a:r>
          </a:p>
          <a:p>
            <a:pPr lvl="1"/>
            <a:r>
              <a:rPr b="1" dirty="0"/>
              <a:t>Unambiguous</a:t>
            </a:r>
            <a:r>
              <a:rPr dirty="0"/>
              <a:t>: Only one possible interpretation; avoids subjective terms</a:t>
            </a:r>
          </a:p>
          <a:p>
            <a:pPr lvl="1"/>
            <a:r>
              <a:rPr b="1" dirty="0"/>
              <a:t>Correct &amp; Complete</a:t>
            </a:r>
            <a:r>
              <a:rPr dirty="0"/>
              <a:t>: Accurately states needs without missing info</a:t>
            </a:r>
          </a:p>
          <a:p>
            <a:pPr lvl="1"/>
            <a:r>
              <a:rPr b="1" dirty="0"/>
              <a:t>Singular</a:t>
            </a:r>
            <a:r>
              <a:rPr dirty="0"/>
              <a:t>: Focuses on a single feature</a:t>
            </a:r>
          </a:p>
          <a:p>
            <a:pPr lvl="1"/>
            <a:r>
              <a:rPr b="1" dirty="0"/>
              <a:t>Feasible</a:t>
            </a:r>
            <a:r>
              <a:rPr lang="it-IT" b="1" dirty="0"/>
              <a:t>: </a:t>
            </a:r>
            <a:r>
              <a:rPr lang="it-IT" dirty="0" err="1"/>
              <a:t>Possible</a:t>
            </a:r>
            <a:r>
              <a:rPr lang="it-IT" dirty="0"/>
              <a:t> to </a:t>
            </a:r>
            <a:r>
              <a:rPr lang="it-IT" dirty="0" err="1"/>
              <a:t>implement</a:t>
            </a:r>
            <a:endParaRPr lang="it-IT" dirty="0"/>
          </a:p>
          <a:p>
            <a:pPr lvl="1"/>
            <a:r>
              <a:rPr b="1" dirty="0"/>
              <a:t>Verifiable, Understandable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655E0-6FBA-EBF6-9151-A4E4E3535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33CB91-2782-B12D-A159-46ED886C4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Structured Formulation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 assess quality properties, the IEEE 29148 standard suggests specific sentence structures:</a:t>
            </a:r>
          </a:p>
          <a:p>
            <a:pPr marL="914389" lvl="1" indent="-457189">
              <a:buAutoNum type="arabicPeriod"/>
            </a:pPr>
            <a:r>
              <a:rPr b="1" dirty="0"/>
              <a:t>[Condition] [Subject] [Action] [Object] [Constraint of Action]</a:t>
            </a:r>
          </a:p>
          <a:p>
            <a:pPr marL="914389" lvl="1" indent="-457189">
              <a:buAutoNum type="arabicPeriod"/>
            </a:pPr>
            <a:r>
              <a:rPr b="1" dirty="0"/>
              <a:t>[Subject] [Action] [Constraint of Action]</a:t>
            </a:r>
          </a:p>
          <a:p>
            <a:r>
              <a:rPr b="1" dirty="0"/>
              <a:t>Example</a:t>
            </a:r>
            <a:r>
              <a:rPr lang="it-IT" b="1" dirty="0" err="1"/>
              <a:t>s</a:t>
            </a:r>
            <a:r>
              <a:rPr dirty="0"/>
              <a:t>:</a:t>
            </a:r>
            <a:endParaRPr lang="it-IT" dirty="0"/>
          </a:p>
          <a:p>
            <a:pPr lvl="1"/>
            <a:r>
              <a:rPr i="1" dirty="0"/>
              <a:t>When the system receives a new position </a:t>
            </a:r>
            <a:r>
              <a:rPr b="1" i="1" dirty="0"/>
              <a:t>[Condition]</a:t>
            </a:r>
            <a:r>
              <a:rPr i="1" dirty="0"/>
              <a:t>, it </a:t>
            </a:r>
            <a:r>
              <a:rPr b="1" i="1" dirty="0"/>
              <a:t>[Subject]</a:t>
            </a:r>
            <a:r>
              <a:rPr i="1" dirty="0"/>
              <a:t> shall update </a:t>
            </a:r>
            <a:r>
              <a:rPr b="1" i="1" dirty="0"/>
              <a:t>[Action]</a:t>
            </a:r>
            <a:r>
              <a:rPr i="1" dirty="0"/>
              <a:t> the recorded position </a:t>
            </a:r>
            <a:r>
              <a:rPr b="1" i="1" dirty="0"/>
              <a:t>[Object] </a:t>
            </a:r>
            <a:r>
              <a:rPr i="1" dirty="0"/>
              <a:t>within 2 seconds </a:t>
            </a:r>
            <a:r>
              <a:rPr b="1" i="1" dirty="0"/>
              <a:t>[Constraint</a:t>
            </a:r>
            <a:r>
              <a:rPr lang="it-IT" b="1" i="1" dirty="0"/>
              <a:t> of Action</a:t>
            </a:r>
            <a:r>
              <a:rPr b="1" i="1" dirty="0"/>
              <a:t>]</a:t>
            </a:r>
            <a:r>
              <a:rPr i="1" dirty="0"/>
              <a:t>.</a:t>
            </a:r>
            <a:endParaRPr lang="it-IT" i="1" dirty="0"/>
          </a:p>
          <a:p>
            <a:pPr lvl="1"/>
            <a:r>
              <a:rPr lang="en-GB" i="1" dirty="0"/>
              <a:t>The system </a:t>
            </a:r>
            <a:r>
              <a:rPr lang="en-GB" b="1" i="1" dirty="0"/>
              <a:t>[Subject]</a:t>
            </a:r>
            <a:r>
              <a:rPr lang="en-GB" i="1" dirty="0"/>
              <a:t> shall display resources </a:t>
            </a:r>
            <a:r>
              <a:rPr lang="en-GB" b="1" i="1" dirty="0"/>
              <a:t>[Action]</a:t>
            </a:r>
            <a:r>
              <a:rPr lang="en-GB" i="1" dirty="0"/>
              <a:t> in ascending order of identifier </a:t>
            </a:r>
            <a:r>
              <a:rPr lang="en-GB" b="1" i="1" dirty="0"/>
              <a:t>[Constraint of Action]</a:t>
            </a:r>
            <a:r>
              <a:rPr lang="en-GB" i="1" dirty="0"/>
              <a:t>.</a:t>
            </a:r>
            <a:endParaRPr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415A8-DC7F-B02A-AB15-C6D6DB19F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DF141C-012A-F4EC-6423-1195CF091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Identifying Poorly Formulated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b="1" dirty="0"/>
              <a:t>Non-Singularity</a:t>
            </a:r>
            <a:r>
              <a:rPr dirty="0"/>
              <a:t>: “</a:t>
            </a:r>
            <a:r>
              <a:rPr lang="en-GB" dirty="0"/>
              <a:t>The system shall validate and accept credit cards and cashier’s checks with high priority</a:t>
            </a:r>
            <a:r>
              <a:rPr dirty="0"/>
              <a:t>.” </a:t>
            </a:r>
            <a:endParaRPr lang="it-IT" dirty="0"/>
          </a:p>
          <a:p>
            <a:pPr lvl="1"/>
            <a:r>
              <a:rPr dirty="0"/>
              <a:t>Conflates two features</a:t>
            </a:r>
          </a:p>
          <a:p>
            <a:pPr lvl="0"/>
            <a:r>
              <a:rPr b="1" dirty="0"/>
              <a:t>Ambiguity/Unverifiability</a:t>
            </a:r>
            <a:r>
              <a:rPr dirty="0"/>
              <a:t>: “</a:t>
            </a:r>
            <a:r>
              <a:rPr lang="en-GB" dirty="0"/>
              <a:t>The system shall process all mouse clicks </a:t>
            </a:r>
            <a:r>
              <a:rPr lang="en-GB" i="1" dirty="0"/>
              <a:t>very quickly</a:t>
            </a:r>
            <a:r>
              <a:rPr lang="en-GB" dirty="0"/>
              <a:t> to ensure that users do not have to wait.</a:t>
            </a:r>
            <a:r>
              <a:rPr dirty="0"/>
              <a:t>” </a:t>
            </a:r>
            <a:endParaRPr lang="it-IT" dirty="0"/>
          </a:p>
          <a:p>
            <a:pPr lvl="1"/>
            <a:r>
              <a:rPr dirty="0"/>
              <a:t>Subjective; needs a metric like “within 100ms”.</a:t>
            </a:r>
          </a:p>
          <a:p>
            <a:pPr lvl="0"/>
            <a:r>
              <a:rPr b="1" dirty="0"/>
              <a:t>Unfeasibility</a:t>
            </a:r>
            <a:r>
              <a:rPr dirty="0"/>
              <a:t>: “</a:t>
            </a:r>
            <a:r>
              <a:rPr lang="en-GB" dirty="0"/>
              <a:t>The system should guarantee that the reserved taxi picks up the user.</a:t>
            </a:r>
            <a:r>
              <a:rPr dirty="0"/>
              <a:t>”</a:t>
            </a:r>
            <a:endParaRPr lang="it-IT" dirty="0"/>
          </a:p>
          <a:p>
            <a:pPr lvl="1"/>
            <a:r>
              <a:rPr dirty="0"/>
              <a:t>Fulfillment relies on human drivers/domain assumptions, making it a </a:t>
            </a:r>
            <a:r>
              <a:rPr b="1" dirty="0"/>
              <a:t>goal</a:t>
            </a:r>
            <a:r>
              <a:rPr dirty="0"/>
              <a:t> rather than a requirement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E471B-CCEC-1EB2-ADA5-9F0F1E784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10497D-CC0E-3FAC-6489-E412ABD8D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UML in Requirements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UML supports RE through various diagram types:</a:t>
            </a:r>
          </a:p>
          <a:p>
            <a:pPr lvl="1"/>
            <a:r>
              <a:rPr b="1" dirty="0"/>
              <a:t>Use Case Diagrams</a:t>
            </a:r>
            <a:r>
              <a:rPr dirty="0"/>
              <a:t>: Identify actors and provide functional overviews.</a:t>
            </a:r>
          </a:p>
          <a:p>
            <a:pPr lvl="1"/>
            <a:r>
              <a:rPr b="1" dirty="0"/>
              <a:t>Sequence Diagrams</a:t>
            </a:r>
            <a:r>
              <a:rPr dirty="0"/>
              <a:t>: Detail interactions between actors and the system.</a:t>
            </a:r>
          </a:p>
          <a:p>
            <a:pPr lvl="1"/>
            <a:r>
              <a:rPr b="1" dirty="0"/>
              <a:t>Activity Diagrams</a:t>
            </a:r>
            <a:r>
              <a:rPr dirty="0"/>
              <a:t>: Model workflows and alternative execution paths.</a:t>
            </a:r>
          </a:p>
          <a:p>
            <a:pPr lvl="1"/>
            <a:r>
              <a:rPr b="1" dirty="0"/>
              <a:t>Class Diagrams</a:t>
            </a:r>
            <a:r>
              <a:rPr dirty="0"/>
              <a:t>: Model domain entities and their relationships.</a:t>
            </a:r>
          </a:p>
          <a:p>
            <a:pPr lvl="1"/>
            <a:r>
              <a:rPr b="1" dirty="0"/>
              <a:t>State Machine Diagrams</a:t>
            </a:r>
            <a:r>
              <a:rPr dirty="0"/>
              <a:t>: Model state-dependent behaviors of domain entities.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66595-80C1-7476-643D-A6F7CDE89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44E0D3-8773-0BDF-93CE-8BCA4181A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Modeling 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408357" cy="4351338"/>
          </a:xfrm>
        </p:spPr>
        <p:txBody>
          <a:bodyPr/>
          <a:lstStyle/>
          <a:p>
            <a:pPr lvl="0"/>
            <a:r>
              <a:rPr b="1" dirty="0"/>
              <a:t>Use Case (UC) Diagrams</a:t>
            </a:r>
            <a:r>
              <a:rPr dirty="0"/>
              <a:t>: Represent system functions at a high level. Actors can have associations labeled </a:t>
            </a:r>
            <a:r>
              <a:rPr b="1" dirty="0"/>
              <a:t>«Initiate»</a:t>
            </a:r>
            <a:r>
              <a:rPr dirty="0"/>
              <a:t> or </a:t>
            </a:r>
            <a:r>
              <a:rPr b="1" dirty="0"/>
              <a:t>«Participate»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77D3C-B61C-AFC7-5C66-1A3A6E2FF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A2624D-AC96-0CB9-3006-352BEA6E9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329" y="831850"/>
            <a:ext cx="6273800" cy="51943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53C24C-5A20-16A7-0CCA-C642B0A9F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E6FC6-5A0C-A154-E05D-56EE99625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40174-6B89-F9C4-80D1-6A1C84C6C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Modeling Interactions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6266A-ED3A-7CD3-2C69-454095E8F6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rPr b="1" dirty="0"/>
              <a:t>Sequence Diagrams</a:t>
            </a:r>
            <a:r>
              <a:rPr dirty="0"/>
              <a:t>: Represent UCs as interactions between lifelines. At the RE level, the system is treated as a </a:t>
            </a:r>
            <a:r>
              <a:rPr b="1" dirty="0"/>
              <a:t>“black box”</a:t>
            </a:r>
            <a:r>
              <a:rPr dirty="0"/>
              <a:t>, omitting internal components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E74AE-D53D-AB1E-8C99-54991667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042901-077A-D7C2-F28B-7C1AFE05C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1244933"/>
            <a:ext cx="6129958" cy="464524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D3C72-B5FC-8F78-65FC-1B311C07D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827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B19D1-1B1E-EBBD-4F9A-061E27050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67149-033B-3F47-7E3D-BD0A278D5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Modeling Interactions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8024C-695C-5112-D6A0-E369E43B0F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012096" cy="4351338"/>
          </a:xfrm>
        </p:spPr>
        <p:txBody>
          <a:bodyPr/>
          <a:lstStyle/>
          <a:p>
            <a:pPr lvl="0"/>
            <a:r>
              <a:rPr b="1" dirty="0"/>
              <a:t>Activity Diagrams</a:t>
            </a:r>
            <a:r>
              <a:rPr dirty="0"/>
              <a:t>: Use </a:t>
            </a:r>
            <a:r>
              <a:rPr b="1" dirty="0" err="1"/>
              <a:t>swimlanes</a:t>
            </a:r>
            <a:r>
              <a:rPr dirty="0"/>
              <a:t> to group activities by actor or system, modeling complex workflows and signal</a:t>
            </a:r>
            <a:r>
              <a:rPr lang="it-IT" dirty="0" err="1"/>
              <a:t>s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34221-082E-D706-5FCD-5355ADBF4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93B1FF-FCC0-9983-FF1F-F1177D76A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960" y="1825625"/>
            <a:ext cx="6667500" cy="42164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ECF44D-B73B-8257-4D3D-777154977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300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Domain Models (Class Diagrams)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dirty="0"/>
                  <a:t>Class diagrams in RE are </a:t>
                </a:r>
                <a:r>
                  <a:rPr b="1" dirty="0"/>
                  <a:t>high-level conceptual models</a:t>
                </a:r>
                <a:r>
                  <a:rPr dirty="0"/>
                  <a:t> of the application domain</a:t>
                </a:r>
              </a:p>
              <a:p>
                <a:pPr lvl="0"/>
                <a:r>
                  <a:rPr dirty="0"/>
                  <a:t>They should be independent of implementation/software design decisions</a:t>
                </a:r>
              </a:p>
              <a:p>
                <a:pPr lvl="0"/>
                <a:r>
                  <a:rPr b="1" dirty="0"/>
                  <a:t>Systematic Analysis</a:t>
                </a:r>
                <a:endParaRPr dirty="0"/>
              </a:p>
              <a:p>
                <a:pPr lvl="1"/>
                <a:r>
                  <a:rPr b="1" dirty="0"/>
                  <a:t>Nouns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dirty="0"/>
                  <a:t> Classes, subclasses, or attributes.</a:t>
                </a:r>
              </a:p>
              <a:p>
                <a:pPr lvl="1"/>
                <a:r>
                  <a:rPr b="1" dirty="0"/>
                  <a:t>Verbs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dirty="0"/>
                  <a:t> Associations or system operations.</a:t>
                </a:r>
              </a:p>
              <a:p>
                <a:pPr lvl="0"/>
                <a:r>
                  <a:rPr b="1" dirty="0"/>
                  <a:t>Key Difference</a:t>
                </a:r>
                <a:r>
                  <a:rPr dirty="0"/>
                  <a:t>: RE class diagrams usually </a:t>
                </a:r>
                <a:r>
                  <a:rPr b="1" dirty="0"/>
                  <a:t>omit operations (methods)</a:t>
                </a:r>
                <a:r>
                  <a:rPr dirty="0"/>
                  <a:t>, focusing instead on static structures and conceptual relationships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b="-3488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B44EB-3BCF-47F5-8F8C-868C2FF6C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E9FFE-FBC0-F479-C250-670A9540F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r>
              <a:rPr lang="it-IT" dirty="0"/>
              <a:t> of Domain Model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4D4BA-5AF9-9C69-8BB3-901138DFD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48908D-9104-7B6C-2651-AB1781DC0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595" y="1432063"/>
            <a:ext cx="9358809" cy="45466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91EC03-52E9-D607-2FC7-EAA58E2FB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7CA8E-7476-B623-0662-B3903806E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0402F-EEBF-7B9A-12C8-2C02E04CD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041913" cy="2596736"/>
          </a:xfrm>
        </p:spPr>
        <p:txBody>
          <a:bodyPr>
            <a:normAutofit/>
          </a:bodyPr>
          <a:lstStyle/>
          <a:p>
            <a:r>
              <a:rPr lang="it-IT" dirty="0" err="1"/>
              <a:t>Example</a:t>
            </a:r>
            <a:r>
              <a:rPr lang="it-IT" dirty="0"/>
              <a:t> of Domain Model with Operations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5075C-B193-F333-5D4B-4BF59B70C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6AA05B-6773-7E53-3F00-B42C239A2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264" y="880335"/>
            <a:ext cx="7115772" cy="500363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0BE50B-55CD-25B8-D089-C25CB8218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033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Advanced Domain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dirty="0"/>
              <a:t>State Machine Diagrams</a:t>
            </a:r>
            <a:r>
              <a:rPr dirty="0"/>
              <a:t>: Essential when domain entities (like an “Incident” or “Problem”) experience meaningful changes over time via transitions between states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E74589-883E-F88F-880B-72A04AF2B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072" y="3429000"/>
            <a:ext cx="6727856" cy="2257229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92932EE-1308-7BB1-1CF2-D62CEB550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15F7E-1A2C-330B-1000-7D791180C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Wrap-up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Modeling is a central activity enabling </a:t>
            </a:r>
            <a:r>
              <a:rPr b="1" dirty="0"/>
              <a:t>clarity, precision, and collaboration</a:t>
            </a:r>
            <a:endParaRPr dirty="0"/>
          </a:p>
          <a:p>
            <a:pPr lvl="0"/>
            <a:r>
              <a:rPr dirty="0"/>
              <a:t>Selection of the right strategy (natural language vs. UML vs. formal) depends on </a:t>
            </a:r>
            <a:r>
              <a:rPr b="1" dirty="0"/>
              <a:t>risk and complexity</a:t>
            </a:r>
            <a:endParaRPr dirty="0"/>
          </a:p>
          <a:p>
            <a:pPr lvl="0"/>
            <a:r>
              <a:rPr dirty="0"/>
              <a:t>Structured formulation ensures requirements meet quality standards (Singular, Unambiguous, Verifiable</a:t>
            </a:r>
            <a:r>
              <a:rPr lang="it-IT" dirty="0"/>
              <a:t>, etc.</a:t>
            </a:r>
            <a:r>
              <a:rPr dirty="0"/>
              <a:t>)</a:t>
            </a:r>
          </a:p>
          <a:p>
            <a:pPr lvl="0"/>
            <a:r>
              <a:rPr dirty="0"/>
              <a:t>UML diagrams provide complementary views—functional, behavioral, and structural—of the system requirements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E4987-08DF-4D87-6ABF-C6328947F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F1D207-5537-8DFC-81A0-66948D41A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4945</TotalTime>
  <Words>1462</Words>
  <Application>Microsoft Macintosh PowerPoint</Application>
  <PresentationFormat>Widescreen</PresentationFormat>
  <Paragraphs>96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Office Theme</vt:lpstr>
      <vt:lpstr>Chapter 7:  Requirements Specification</vt:lpstr>
      <vt:lpstr>The Role of Modeling in RE</vt:lpstr>
      <vt:lpstr>The Spectrum of Modeling Languages</vt:lpstr>
      <vt:lpstr>Formulating Natural Language Requirements</vt:lpstr>
      <vt:lpstr>Structured Formulation Template</vt:lpstr>
      <vt:lpstr>Identifying Poorly Formulated Requirements</vt:lpstr>
      <vt:lpstr>UML in Requirements Engineering</vt:lpstr>
      <vt:lpstr>Modeling Actors</vt:lpstr>
      <vt:lpstr>Modeling Interactions</vt:lpstr>
      <vt:lpstr>Modeling Interactions</vt:lpstr>
      <vt:lpstr>Domain Models (Class Diagrams)</vt:lpstr>
      <vt:lpstr>Example of Domain Model</vt:lpstr>
      <vt:lpstr>Example of Domain Model with Operations</vt:lpstr>
      <vt:lpstr>Advanced Domain Modeling</vt:lpstr>
      <vt:lpstr>Wrap-up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Elisabetta Di Nitto</dc:creator>
  <cp:lastModifiedBy>Matteo G. Rossi</cp:lastModifiedBy>
  <cp:revision>37</cp:revision>
  <dcterms:created xsi:type="dcterms:W3CDTF">2025-05-15T11:20:47Z</dcterms:created>
  <dcterms:modified xsi:type="dcterms:W3CDTF">2026-01-03T16:39:10Z</dcterms:modified>
</cp:coreProperties>
</file>