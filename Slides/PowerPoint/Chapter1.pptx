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9" r:id="rId5"/>
    <p:sldId id="26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betta Di Nitto" userId="74793f27-d828-489b-9fa1-89209989f427" providerId="ADAL" clId="{5D8F43CA-DF8D-1A4F-9C3F-11C2DD809C50}"/>
    <pc:docChg chg="undo custSel addSld modSld">
      <pc:chgData name="Elisabetta Di Nitto" userId="74793f27-d828-489b-9fa1-89209989f427" providerId="ADAL" clId="{5D8F43CA-DF8D-1A4F-9C3F-11C2DD809C50}" dt="2025-05-16T12:27:00.596" v="342" actId="20577"/>
      <pc:docMkLst>
        <pc:docMk/>
      </pc:docMkLst>
      <pc:sldChg chg="modSp mod">
        <pc:chgData name="Elisabetta Di Nitto" userId="74793f27-d828-489b-9fa1-89209989f427" providerId="ADAL" clId="{5D8F43CA-DF8D-1A4F-9C3F-11C2DD809C50}" dt="2025-05-16T12:18:27.992" v="0" actId="113"/>
        <pc:sldMkLst>
          <pc:docMk/>
          <pc:sldMk cId="2672788615" sldId="257"/>
        </pc:sldMkLst>
      </pc:sldChg>
      <pc:sldChg chg="modSp mod">
        <pc:chgData name="Elisabetta Di Nitto" userId="74793f27-d828-489b-9fa1-89209989f427" providerId="ADAL" clId="{5D8F43CA-DF8D-1A4F-9C3F-11C2DD809C50}" dt="2025-05-16T12:26:49.904" v="340" actId="5793"/>
        <pc:sldMkLst>
          <pc:docMk/>
          <pc:sldMk cId="438142904" sldId="259"/>
        </pc:sldMkLst>
      </pc:sldChg>
      <pc:sldChg chg="addSp delSp modSp new mod">
        <pc:chgData name="Elisabetta Di Nitto" userId="74793f27-d828-489b-9fa1-89209989f427" providerId="ADAL" clId="{5D8F43CA-DF8D-1A4F-9C3F-11C2DD809C50}" dt="2025-05-16T12:27:00.596" v="342" actId="20577"/>
        <pc:sldMkLst>
          <pc:docMk/>
          <pc:sldMk cId="3602114308" sldId="267"/>
        </pc:sldMkLst>
      </pc:sldChg>
    </pc:docChg>
  </pc:docChgLst>
  <pc:docChgLst>
    <pc:chgData name="Elisabetta Di Nitto" userId="74793f27-d828-489b-9fa1-89209989f427" providerId="ADAL" clId="{C53B7DDF-975F-5433-8BA0-7A6449C044C8}"/>
    <pc:docChg chg="custSel modMainMaster">
      <pc:chgData name="Elisabetta Di Nitto" userId="74793f27-d828-489b-9fa1-89209989f427" providerId="ADAL" clId="{C53B7DDF-975F-5433-8BA0-7A6449C044C8}" dt="2025-10-14T11:49:30.279" v="0" actId="478"/>
      <pc:docMkLst>
        <pc:docMk/>
      </pc:docMkLst>
      <pc:sldMasterChg chg="modSldLayout">
        <pc:chgData name="Elisabetta Di Nitto" userId="74793f27-d828-489b-9fa1-89209989f427" providerId="ADAL" clId="{C53B7DDF-975F-5433-8BA0-7A6449C044C8}" dt="2025-10-14T11:49:30.279" v="0" actId="478"/>
        <pc:sldMasterMkLst>
          <pc:docMk/>
          <pc:sldMasterMk cId="3830785740" sldId="2147483648"/>
        </pc:sldMasterMkLst>
        <pc:sldLayoutChg chg="delSp mod">
          <pc:chgData name="Elisabetta Di Nitto" userId="74793f27-d828-489b-9fa1-89209989f427" providerId="ADAL" clId="{C53B7DDF-975F-5433-8BA0-7A6449C044C8}" dt="2025-10-14T11:49:30.279" v="0" actId="478"/>
          <pc:sldLayoutMkLst>
            <pc:docMk/>
            <pc:sldMasterMk cId="3830785740" sldId="2147483648"/>
            <pc:sldLayoutMk cId="2747765950" sldId="2147483649"/>
          </pc:sldLayoutMkLst>
          <pc:spChg chg="del">
            <ac:chgData name="Elisabetta Di Nitto" userId="74793f27-d828-489b-9fa1-89209989f427" providerId="ADAL" clId="{C53B7DDF-975F-5433-8BA0-7A6449C044C8}" dt="2025-10-14T11:49:30.279" v="0" actId="478"/>
            <ac:spMkLst>
              <pc:docMk/>
              <pc:sldMasterMk cId="3830785740" sldId="2147483648"/>
              <pc:sldLayoutMk cId="2747765950" sldId="2147483649"/>
              <ac:spMk id="5" creationId="{E81806C1-88EC-C042-4EBA-94F299406B1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Chapter 1: </a:t>
            </a:r>
            <a:br>
              <a:rPr lang="en-GB" dirty="0"/>
            </a:br>
            <a:r>
              <a:rPr lang="en-GB" dirty="0"/>
              <a:t>The Software Product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Software Product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118268" cy="4351338"/>
          </a:xfrm>
        </p:spPr>
        <p:txBody>
          <a:bodyPr/>
          <a:lstStyle/>
          <a:p>
            <a:r>
              <a:rPr lang="en-GB" b="1" dirty="0"/>
              <a:t>Chapter 1</a:t>
            </a:r>
          </a:p>
          <a:p>
            <a:r>
              <a:rPr lang="en-GB" b="1" dirty="0"/>
              <a:t>Focus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Definition of software engineering </a:t>
            </a:r>
          </a:p>
          <a:p>
            <a:pPr lvl="1"/>
            <a:r>
              <a:rPr lang="en-GB" dirty="0"/>
              <a:t>Importance and characteristics of software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9 -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Software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Engineering</a:t>
            </a:r>
            <a:r>
              <a:rPr lang="en-US" dirty="0"/>
              <a:t>: the discipline that studies the nature and characteristics of software development and operation (Ghezzi et al. 2002). </a:t>
            </a:r>
          </a:p>
          <a:p>
            <a:r>
              <a:rPr lang="en-US" dirty="0"/>
              <a:t>It focuses on the principles, methods, techniques, and tools required to effectively manage, support, and, where possible, partially automate this intricate and critically important process.</a:t>
            </a:r>
          </a:p>
          <a:p>
            <a:r>
              <a:rPr lang="en-US" dirty="0"/>
              <a:t>Key Questions:</a:t>
            </a:r>
          </a:p>
          <a:p>
            <a:pPr lvl="1"/>
            <a:r>
              <a:rPr lang="en-US" dirty="0"/>
              <a:t>What is software?</a:t>
            </a:r>
          </a:p>
          <a:p>
            <a:pPr lvl="1"/>
            <a:r>
              <a:rPr lang="en-US" dirty="0"/>
              <a:t>How does it differ from physical products?</a:t>
            </a:r>
          </a:p>
          <a:p>
            <a:pPr lvl="1"/>
            <a:r>
              <a:rPr lang="en-US" dirty="0"/>
              <a:t>What qualities define good software?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B635-38C8-9D7D-62E1-8A05B70B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4ED59-9B52-5A8E-9846-8422C4E15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includes the source code and all artifacts resulting from its development</a:t>
            </a:r>
          </a:p>
          <a:p>
            <a:pPr lvl="1"/>
            <a:r>
              <a:rPr lang="en-US" dirty="0"/>
              <a:t>Requirement analysis and design documentation, quality plan and quality report, installation and use manuals, change requests, deployable components, configuration files …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6B693-8839-CB1D-E0EC-60383425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1C5DF-0570-EC7A-7042-D072907F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42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5BB3-A807-BE46-A313-48A33333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differ from physical products?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B1A106-FAE2-1723-5F0C-A76BD60D9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047235"/>
              </p:ext>
            </p:extLst>
          </p:nvPr>
        </p:nvGraphicFramePr>
        <p:xfrm>
          <a:off x="838200" y="1825625"/>
          <a:ext cx="105156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067488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42152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Characteristics of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Characteristics of physical products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90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Intangibility</a:t>
                      </a:r>
                      <a:r>
                        <a:rPr lang="en-US" dirty="0"/>
                        <a:t>: No physical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Tangible with precise forms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094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Human intensity</a:t>
                      </a:r>
                      <a:r>
                        <a:rPr lang="en-US" dirty="0"/>
                        <a:t>: Development driven by skilled individuals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Often, specific machinery needed to create one 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78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Malleability</a:t>
                      </a:r>
                      <a:r>
                        <a:rPr lang="en-US" dirty="0"/>
                        <a:t>: Easily modifiable even on-the-fly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change requires significant investments on the production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01632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14613-DD0F-EFF1-5BE1-09BDC7B3D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A7526-E2B4-B075-812C-C76C91CB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14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5187-E2CF-A56C-F1AC-1143FAB9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Malleability: a physical object vs software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57D366A-248F-C3B7-7974-135FCBD3C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78689" cy="1325563"/>
          </a:xfrm>
        </p:spPr>
        <p:txBody>
          <a:bodyPr>
            <a:normAutofit/>
          </a:bodyPr>
          <a:lstStyle/>
          <a:p>
            <a:r>
              <a:rPr lang="en-US" sz="2400" dirty="0"/>
              <a:t>Table lamp: adding a movement detection component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0A57-2B75-88A3-A4CF-631FC8B12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DE6DF-62C9-1ACF-50E9-BC0993D4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A black background with blue lines and a black background&#10;&#10;AI-generated content may be incorrect.">
            <a:extLst>
              <a:ext uri="{FF2B5EF4-FFF2-40B4-BE49-F238E27FC236}">
                <a16:creationId xmlns:a16="http://schemas.microsoft.com/office/drawing/2014/main" id="{41EC2B25-997F-679A-25DA-0ACF5DDD5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89" y="1690688"/>
            <a:ext cx="4584265" cy="1973359"/>
          </a:xfrm>
          <a:prstGeom prst="rect">
            <a:avLst/>
          </a:prstGeom>
        </p:spPr>
      </p:pic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1B45E75B-923C-B0A5-B201-3646F8E6F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011" y="3833457"/>
            <a:ext cx="6298678" cy="2312305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022A1FCF-F58A-A732-7EBC-DE9300229638}"/>
              </a:ext>
            </a:extLst>
          </p:cNvPr>
          <p:cNvSpPr txBox="1">
            <a:spLocks/>
          </p:cNvSpPr>
          <p:nvPr/>
        </p:nvSpPr>
        <p:spPr>
          <a:xfrm>
            <a:off x="838201" y="4233068"/>
            <a:ext cx="3965154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E-commerce software: adding a recommendation feature</a:t>
            </a:r>
          </a:p>
        </p:txBody>
      </p:sp>
    </p:spTree>
    <p:extLst>
      <p:ext uri="{BB962C8B-B14F-4D97-AF65-F5344CB8AC3E}">
        <p14:creationId xmlns:p14="http://schemas.microsoft.com/office/powerpoint/2010/main" val="2192992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9CF-7133-20CB-3462-56D0204B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Malleability: comparing the two change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5E1CD-CC4C-1BB8-9F4A-5B9E9445F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50754" cy="774356"/>
          </a:xfrm>
        </p:spPr>
        <p:txBody>
          <a:bodyPr>
            <a:normAutofit/>
          </a:bodyPr>
          <a:lstStyle/>
          <a:p>
            <a:r>
              <a:rPr lang="en-US" dirty="0"/>
              <a:t>Table lamp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ADFB9-E423-5D8F-4AA5-8DA1AE97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C8291-7426-6E20-836E-D95C4CB4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C1A589-3895-353F-2827-4E14D30EA8EB}"/>
              </a:ext>
            </a:extLst>
          </p:cNvPr>
          <p:cNvSpPr txBox="1">
            <a:spLocks/>
          </p:cNvSpPr>
          <p:nvPr/>
        </p:nvSpPr>
        <p:spPr>
          <a:xfrm>
            <a:off x="838199" y="4903511"/>
            <a:ext cx="4015829" cy="7743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E-commerce software</a:t>
            </a: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360102D-CF78-EBD9-604F-BAC695DB8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809" y="1641724"/>
            <a:ext cx="6070600" cy="2451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5A384E-E132-1C41-5B4F-391F83F08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909" y="5045559"/>
            <a:ext cx="55245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49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B46D5-EE4C-56A6-F2A7-44D0A3398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as a Solution to a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6C4D1-3314-75E5-E6D3-6D893C823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space</a:t>
            </a:r>
            <a:r>
              <a:rPr lang="en-US" dirty="0"/>
              <a:t>: encompasses the application domain, the set of challenges we aim to address through a software product, and the relevant phenomena within the target application domain.</a:t>
            </a:r>
          </a:p>
          <a:p>
            <a:r>
              <a:rPr lang="en-US" b="1" dirty="0"/>
              <a:t>Solution space</a:t>
            </a:r>
            <a:r>
              <a:rPr lang="en-US" dirty="0"/>
              <a:t>: the set of elements that characterize the software that must be developed to address the problem: source code, executables, documentation, and tests.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D90A8-E275-0F78-47AC-D69EA7E0E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C3F9A-7C8F-EA17-91E6-A2647739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A1C881-A79C-EDDA-E1FE-3C82BB447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9" y="4349033"/>
            <a:ext cx="4066212" cy="182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5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A4B46-25CD-FC42-1A23-DCF3B0C5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Software Qualities (ISO/IEC 25010)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81A93-B837-FAF4-E823-7D3A71A3E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Functional Suitability</a:t>
            </a:r>
          </a:p>
          <a:p>
            <a:r>
              <a:rPr lang="en-US" dirty="0"/>
              <a:t>Performance Efficiency</a:t>
            </a:r>
          </a:p>
          <a:p>
            <a:r>
              <a:rPr lang="en-US" dirty="0"/>
              <a:t>Reliability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Safety</a:t>
            </a:r>
          </a:p>
          <a:p>
            <a:r>
              <a:rPr lang="en-US" dirty="0"/>
              <a:t>Maintainability</a:t>
            </a:r>
          </a:p>
          <a:p>
            <a:r>
              <a:rPr lang="en-US" dirty="0"/>
              <a:t>Compatibility</a:t>
            </a:r>
          </a:p>
          <a:p>
            <a:r>
              <a:rPr lang="en-US" dirty="0"/>
              <a:t>Flexibility</a:t>
            </a:r>
          </a:p>
          <a:p>
            <a:r>
              <a:rPr lang="en-US" dirty="0"/>
              <a:t>Interaction Capability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7FD63-7C64-D66B-54E2-07655020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7DEFA-3C45-91AB-4D10-542C17F7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B350AD-1E21-8617-D022-03720FADE5E1}"/>
              </a:ext>
            </a:extLst>
          </p:cNvPr>
          <p:cNvSpPr txBox="1"/>
          <p:nvPr/>
        </p:nvSpPr>
        <p:spPr>
          <a:xfrm>
            <a:off x="5332164" y="3922004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Non-functional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2F598-4380-E6A0-D66D-DFB48CBD5AF8}"/>
              </a:ext>
            </a:extLst>
          </p:cNvPr>
          <p:cNvSpPr txBox="1"/>
          <p:nvPr/>
        </p:nvSpPr>
        <p:spPr>
          <a:xfrm>
            <a:off x="5332164" y="1824581"/>
            <a:ext cx="16050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Functional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4F11B926-F21C-D56D-6A2E-04E0DB3E72E5}"/>
              </a:ext>
            </a:extLst>
          </p:cNvPr>
          <p:cNvSpPr/>
          <p:nvPr/>
        </p:nvSpPr>
        <p:spPr>
          <a:xfrm>
            <a:off x="4810700" y="2323515"/>
            <a:ext cx="275421" cy="365864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08C2-455D-96F3-B62B-D89249F6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suitability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C47D62B-A825-17EA-30AF-266E9BD680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89797"/>
              </p:ext>
            </p:extLst>
          </p:nvPr>
        </p:nvGraphicFramePr>
        <p:xfrm>
          <a:off x="838200" y="1825625"/>
          <a:ext cx="10515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6687">
                  <a:extLst>
                    <a:ext uri="{9D8B030D-6E8A-4147-A177-3AD203B41FA5}">
                      <a16:colId xmlns:a16="http://schemas.microsoft.com/office/drawing/2014/main" val="2627591337"/>
                    </a:ext>
                  </a:extLst>
                </a:gridCol>
                <a:gridCol w="7508913">
                  <a:extLst>
                    <a:ext uri="{9D8B030D-6E8A-4147-A177-3AD203B41FA5}">
                      <a16:colId xmlns:a16="http://schemas.microsoft.com/office/drawing/2014/main" val="800488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Sub-quality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998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Functional 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Degree to which the set of functions covers all the specified tasks and intended users’ objectives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900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Functional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Degree to which a product or system provides accurate results when used by intended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273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Functional appropriateness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Degree to which the functions facilitate the accomplishment of specified tasks and objectives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02532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3D261-93E5-A568-C4F7-4F80C1EBE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B532C0-F278-9768-DE4E-32036790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29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101EA-5F73-7C2B-A08F-42F27DDF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important qualities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8BDD0-D359-A61A-ED6F-EF6DD336F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Performance Efficiency</a:t>
            </a:r>
            <a:r>
              <a:rPr lang="en-US" dirty="0"/>
              <a:t>: Time behavior, resource utilization, capacity.</a:t>
            </a:r>
          </a:p>
          <a:p>
            <a:r>
              <a:rPr lang="en-US" b="1" dirty="0"/>
              <a:t>Reliability</a:t>
            </a:r>
            <a:r>
              <a:rPr lang="en-US" dirty="0"/>
              <a:t>: Faultlessness, availability, fault tolerance, recoverability.</a:t>
            </a:r>
          </a:p>
          <a:p>
            <a:r>
              <a:rPr lang="en-US" b="1" dirty="0"/>
              <a:t>Security</a:t>
            </a:r>
            <a:r>
              <a:rPr lang="en-US" dirty="0"/>
              <a:t>: Confidentiality, integrity, non-repudiation, accountability, authenticity, resistance.</a:t>
            </a:r>
          </a:p>
          <a:p>
            <a:r>
              <a:rPr lang="en-US" b="1" dirty="0"/>
              <a:t>Safety</a:t>
            </a:r>
            <a:r>
              <a:rPr lang="en-US" dirty="0"/>
              <a:t>: ability to set operational constraints, identify risks, fail safe, warn about hazards, safe integration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64C0B-B6A5-DB03-0DCC-14034918A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5E4DE-F4A0-7A93-DF45-37FFCCAE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5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7FBA-B54B-250C-17EC-E6B21881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important qualities (</a:t>
            </a:r>
            <a:r>
              <a:rPr lang="en-US" dirty="0" err="1"/>
              <a:t>cont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AF91F-DA4F-124B-7FF8-29B9F7FB5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Maintainability</a:t>
            </a:r>
            <a:r>
              <a:rPr lang="en-US" dirty="0"/>
              <a:t>: modularity, reusability, analyzability, modifiability, testability</a:t>
            </a:r>
          </a:p>
          <a:p>
            <a:r>
              <a:rPr lang="en-US" b="1" dirty="0"/>
              <a:t>Compatibility</a:t>
            </a:r>
            <a:r>
              <a:rPr lang="en-US" dirty="0"/>
              <a:t>: co-existence, interoperability</a:t>
            </a:r>
          </a:p>
          <a:p>
            <a:r>
              <a:rPr lang="en-US" b="1" dirty="0"/>
              <a:t>Flexibility</a:t>
            </a:r>
            <a:r>
              <a:rPr lang="en-US" dirty="0"/>
              <a:t>: adaptability, scalability, </a:t>
            </a:r>
            <a:r>
              <a:rPr lang="en-US" dirty="0" err="1"/>
              <a:t>installability</a:t>
            </a:r>
            <a:r>
              <a:rPr lang="en-US" dirty="0"/>
              <a:t>, replaceability</a:t>
            </a:r>
          </a:p>
          <a:p>
            <a:r>
              <a:rPr lang="en-US" b="1" dirty="0"/>
              <a:t>Interaction capability</a:t>
            </a:r>
            <a:r>
              <a:rPr lang="en-US" dirty="0"/>
              <a:t>: appropriateness recognizability, learnability, operability, user error protection, user engagement, inclusivity, user assistance, self-descriptiveness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C4035-2FD0-5E1D-B315-42F300B3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3C066-53A3-6FAC-BF12-9B55999A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47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88CA-DF71-28F1-7C69-4E3EC4301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4941B-A3CC-B3E7-89F2-D521CC122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production = Creative + Rigorous</a:t>
            </a:r>
          </a:p>
          <a:p>
            <a:r>
              <a:rPr lang="en-US" dirty="0"/>
              <a:t>Balancing functional and non-functional qualities is essential</a:t>
            </a:r>
          </a:p>
          <a:p>
            <a:r>
              <a:rPr lang="en-US" dirty="0"/>
              <a:t>Quality acceptance criteria guide software readiness for release</a:t>
            </a:r>
          </a:p>
          <a:p>
            <a:r>
              <a:rPr lang="en-US" dirty="0"/>
              <a:t>Human expertise remains crucial despite AI advances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F36EF-3AA6-F2FF-42FA-A35D8B1B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Chapter 1 -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DEC7E-B7FF-BE78-35EC-77CC9332A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74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1137</Words>
  <Application>Microsoft Macintosh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Chapter 1:  The Software Product</vt:lpstr>
      <vt:lpstr>The Software Product</vt:lpstr>
      <vt:lpstr>Introduction to Software Engineering</vt:lpstr>
      <vt:lpstr>What is software?</vt:lpstr>
      <vt:lpstr>How does it differ from physical products?</vt:lpstr>
      <vt:lpstr>Malleability: a physical object vs software</vt:lpstr>
      <vt:lpstr>Malleability: comparing the two change processes</vt:lpstr>
      <vt:lpstr>Software as a Solution to a Problem</vt:lpstr>
      <vt:lpstr>Key Software Qualities (ISO/IEC 25010)</vt:lpstr>
      <vt:lpstr>Functional suitability</vt:lpstr>
      <vt:lpstr>Other important qualities</vt:lpstr>
      <vt:lpstr>Other important qualities (cont)</vt:lpstr>
      <vt:lpstr>Final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Elisabetta Di Nitto</cp:lastModifiedBy>
  <cp:revision>3</cp:revision>
  <dcterms:created xsi:type="dcterms:W3CDTF">2025-05-15T11:20:47Z</dcterms:created>
  <dcterms:modified xsi:type="dcterms:W3CDTF">2026-02-23T15:31:53Z</dcterms:modified>
</cp:coreProperties>
</file>