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80" r:id="rId13"/>
    <p:sldId id="281" r:id="rId14"/>
    <p:sldId id="267" r:id="rId15"/>
    <p:sldId id="279" r:id="rId16"/>
    <p:sldId id="268" r:id="rId17"/>
    <p:sldId id="269" r:id="rId18"/>
    <p:sldId id="270" r:id="rId19"/>
    <p:sldId id="283" r:id="rId20"/>
    <p:sldId id="271" r:id="rId21"/>
    <p:sldId id="272" r:id="rId22"/>
    <p:sldId id="284" r:id="rId23"/>
    <p:sldId id="285" r:id="rId24"/>
    <p:sldId id="273" r:id="rId25"/>
    <p:sldId id="274" r:id="rId26"/>
    <p:sldId id="286" r:id="rId27"/>
    <p:sldId id="275" r:id="rId28"/>
    <p:sldId id="287" r:id="rId29"/>
    <p:sldId id="277" r:id="rId30"/>
    <p:sldId id="278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163"/>
    <p:restoredTop sz="94614"/>
  </p:normalViewPr>
  <p:slideViewPr>
    <p:cSldViewPr snapToGrid="0">
      <p:cViewPr varScale="1">
        <p:scale>
          <a:sx n="77" d="100"/>
          <a:sy n="77" d="100"/>
        </p:scale>
        <p:origin x="208" y="3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isabetta Di Nitto" userId="74793f27-d828-489b-9fa1-89209989f427" providerId="ADAL" clId="{5D8F43CA-DF8D-1A4F-9C3F-11C2DD809C50}"/>
    <pc:docChg chg="undo custSel addSld modSld">
      <pc:chgData name="Elisabetta Di Nitto" userId="74793f27-d828-489b-9fa1-89209989f427" providerId="ADAL" clId="{5D8F43CA-DF8D-1A4F-9C3F-11C2DD809C50}" dt="2025-05-16T12:27:00.596" v="342" actId="20577"/>
      <pc:docMkLst>
        <pc:docMk/>
      </pc:docMkLst>
      <pc:sldChg chg="modSp mod">
        <pc:chgData name="Elisabetta Di Nitto" userId="74793f27-d828-489b-9fa1-89209989f427" providerId="ADAL" clId="{5D8F43CA-DF8D-1A4F-9C3F-11C2DD809C50}" dt="2025-05-16T12:18:27.992" v="0" actId="113"/>
        <pc:sldMkLst>
          <pc:docMk/>
          <pc:sldMk cId="2672788615" sldId="257"/>
        </pc:sldMkLst>
      </pc:sldChg>
      <pc:sldChg chg="modSp mod">
        <pc:chgData name="Elisabetta Di Nitto" userId="74793f27-d828-489b-9fa1-89209989f427" providerId="ADAL" clId="{5D8F43CA-DF8D-1A4F-9C3F-11C2DD809C50}" dt="2025-05-16T12:26:49.904" v="340" actId="5793"/>
        <pc:sldMkLst>
          <pc:docMk/>
          <pc:sldMk cId="438142904" sldId="259"/>
        </pc:sldMkLst>
      </pc:sldChg>
      <pc:sldChg chg="addSp delSp modSp new mod">
        <pc:chgData name="Elisabetta Di Nitto" userId="74793f27-d828-489b-9fa1-89209989f427" providerId="ADAL" clId="{5D8F43CA-DF8D-1A4F-9C3F-11C2DD809C50}" dt="2025-05-16T12:27:00.596" v="342" actId="20577"/>
        <pc:sldMkLst>
          <pc:docMk/>
          <pc:sldMk cId="3602114308" sldId="267"/>
        </pc:sldMkLst>
      </pc:sldChg>
    </pc:docChg>
  </pc:docChgLst>
  <pc:docChgLst>
    <pc:chgData name="Elisabetta Di Nitto" userId="74793f27-d828-489b-9fa1-89209989f427" providerId="ADAL" clId="{C53B7DDF-975F-5433-8BA0-7A6449C044C8}"/>
    <pc:docChg chg="custSel modMainMaster">
      <pc:chgData name="Elisabetta Di Nitto" userId="74793f27-d828-489b-9fa1-89209989f427" providerId="ADAL" clId="{C53B7DDF-975F-5433-8BA0-7A6449C044C8}" dt="2025-10-14T11:49:30.279" v="0" actId="478"/>
      <pc:docMkLst>
        <pc:docMk/>
      </pc:docMkLst>
      <pc:sldMasterChg chg="modSldLayout">
        <pc:chgData name="Elisabetta Di Nitto" userId="74793f27-d828-489b-9fa1-89209989f427" providerId="ADAL" clId="{C53B7DDF-975F-5433-8BA0-7A6449C044C8}" dt="2025-10-14T11:49:30.279" v="0" actId="478"/>
        <pc:sldMasterMkLst>
          <pc:docMk/>
          <pc:sldMasterMk cId="3830785740" sldId="2147483648"/>
        </pc:sldMasterMkLst>
        <pc:sldLayoutChg chg="delSp mod">
          <pc:chgData name="Elisabetta Di Nitto" userId="74793f27-d828-489b-9fa1-89209989f427" providerId="ADAL" clId="{C53B7DDF-975F-5433-8BA0-7A6449C044C8}" dt="2025-10-14T11:49:30.279" v="0" actId="478"/>
          <pc:sldLayoutMkLst>
            <pc:docMk/>
            <pc:sldMasterMk cId="3830785740" sldId="2147483648"/>
            <pc:sldLayoutMk cId="2747765950" sldId="2147483649"/>
          </pc:sldLayoutMkLst>
          <pc:spChg chg="del">
            <ac:chgData name="Elisabetta Di Nitto" userId="74793f27-d828-489b-9fa1-89209989f427" providerId="ADAL" clId="{C53B7DDF-975F-5433-8BA0-7A6449C044C8}" dt="2025-10-14T11:49:30.279" v="0" actId="478"/>
            <ac:spMkLst>
              <pc:docMk/>
              <pc:sldMasterMk cId="3830785740" sldId="2147483648"/>
              <pc:sldLayoutMk cId="2747765950" sldId="2147483649"/>
              <ac:spMk id="5" creationId="{E81806C1-88EC-C042-4EBA-94F299406B1E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1A6552-0A6C-D244-A2C8-B478F33B238A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740C50-DB3F-694F-A5EA-834EAC917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306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3BC2B-6CDA-72E2-229B-18DEF391FA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6613BC-7CB8-5A38-CD30-2C58A648B3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7053D-FB66-9EF0-41B9-05675F1D8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BB64D338-9D73-A11E-33DA-E1B3EFEAE7A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2797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7765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9C6C1-E6BA-4617-CEA1-A46333E5B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A5070-78BD-D7FC-3836-A86EAF520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56B37-1922-E8D3-885A-1BEDCB2C3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EE563-D749-E1BC-79F7-18DBB9ADC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E772F049-0FF7-59D4-3209-C5D316FC0E7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6067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653B9-9588-F242-424C-FCBB884F6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0FA4E-8AC2-FBC2-6505-59158EC90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E71F0-A64A-9841-1C40-6F5056C75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3019A-A54C-4805-AC3B-89DFDA94F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8BEDD6BA-03FA-2D94-3497-C46077CCC2E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8161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4EC80-0B57-11D7-6A08-DA72C26DB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99C45-27E0-950B-DC56-2883613570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FFEE44-6404-140F-5A0B-666C299590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3AA74-7D0B-6A68-C6F1-58669BD5E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435119-2D05-18ED-1F86-7B52DBC90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6A6E1E32-715F-CBAD-0293-F674D0A736A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1792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79FF7-A942-3ABB-E89F-C11FE71A6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1B25CB-87EE-7F13-C2E5-98AEFE3A0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61A3B3-B0C2-D253-5839-21704BC92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F3FF5C-DC76-BE96-FF09-1D64C4C206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E43628-B25A-5FA2-726A-C013AEF1F8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6CB1D8-8615-69BE-A5AC-84686035C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28A28F-B43E-6906-568E-3DE2F621C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F8F7A668-BFB4-36F1-9118-A39A3A6EEC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0937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300EA-D986-DFE9-8606-5412B2504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319164-4796-E83E-B99E-763DDB92E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81A88B-6D57-DFC8-99F7-A2961B377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92BBACB-CB64-2267-2803-E9BE8B83B97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3959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42A436-0A8C-6244-CE2E-050985EC4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07374-4A63-ABE6-3E1E-6AAAA27B4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8AF5D44-6DD5-BCAB-7073-0ED20991356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8483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78E67-882E-9559-4DC2-620237B00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7F3FA-6A4E-B9A6-59F4-5716FADED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CB5F38-CD1E-152F-206F-9B75CE0191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D44107-E234-3C60-AC0C-094462929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06735C-C2AF-213F-7E15-6C8911E07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B3DD25BC-6E39-8BF3-5B08-425026ADC58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8252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652A8-28B3-1332-FFCA-4F93330C2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6512B4-F468-3058-3490-9303023C0F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A5CBC0-DBE9-B3FB-9FD1-DD37BA890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1C05A0-55BA-F897-9634-005771C15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E172D-4AC8-7CF1-F3B6-457AA8651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90355B17-E662-ED63-9E92-6E44148639B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9423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B8E8-F679-8710-D25A-4D0574896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589DAA-8279-691A-D5BF-F5C892E671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C9042-AEE3-BD22-0364-B68E58C92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EF517-351F-E660-6564-F4A1D829F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6C9577E-4409-0CEC-5A71-61B16E21C3A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4671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4BD917-C4A5-7822-91C2-F4F96DE15A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E0A98C-EF04-BC3B-CF4A-B93A2E36EF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9D545-B6AE-6057-9E2E-C7C224667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A4EF9-342D-74DD-C592-195AD2BAD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A7BC2FA4-7BB1-5F21-7E84-58E0BF9AF87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4004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F49B1-067C-B555-26D2-ABA3FE399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BAAED-978F-CD12-11C3-500EA5002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F1C8E-C17C-A942-A064-333E0C9695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199" y="6356350"/>
            <a:ext cx="76996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FB1A4-8411-5ABB-AC32-FD865BAB7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5802" y="6356350"/>
            <a:ext cx="10179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785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C8E8F-6B80-712E-4BC4-802945BDC2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Chapter 10:</a:t>
            </a:r>
            <a:br>
              <a:rPr lang="en-US" dirty="0"/>
            </a:br>
            <a:r>
              <a:rPr lang="en-US" dirty="0"/>
              <a:t>Architectural Styles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62A6B-8524-A31B-0489-93460027EC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Summary slides from</a:t>
            </a:r>
            <a:br>
              <a:rPr lang="en-GB" dirty="0"/>
            </a:br>
            <a:r>
              <a:rPr lang="en-GB" dirty="0"/>
              <a:t>M. Camilli, E. Di Nitto, A. Fuggetta, </a:t>
            </a:r>
            <a:br>
              <a:rPr lang="en-GB" dirty="0"/>
            </a:br>
            <a:r>
              <a:rPr lang="en-GB" dirty="0"/>
              <a:t>A. Margara, M.G. Rossi, D.A. Tamburri. Software Engineering: a Structured Journey from Inception to Delivery. BUP 2025.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450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8F063-8A8B-C911-1858-1015BD86B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Architectural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4DF6E-5760-8C5A-2A13-B804E3DCC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Architectural decisions strongly influence system qualities</a:t>
            </a:r>
          </a:p>
          <a:p>
            <a:r>
              <a:rPr lang="en-US" dirty="0"/>
              <a:t>They affect development, evolution, and operation</a:t>
            </a:r>
          </a:p>
          <a:p>
            <a:r>
              <a:rPr lang="en-US" dirty="0"/>
              <a:t>Architectural styles provide reusable design solutions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Key questions:</a:t>
            </a:r>
          </a:p>
          <a:p>
            <a:r>
              <a:rPr lang="en-US" dirty="0"/>
              <a:t>How should components be organized?</a:t>
            </a:r>
          </a:p>
          <a:p>
            <a:r>
              <a:rPr lang="en-US" dirty="0"/>
              <a:t>How should they interact?</a:t>
            </a:r>
          </a:p>
          <a:p>
            <a:r>
              <a:rPr lang="en-US" dirty="0"/>
              <a:t>What trade-offs do different styles imply?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E06F8-CE37-7C5E-6F02-9161B680F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AE1E0-E22C-2FA4-0F61-2A209266F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10 -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788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5B0D4-D8B0-6A0B-4F94-36141087F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CBA62-3CBA-35A8-811C-8211EA9AE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Styles and Tactics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03C61-5870-5B7D-8F7D-D609176A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 architectural style defines:</a:t>
            </a:r>
          </a:p>
          <a:p>
            <a:pPr lvl="1"/>
            <a:r>
              <a:rPr lang="en-US" dirty="0"/>
              <a:t>component types</a:t>
            </a:r>
          </a:p>
          <a:p>
            <a:pPr lvl="1"/>
            <a:r>
              <a:rPr lang="en-US" dirty="0"/>
              <a:t>connector types</a:t>
            </a:r>
          </a:p>
          <a:p>
            <a:pPr lvl="1"/>
            <a:r>
              <a:rPr lang="en-US" dirty="0"/>
              <a:t>structural constraints</a:t>
            </a:r>
          </a:p>
          <a:p>
            <a:r>
              <a:rPr lang="en-US" dirty="0"/>
              <a:t>Styles embody proven design principles</a:t>
            </a:r>
          </a:p>
          <a:p>
            <a:r>
              <a:rPr lang="en-US" dirty="0"/>
              <a:t>Architectural tactics address specific quality attributes</a:t>
            </a:r>
          </a:p>
          <a:p>
            <a:pPr lvl="1"/>
            <a:r>
              <a:rPr lang="en-US" dirty="0"/>
              <a:t>performance, reliability, scalability, security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75E5B8-9B69-601A-1589-122DB5F35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E0A38D-AF8C-4524-6F91-DE2532CA6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10 -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893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0B1BD-DAF6-453D-5D83-BFA9DE862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915FC-7ABA-9B7A-30A5-D04655968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Architectural Styles Matter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2DD40-634B-9FBE-36C6-6B61765A5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 design complexity</a:t>
            </a:r>
          </a:p>
          <a:p>
            <a:r>
              <a:rPr lang="en-US" dirty="0"/>
              <a:t>Provide a shared vocabulary</a:t>
            </a:r>
          </a:p>
          <a:p>
            <a:r>
              <a:rPr lang="en-US" dirty="0"/>
              <a:t>Support reasoning about trade-offs</a:t>
            </a:r>
          </a:p>
          <a:p>
            <a:r>
              <a:rPr lang="en-US" dirty="0"/>
              <a:t>Facilitate documentation and communication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5B2DC8-E9D1-6D00-60F3-BBF73C838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3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E9BB04-851B-95EC-ADAA-6C014F0D6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10 -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657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85CC5-9185-E390-7A63-56A140638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014E2-B922-13A4-7D31-6FA449DB9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Client-Server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3AF91-729A-6E72-30FA-2D83794AD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Two main roles:</a:t>
            </a:r>
          </a:p>
          <a:p>
            <a:pPr lvl="1"/>
            <a:r>
              <a:rPr lang="en-US" dirty="0"/>
              <a:t>Clients request services</a:t>
            </a:r>
          </a:p>
          <a:p>
            <a:pPr lvl="1"/>
            <a:r>
              <a:rPr lang="en-US" dirty="0"/>
              <a:t>Servers provide services</a:t>
            </a:r>
          </a:p>
          <a:p>
            <a:r>
              <a:rPr lang="en-US" dirty="0"/>
              <a:t>Clear separation of responsibilities</a:t>
            </a:r>
          </a:p>
          <a:p>
            <a:r>
              <a:rPr lang="en-US" dirty="0"/>
              <a:t>Widely used in distributed systems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Typical examples:</a:t>
            </a:r>
          </a:p>
          <a:p>
            <a:r>
              <a:rPr lang="en-US" dirty="0"/>
              <a:t>Web applications</a:t>
            </a:r>
          </a:p>
          <a:p>
            <a:r>
              <a:rPr lang="en-US" dirty="0"/>
              <a:t>Email systems</a:t>
            </a:r>
          </a:p>
          <a:p>
            <a:r>
              <a:rPr lang="en-US" dirty="0"/>
              <a:t>Database-backed services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3561EB-0F37-C5E1-9B67-C904D8B32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4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0B080B-C71B-E090-DABC-70A24B18E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10 -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763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98017-6FB6-737B-423F-814568CB0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44715-4EE3-2B7B-D839-8E1506458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Client-Server Style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8285944-E60F-39D7-6555-60060A9C03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6200" y="2794794"/>
            <a:ext cx="9499600" cy="24130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93129E-4BEE-8098-66DD-FE9C82686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5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52F5EE-E2F8-0785-129C-2B5A950DA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10 -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100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ADD08-52B3-BC7B-A024-8EF81BEE3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F1499-8BC1-74CB-96FF-D7044EF2D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Client-Server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42000-9123-0506-8136-2E30A963DCA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Interaction typically follows request–response</a:t>
            </a:r>
          </a:p>
          <a:p>
            <a:r>
              <a:rPr lang="en-US" dirty="0"/>
              <a:t>Often stateless (e.g., REST-based systems)</a:t>
            </a:r>
          </a:p>
          <a:p>
            <a:r>
              <a:rPr lang="en-US" dirty="0"/>
              <a:t>Statelessness enables:</a:t>
            </a:r>
          </a:p>
          <a:p>
            <a:pPr lvl="1"/>
            <a:r>
              <a:rPr lang="en-US" dirty="0"/>
              <a:t>scalability</a:t>
            </a:r>
          </a:p>
          <a:p>
            <a:pPr lvl="1"/>
            <a:r>
              <a:rPr lang="en-US" dirty="0"/>
              <a:t>replication</a:t>
            </a:r>
          </a:p>
          <a:p>
            <a:pPr lvl="1"/>
            <a:r>
              <a:rPr lang="en-US" dirty="0"/>
              <a:t>caching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Trade-off:</a:t>
            </a:r>
          </a:p>
          <a:p>
            <a:r>
              <a:rPr lang="en-US" dirty="0"/>
              <a:t>Increased responsibility on clients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4698196-75BA-4B21-8A28-6021F39CA34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870075"/>
            <a:ext cx="5833348" cy="3834065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3DA1B7-97CD-F643-9404-E1AC40103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10 -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759361-2E08-ECAE-8816-7AFE9BB11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07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8DDF1-C1C1-2463-C6BB-4EEC41812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6EADA-F1C7-DB93-4735-76515A6FA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Client-Server Variants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19474-361B-C9E2-D3E2-077580BCFB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166062" cy="4351338"/>
          </a:xfrm>
        </p:spPr>
        <p:txBody>
          <a:bodyPr>
            <a:normAutofit/>
          </a:bodyPr>
          <a:lstStyle/>
          <a:p>
            <a:r>
              <a:rPr lang="en-US" dirty="0"/>
              <a:t>Two-tier architectures</a:t>
            </a:r>
          </a:p>
          <a:p>
            <a:pPr lvl="1"/>
            <a:r>
              <a:rPr lang="en-US" dirty="0"/>
              <a:t>direct client–server interaction</a:t>
            </a:r>
          </a:p>
          <a:p>
            <a:r>
              <a:rPr lang="en-US" dirty="0"/>
              <a:t>Three-tier architectures</a:t>
            </a:r>
          </a:p>
          <a:p>
            <a:pPr lvl="1"/>
            <a:r>
              <a:rPr lang="en-US" dirty="0"/>
              <a:t>presentation, application, data</a:t>
            </a:r>
          </a:p>
          <a:p>
            <a:r>
              <a:rPr lang="en-US" dirty="0"/>
              <a:t>Four-tier and beyond</a:t>
            </a:r>
          </a:p>
          <a:p>
            <a:pPr lvl="1"/>
            <a:r>
              <a:rPr lang="en-US" dirty="0"/>
              <a:t>additional mediation layers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D4D48B-B95B-4CB4-EFF1-EC6630752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10 -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204D9F-0C15-3B8F-A537-64F9B4179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7</a:t>
            </a:fld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F95CEDA-3BD7-8C26-E135-63E7F5A867F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045165" y="1825625"/>
            <a:ext cx="6985318" cy="3757352"/>
          </a:xfrm>
        </p:spPr>
      </p:pic>
    </p:spTree>
    <p:extLst>
      <p:ext uri="{BB962C8B-B14F-4D97-AF65-F5344CB8AC3E}">
        <p14:creationId xmlns:p14="http://schemas.microsoft.com/office/powerpoint/2010/main" val="2653526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9104E-2DC5-D6CC-49FA-E24F3AEF0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7B15D-3966-51B4-BC58-AA0DD140D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Peer-to-Peer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87BE5-98A9-B3B1-032D-F27065115C3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No fixed client or server roles</a:t>
            </a:r>
          </a:p>
          <a:p>
            <a:r>
              <a:rPr lang="en-US" dirty="0"/>
              <a:t>All nodes can act as both providers and consumers</a:t>
            </a:r>
          </a:p>
          <a:p>
            <a:r>
              <a:rPr lang="en-US" dirty="0"/>
              <a:t>Common in distributed and collaborative systems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Advantages:</a:t>
            </a:r>
          </a:p>
          <a:p>
            <a:r>
              <a:rPr lang="en-US" dirty="0"/>
              <a:t>No single point of failure</a:t>
            </a:r>
          </a:p>
          <a:p>
            <a:r>
              <a:rPr lang="en-US" dirty="0"/>
              <a:t>High scalability</a:t>
            </a:r>
          </a:p>
          <a:p>
            <a:pPr marL="0" indent="0">
              <a:buNone/>
            </a:pPr>
            <a:r>
              <a:rPr lang="en-US" dirty="0"/>
              <a:t>Limitations:</a:t>
            </a:r>
          </a:p>
          <a:p>
            <a:r>
              <a:rPr lang="en-US" dirty="0"/>
              <a:t>Complex coordination</a:t>
            </a:r>
          </a:p>
          <a:p>
            <a:r>
              <a:rPr lang="en-US" dirty="0"/>
              <a:t>Partial reliability of nodes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B736BF-581F-2383-D1E8-0A7510AF5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10 -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8008BA-AB67-52D4-666F-5C3612C12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8</a:t>
            </a:fld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89ADAC9-ADEE-75F6-977E-141477F63AD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94769" y="2626822"/>
            <a:ext cx="4726301" cy="2443942"/>
          </a:xfrm>
        </p:spPr>
      </p:pic>
    </p:spTree>
    <p:extLst>
      <p:ext uri="{BB962C8B-B14F-4D97-AF65-F5344CB8AC3E}">
        <p14:creationId xmlns:p14="http://schemas.microsoft.com/office/powerpoint/2010/main" val="1433637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53743-2087-BEDB-7257-EB54E603C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5FCB4-02CB-F45D-209E-57E23565B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Memory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86C0A-B141-404E-D2C7-44C3F1FED8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Components communicate through shared data</a:t>
            </a:r>
          </a:p>
          <a:p>
            <a:r>
              <a:rPr lang="en-US" dirty="0"/>
              <a:t>Typically managed by a central repository</a:t>
            </a:r>
          </a:p>
          <a:p>
            <a:r>
              <a:rPr lang="en-US" dirty="0"/>
              <a:t>Common in databases and concurrent systems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Advantages:</a:t>
            </a:r>
          </a:p>
          <a:p>
            <a:r>
              <a:rPr lang="en-US" dirty="0"/>
              <a:t>Simple communication model</a:t>
            </a:r>
          </a:p>
          <a:p>
            <a:r>
              <a:rPr lang="en-US" dirty="0"/>
              <a:t>Strong consistency guarantees</a:t>
            </a:r>
          </a:p>
          <a:p>
            <a:pPr marL="0" indent="0">
              <a:buNone/>
            </a:pPr>
            <a:r>
              <a:rPr lang="en-US" dirty="0"/>
              <a:t>Limitations:</a:t>
            </a:r>
          </a:p>
          <a:p>
            <a:r>
              <a:rPr lang="en-US" dirty="0"/>
              <a:t>Scalability limits</a:t>
            </a:r>
          </a:p>
          <a:p>
            <a:r>
              <a:rPr lang="en-US" dirty="0"/>
              <a:t>Centralized bottleneck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6C0089-6A68-ECE1-B8EA-176CF28FA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10 -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6E46A-CA11-4F0D-0041-99F9E1BBE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9</a:t>
            </a:fld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7E6D88F-4ECF-B795-560C-FE6DFC5AAD2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48987" y="2992582"/>
            <a:ext cx="5411089" cy="2261062"/>
          </a:xfrm>
        </p:spPr>
      </p:pic>
    </p:spTree>
    <p:extLst>
      <p:ext uri="{BB962C8B-B14F-4D97-AF65-F5344CB8AC3E}">
        <p14:creationId xmlns:p14="http://schemas.microsoft.com/office/powerpoint/2010/main" val="734178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6CEF8-217F-D733-DB1E-60A2F6423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C6BC2-42F2-6BD2-F9F1-2DFE3752F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Event-Driven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59AB8-55A0-68B2-C732-B0600B1503F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Components interact by producing and consuming events</a:t>
            </a:r>
          </a:p>
          <a:p>
            <a:r>
              <a:rPr lang="en-US" dirty="0"/>
              <a:t>Producers do not know consumers (and vice versa)</a:t>
            </a:r>
          </a:p>
          <a:p>
            <a:r>
              <a:rPr lang="en-US" dirty="0"/>
              <a:t>Communication mediated by an event bus or broker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Key properties:</a:t>
            </a:r>
          </a:p>
          <a:p>
            <a:r>
              <a:rPr lang="en-US" dirty="0"/>
              <a:t>Loose coupling</a:t>
            </a:r>
          </a:p>
          <a:p>
            <a:r>
              <a:rPr lang="en-US" dirty="0"/>
              <a:t>Asynchronous interaction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38A95D-CF0C-F20E-2A5E-C30E07BAF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10 -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E5528-D64C-020C-F7C7-08F62C325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10</a:t>
            </a:fld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2E66CB0-8DA8-A57B-1DC5-B0967867710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28303" y="1972334"/>
            <a:ext cx="4360628" cy="3647070"/>
          </a:xfrm>
        </p:spPr>
      </p:pic>
    </p:spTree>
    <p:extLst>
      <p:ext uri="{BB962C8B-B14F-4D97-AF65-F5344CB8AC3E}">
        <p14:creationId xmlns:p14="http://schemas.microsoft.com/office/powerpoint/2010/main" val="2963747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9544F-E820-3A8E-3CCA-620ACA668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11292-406E-6E42-805D-B2D538ABC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Event-Driven Style: 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7F680-3AD8-C1B5-3AA5-0A8308E56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Strong decoupling between components</a:t>
            </a:r>
          </a:p>
          <a:p>
            <a:r>
              <a:rPr lang="en-US" dirty="0"/>
              <a:t>High scalability</a:t>
            </a:r>
          </a:p>
          <a:p>
            <a:r>
              <a:rPr lang="en-US" dirty="0"/>
              <a:t>Good support for system evolution</a:t>
            </a:r>
          </a:p>
          <a:p>
            <a:r>
              <a:rPr lang="en-US" dirty="0"/>
              <a:t>Natural fit for reactive and distributed systems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8DE9DD-2FBA-E6D7-F340-DE4791BCF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10 -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01B786-0329-600C-A7E9-0C9E8D164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4141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22CEF-0FE1-4018-BEC5-BCDF0EE93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C4F63-5BBC-CE41-54DD-6188E8C5B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Event-Driven Style: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14D84-FC92-8FCF-7D1D-86E01F1A1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Harder to reason about global system behavior</a:t>
            </a:r>
          </a:p>
          <a:p>
            <a:r>
              <a:rPr lang="en-US" dirty="0"/>
              <a:t>Debugging and testing are more complex</a:t>
            </a:r>
          </a:p>
          <a:p>
            <a:r>
              <a:rPr lang="en-US" dirty="0"/>
              <a:t>Weaker consistency guarantees</a:t>
            </a:r>
          </a:p>
          <a:p>
            <a:r>
              <a:rPr lang="en-US" dirty="0"/>
              <a:t>Event ordering and duplication must be handled explicitly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445C91-242E-BEB4-43A1-C4FA89DFC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10 -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04E43E-1E66-CB25-A3BD-67532F0DC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1218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07BF9-286F-5782-038D-AC11B3452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82130-8BBE-C9D6-C11F-9699E1EE5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Event-Driven Variants: Publish-Subscribe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64099-A723-249E-E463-E5B0C5A0D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Events broadcast to multiple subscribers</a:t>
            </a:r>
          </a:p>
          <a:p>
            <a:r>
              <a:rPr lang="en-US" dirty="0"/>
              <a:t>Subscribers express interest in event types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Typical use cases:</a:t>
            </a:r>
          </a:p>
          <a:p>
            <a:r>
              <a:rPr lang="en-US" dirty="0"/>
              <a:t>Notifications</a:t>
            </a:r>
          </a:p>
          <a:p>
            <a:r>
              <a:rPr lang="en-US" dirty="0"/>
              <a:t>Monitoring</a:t>
            </a:r>
          </a:p>
          <a:p>
            <a:r>
              <a:rPr lang="en-US" dirty="0"/>
              <a:t>Real-time updates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E4BA7-F702-4189-E227-252C4F118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10 -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F29954-CADD-AFD0-B651-289C6BCF2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9421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4B170-7E24-FC86-C7D4-008F325B4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93C8B-DD8B-63F7-601A-D2553B4E1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Event-Driven Variants: Message Queues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B80C8-EAA8-65AF-97CC-A8566D2BA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Events placed in queues and consumed by workers</a:t>
            </a:r>
          </a:p>
          <a:p>
            <a:r>
              <a:rPr lang="en-US" dirty="0"/>
              <a:t>Each message processed by (typically) one consumer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Typical use cases:</a:t>
            </a:r>
          </a:p>
          <a:p>
            <a:r>
              <a:rPr lang="en-US" dirty="0"/>
              <a:t>Task distribution</a:t>
            </a:r>
          </a:p>
          <a:p>
            <a:r>
              <a:rPr lang="en-US" dirty="0"/>
              <a:t>Load balancing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0E6A30-BE9A-D3C5-D945-DC01B4FBB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10 -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B3187-4707-AFBB-F8FE-95D5772CD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6581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78CB3-E1CF-1F9D-1D0A-D9FF2088E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079C2-1EAD-57DD-8B12-73C1A9E43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Microservices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299F4-3D75-224C-4FE9-AA8DF098B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Application decomposed into small, autonomous services</a:t>
            </a:r>
          </a:p>
          <a:p>
            <a:r>
              <a:rPr lang="en-US" dirty="0"/>
              <a:t>Each service implements a single business capability</a:t>
            </a:r>
          </a:p>
          <a:p>
            <a:r>
              <a:rPr lang="en-US" dirty="0"/>
              <a:t>Services communicate via lightweight protocols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Key characteristics:</a:t>
            </a:r>
          </a:p>
          <a:p>
            <a:r>
              <a:rPr lang="en-US" dirty="0"/>
              <a:t>Independent deployment</a:t>
            </a:r>
          </a:p>
          <a:p>
            <a:r>
              <a:rPr lang="en-US" dirty="0"/>
              <a:t>Decentralized data management</a:t>
            </a:r>
          </a:p>
          <a:p>
            <a:r>
              <a:rPr lang="en-US" dirty="0"/>
              <a:t>Explicit APIs</a:t>
            </a:r>
          </a:p>
          <a:p>
            <a:pPr lvl="1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AEEEE5-FA35-6AF0-2B14-DC08C28B3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10 -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511435-6194-0385-4427-5A05A08E6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0770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0EAD3-6DE0-2B7B-BF24-F3E09ECB6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A6228-C9B6-9AD0-845E-685B7E647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Microservices Style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2FF7B27-F6DD-623F-6FDC-ECB7FED489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491" y="2028305"/>
            <a:ext cx="8877905" cy="3707477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6E0EDF-7B16-35FD-59A0-F9F7D83C1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10 -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9EA01F-5547-585B-068E-13CE40555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3789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6A79A-E7E5-8A7C-E229-60A732BFC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44A59-4A2C-A226-CEF7-501758237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Microservices: Advantages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56B8F8-0210-49AA-B81D-001BAC022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10 -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9FFAAC-5150-6F33-8078-D7D3A62B4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B36BE3-4F9A-6B1A-2F15-7F3BBB612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Independent development and deployment</a:t>
            </a:r>
          </a:p>
          <a:p>
            <a:r>
              <a:rPr lang="en-US" dirty="0"/>
              <a:t>Fine-grained scalability</a:t>
            </a:r>
          </a:p>
          <a:p>
            <a:r>
              <a:rPr lang="en-US" dirty="0"/>
              <a:t>Fault isolation</a:t>
            </a:r>
          </a:p>
          <a:p>
            <a:r>
              <a:rPr lang="en-US" dirty="0"/>
              <a:t>Technology heterogeneity</a:t>
            </a:r>
          </a:p>
        </p:txBody>
      </p:sp>
    </p:spTree>
    <p:extLst>
      <p:ext uri="{BB962C8B-B14F-4D97-AF65-F5344CB8AC3E}">
        <p14:creationId xmlns:p14="http://schemas.microsoft.com/office/powerpoint/2010/main" val="15387526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DFA28-B6A7-CF84-75B2-17B081CC4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36AC8-0BF1-0AD5-041E-3A6AD6210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Microservices: Limitations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45B5F8-EB68-F848-89FA-386A8454D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10 -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592D09-7EDF-6106-0C22-B180FF04B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27E23C-375F-BE9C-2A50-77987DE5A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Increased operational complexity</a:t>
            </a:r>
          </a:p>
          <a:p>
            <a:r>
              <a:rPr lang="en-US" dirty="0"/>
              <a:t>Distributed data consistency issues</a:t>
            </a:r>
          </a:p>
          <a:p>
            <a:r>
              <a:rPr lang="en-US" dirty="0"/>
              <a:t>Harder testing and debugging</a:t>
            </a:r>
          </a:p>
          <a:p>
            <a:r>
              <a:rPr lang="en-US" dirty="0"/>
              <a:t>Requires mature tooling and practices</a:t>
            </a:r>
          </a:p>
        </p:txBody>
      </p:sp>
    </p:spTree>
    <p:extLst>
      <p:ext uri="{BB962C8B-B14F-4D97-AF65-F5344CB8AC3E}">
        <p14:creationId xmlns:p14="http://schemas.microsoft.com/office/powerpoint/2010/main" val="41494490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B627B-ECF9-36E9-2B26-905CF1C34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6FEF8-78A9-68AD-C13F-3E64498C8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Dataflow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0D9400-8186-7DA5-ED69-378390736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Computation organized as a sequence of processing steps</a:t>
            </a:r>
          </a:p>
          <a:p>
            <a:r>
              <a:rPr lang="en-US" dirty="0"/>
              <a:t>Components transform data streams</a:t>
            </a:r>
          </a:p>
          <a:p>
            <a:r>
              <a:rPr lang="en-US" dirty="0"/>
              <a:t>Connectors represent data flows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Typical application domains:</a:t>
            </a:r>
          </a:p>
          <a:p>
            <a:r>
              <a:rPr lang="en-US" dirty="0"/>
              <a:t>Sata analytics</a:t>
            </a:r>
          </a:p>
          <a:p>
            <a:r>
              <a:rPr lang="en-US" dirty="0"/>
              <a:t>Scientific computing</a:t>
            </a:r>
          </a:p>
          <a:p>
            <a:r>
              <a:rPr lang="en-US" dirty="0"/>
              <a:t>Stream processing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1876C-8C6D-CAA9-7FB3-0C37F36FC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10 -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081BEA-852D-A667-5BC6-55DF6B9F5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737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57B97-633F-4C0E-9B01-264D265B2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E60D2-C2AA-4305-8358-859948968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Dataflow Style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408370C-6CE6-E39E-AEB6-E53EF2FE66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4786" y="1980999"/>
            <a:ext cx="7182427" cy="3882000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742AAD-7868-F9C9-EA7F-8151D977F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10 -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A55E2C-7D68-07A1-2145-905541DB4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51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D4015-F6F0-96F1-BEEC-5F78C3252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6F712-90BB-A489-D764-4FF671970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Dataflow Style: Advantages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A91E1D-34B7-C67C-3822-F8C6AC354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Natural fit for data-intensive applications</a:t>
            </a:r>
          </a:p>
          <a:p>
            <a:r>
              <a:rPr lang="en-US" dirty="0"/>
              <a:t>High parallelism</a:t>
            </a:r>
          </a:p>
          <a:p>
            <a:r>
              <a:rPr lang="en-US" dirty="0"/>
              <a:t>Clear separation of processing stages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CB24E4-5F72-B0F3-58BD-37E8E8CFE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10 -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3A26FE-CD2D-625B-967B-6FD6AF3E0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2585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4C76C-E0FC-E729-AB37-5D6416953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5B3A1-FDFA-17CB-8CC8-B7A829CCA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Dataflow Style: Limitations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FF62DC-FCC7-E298-DC51-573CA1279A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Limited flexibility for control-intensive logic</a:t>
            </a:r>
          </a:p>
          <a:p>
            <a:r>
              <a:rPr lang="en-US" dirty="0"/>
              <a:t>State management can be complex</a:t>
            </a:r>
          </a:p>
          <a:p>
            <a:r>
              <a:rPr lang="en-US" dirty="0"/>
              <a:t>Debugging distributed pipelines is challenging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EC91F8-5147-E365-8A66-48F04FF5F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10 -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F415AB-4333-0EA8-0FE3-C901FA082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1135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8E206-20AA-60D1-9F90-6109881A0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E5B91-84CA-4C73-3C7E-A0C49F845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Dataflow Variants: Batch Processing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446C72-56A0-2E6F-B1EC-B40FBE146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10 -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0798F4-7E8E-91A5-E196-4CA4849CF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FC1F43-9DC0-3557-B32C-4084FF986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Finite data sets</a:t>
            </a:r>
          </a:p>
          <a:p>
            <a:r>
              <a:rPr lang="en-US" dirty="0"/>
              <a:t>High throughput</a:t>
            </a:r>
          </a:p>
          <a:p>
            <a:r>
              <a:rPr lang="en-US" dirty="0"/>
              <a:t>High latency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Typical use:</a:t>
            </a:r>
          </a:p>
          <a:p>
            <a:r>
              <a:rPr lang="en-US" dirty="0"/>
              <a:t>Offline analytics</a:t>
            </a:r>
          </a:p>
          <a:p>
            <a:r>
              <a:rPr lang="en-US" dirty="0"/>
              <a:t>Reporting</a:t>
            </a:r>
          </a:p>
        </p:txBody>
      </p:sp>
    </p:spTree>
    <p:extLst>
      <p:ext uri="{BB962C8B-B14F-4D97-AF65-F5344CB8AC3E}">
        <p14:creationId xmlns:p14="http://schemas.microsoft.com/office/powerpoint/2010/main" val="16141297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C6EC9-6196-8F56-7DBF-DD8C11B15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2BBC6-44FE-F97E-51F2-401E3D18C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Dataflow Variants: Batch Processing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AB7224-F27F-9E41-B44D-6B04C9542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10 -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A36B4A-0D86-DEAE-5E75-592DFFFBC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24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0DAA391-AE47-5205-6EC6-19BA37840D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0869" y="2098646"/>
            <a:ext cx="9110261" cy="2660707"/>
          </a:xfrm>
        </p:spPr>
      </p:pic>
    </p:spTree>
    <p:extLst>
      <p:ext uri="{BB962C8B-B14F-4D97-AF65-F5344CB8AC3E}">
        <p14:creationId xmlns:p14="http://schemas.microsoft.com/office/powerpoint/2010/main" val="18127141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84057-950F-A66D-C0CF-6CDAF6323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A7A78-3C4F-80BC-D044-33D37630A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Dataflow Variants: Stream Processing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6BE9CB-F25F-D485-65F4-5601A8D5B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10 -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E0567E-9B41-73D7-73AB-E1FCE261B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596351-46C8-B185-42F9-046B0D292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Unbounded data streams</a:t>
            </a:r>
          </a:p>
          <a:p>
            <a:r>
              <a:rPr lang="en-US" dirty="0"/>
              <a:t>Continuous computation</a:t>
            </a:r>
          </a:p>
          <a:p>
            <a:r>
              <a:rPr lang="en-US" dirty="0"/>
              <a:t>Low latency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Typical use:</a:t>
            </a:r>
          </a:p>
          <a:p>
            <a:r>
              <a:rPr lang="en-US" dirty="0"/>
              <a:t>Monitoring</a:t>
            </a:r>
          </a:p>
          <a:p>
            <a:r>
              <a:rPr lang="en-US" dirty="0"/>
              <a:t>Real-time analytics</a:t>
            </a:r>
          </a:p>
        </p:txBody>
      </p:sp>
    </p:spTree>
    <p:extLst>
      <p:ext uri="{BB962C8B-B14F-4D97-AF65-F5344CB8AC3E}">
        <p14:creationId xmlns:p14="http://schemas.microsoft.com/office/powerpoint/2010/main" val="4301337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B674C-ABE8-2B53-2813-674BECA63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BC7EC-61E9-D6D4-E0FB-7D17D66B1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Dataflow Variants: Stream Processing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D48B44-782D-DFE3-C51E-ED6ECEC62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10 -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E831EA-C195-4D4E-B63C-A75914478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26</a:t>
            </a:fld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95988DC-7EEC-2D94-5B73-83A35D6654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2288" y="2099061"/>
            <a:ext cx="9107424" cy="2659878"/>
          </a:xfrm>
        </p:spPr>
      </p:pic>
    </p:spTree>
    <p:extLst>
      <p:ext uri="{BB962C8B-B14F-4D97-AF65-F5344CB8AC3E}">
        <p14:creationId xmlns:p14="http://schemas.microsoft.com/office/powerpoint/2010/main" val="1704783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DAF1F-8EA3-0F74-457D-3B4541C57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895EE-1F2B-3C96-6B6B-9EB0AA338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Dataflow Variants: Hybrid Approaches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836E8F-69B4-0E73-A2F1-A8955AEA6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10 -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51EBA0-7DEB-BF00-5759-7DD1A396F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60BA3A-B78F-7CC6-EEC2-D80EA33D4C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Combine batch and stream processing</a:t>
            </a:r>
          </a:p>
          <a:p>
            <a:r>
              <a:rPr lang="en-US" dirty="0"/>
              <a:t>Example: Lambda architecture</a:t>
            </a:r>
          </a:p>
        </p:txBody>
      </p:sp>
      <p:pic>
        <p:nvPicPr>
          <p:cNvPr id="3" name="Content Placeholder 7">
            <a:extLst>
              <a:ext uri="{FF2B5EF4-FFF2-40B4-BE49-F238E27FC236}">
                <a16:creationId xmlns:a16="http://schemas.microsoft.com/office/drawing/2014/main" id="{DCFC0F30-D75E-C719-6467-1519C02A6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243" y="3284134"/>
            <a:ext cx="10113513" cy="2892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6807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6B0B4-3A1C-3FDA-627A-5184D440A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A87F9-D6E6-301B-0E62-BD6156D22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Architectural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AA8D06-3B97-1058-F6B5-4ADEA6FB4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10 -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E9E0B9-937F-154A-FF36-44E663C20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88265C-DD1D-23E3-23AE-CA924D748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Real systems rarely adopt a single pure style</a:t>
            </a:r>
          </a:p>
          <a:p>
            <a:r>
              <a:rPr lang="en-US" dirty="0"/>
              <a:t>Styles are often combined to address different concerns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Examples:</a:t>
            </a:r>
          </a:p>
          <a:p>
            <a:r>
              <a:rPr lang="en-US" dirty="0"/>
              <a:t>Client–server with microservices</a:t>
            </a:r>
          </a:p>
          <a:p>
            <a:r>
              <a:rPr lang="en-US" dirty="0"/>
              <a:t>Event-driven dataflow pipelines</a:t>
            </a:r>
          </a:p>
        </p:txBody>
      </p:sp>
    </p:spTree>
    <p:extLst>
      <p:ext uri="{BB962C8B-B14F-4D97-AF65-F5344CB8AC3E}">
        <p14:creationId xmlns:p14="http://schemas.microsoft.com/office/powerpoint/2010/main" val="15641135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02CC3-5F91-BC6E-8C8E-39F162F77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64C83-EF4A-35B3-D045-8A6FC5D2C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Wrap-up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FE71E1-18CD-BD1A-1C44-FAB457C55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10 -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134CD5-E489-EBF5-DA31-6EC5C137F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53C829-9E1F-27AD-D9D3-50C6677BD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Architectural styles guide high-level design decisions</a:t>
            </a:r>
          </a:p>
          <a:p>
            <a:r>
              <a:rPr lang="en-US" dirty="0"/>
              <a:t>Each style implies specific trade-offs</a:t>
            </a:r>
          </a:p>
          <a:p>
            <a:r>
              <a:rPr lang="en-US" dirty="0"/>
              <a:t>No universally best architecture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Choice depends on:</a:t>
            </a:r>
          </a:p>
          <a:p>
            <a:r>
              <a:rPr lang="en-US" dirty="0"/>
              <a:t>Requirements</a:t>
            </a:r>
          </a:p>
          <a:p>
            <a:r>
              <a:rPr lang="en-US" dirty="0"/>
              <a:t>Quality attributes</a:t>
            </a:r>
          </a:p>
          <a:p>
            <a:r>
              <a:rPr lang="en-US" dirty="0"/>
              <a:t>Organizational constraints</a:t>
            </a:r>
          </a:p>
        </p:txBody>
      </p:sp>
    </p:spTree>
    <p:extLst>
      <p:ext uri="{BB962C8B-B14F-4D97-AF65-F5344CB8AC3E}">
        <p14:creationId xmlns:p14="http://schemas.microsoft.com/office/powerpoint/2010/main" val="940579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2053</Words>
  <Application>Microsoft Macintosh PowerPoint</Application>
  <PresentationFormat>Widescreen</PresentationFormat>
  <Paragraphs>241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Aptos</vt:lpstr>
      <vt:lpstr>Aptos Display</vt:lpstr>
      <vt:lpstr>Arial</vt:lpstr>
      <vt:lpstr>Office Theme</vt:lpstr>
      <vt:lpstr>Chapter 10: Architectural Styles</vt:lpstr>
      <vt:lpstr>Introduction to Architectural Style</vt:lpstr>
      <vt:lpstr>Architectural Styles and Tactics</vt:lpstr>
      <vt:lpstr>Why Architectural Styles Matter</vt:lpstr>
      <vt:lpstr>Client-Server Style</vt:lpstr>
      <vt:lpstr>Client-Server Style</vt:lpstr>
      <vt:lpstr>Client-Server Communication</vt:lpstr>
      <vt:lpstr>Client-Server Variants</vt:lpstr>
      <vt:lpstr>Peer-to-Peer Style</vt:lpstr>
      <vt:lpstr>Shared Memory Style</vt:lpstr>
      <vt:lpstr>Event-Driven Style</vt:lpstr>
      <vt:lpstr>Event-Driven Style: Advantages</vt:lpstr>
      <vt:lpstr>Event-Driven Style: Limitations</vt:lpstr>
      <vt:lpstr>Event-Driven Variants: Publish-Subscribe</vt:lpstr>
      <vt:lpstr>Event-Driven Variants: Message Queues</vt:lpstr>
      <vt:lpstr>Microservices Style</vt:lpstr>
      <vt:lpstr>Microservices Style</vt:lpstr>
      <vt:lpstr>Microservices: Advantages</vt:lpstr>
      <vt:lpstr>Microservices: Limitations</vt:lpstr>
      <vt:lpstr>Dataflow Style</vt:lpstr>
      <vt:lpstr>Dataflow Style</vt:lpstr>
      <vt:lpstr>Dataflow Style: Advantages</vt:lpstr>
      <vt:lpstr>Dataflow Style: Limitations</vt:lpstr>
      <vt:lpstr>Dataflow Variants: Batch Processing</vt:lpstr>
      <vt:lpstr>Dataflow Variants: Batch Processing</vt:lpstr>
      <vt:lpstr>Dataflow Variants: Stream Processing</vt:lpstr>
      <vt:lpstr>Dataflow Variants: Stream Processing</vt:lpstr>
      <vt:lpstr>Dataflow Variants: Hybrid Approaches</vt:lpstr>
      <vt:lpstr>Combining Architectural Styles</vt:lpstr>
      <vt:lpstr>Wrap-up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Elisabetta Di Nitto</dc:creator>
  <cp:lastModifiedBy>Alessandro Margara</cp:lastModifiedBy>
  <cp:revision>89</cp:revision>
  <dcterms:created xsi:type="dcterms:W3CDTF">2025-05-15T11:20:47Z</dcterms:created>
  <dcterms:modified xsi:type="dcterms:W3CDTF">2025-12-17T15:18:47Z</dcterms:modified>
</cp:coreProperties>
</file>